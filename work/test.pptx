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406640" cy="10533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1275588" y="6675120"/>
            <a:ext cx="1133856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46B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1280160" y="8951976"/>
            <a:ext cx="1133856" cy="745236"/>
          </a:xfrm>
          <a:prstGeom prst="rect">
            <a:avLst/>
          </a:prstGeom>
          <a:solidFill>
            <a:srgbClr val="FFFFFF"/>
          </a:solidFill>
          <a:ln w="18288">
            <a:solidFill>
              <a:srgbClr val="35A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5518404" y="7845552"/>
            <a:ext cx="1124712" cy="7406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8288">
            <a:solidFill>
              <a:srgbClr val="4AA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598932" y="4165092"/>
            <a:ext cx="3035808" cy="274320"/>
          </a:xfrm>
          <a:prstGeom prst="rect">
            <a:avLst/>
          </a:prstGeom>
          <a:solidFill>
            <a:srgbClr val="D6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594360" y="5184648"/>
            <a:ext cx="3031236" cy="274320"/>
          </a:xfrm>
          <a:prstGeom prst="rect">
            <a:avLst/>
          </a:prstGeom>
          <a:solidFill>
            <a:srgbClr val="D6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640080" y="7808976"/>
            <a:ext cx="1110996" cy="7452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3BA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6"/>
          <p:cNvSpPr/>
          <p:nvPr/>
        </p:nvSpPr>
        <p:spPr>
          <a:xfrm>
            <a:off x="4974336" y="8974836"/>
            <a:ext cx="1110996" cy="7452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8288">
            <a:solidFill>
              <a:srgbClr val="32A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7"/>
          <p:cNvSpPr/>
          <p:nvPr/>
        </p:nvSpPr>
        <p:spPr>
          <a:xfrm>
            <a:off x="4992624" y="6702552"/>
            <a:ext cx="1110996" cy="740664"/>
          </a:xfrm>
          <a:prstGeom prst="rect">
            <a:avLst/>
          </a:prstGeom>
          <a:solidFill>
            <a:srgbClr val="FFFFFF"/>
          </a:solidFill>
          <a:ln w="18288">
            <a:solidFill>
              <a:srgbClr val="4EB0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8"/>
          <p:cNvSpPr/>
          <p:nvPr/>
        </p:nvSpPr>
        <p:spPr>
          <a:xfrm>
            <a:off x="3662172" y="5212080"/>
            <a:ext cx="3054096" cy="265176"/>
          </a:xfrm>
          <a:prstGeom prst="rect">
            <a:avLst/>
          </a:prstGeom>
          <a:solidFill>
            <a:srgbClr val="D0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9"/>
          <p:cNvSpPr/>
          <p:nvPr/>
        </p:nvSpPr>
        <p:spPr>
          <a:xfrm>
            <a:off x="3671316" y="4192524"/>
            <a:ext cx="3049524" cy="260604"/>
          </a:xfrm>
          <a:prstGeom prst="rect">
            <a:avLst/>
          </a:prstGeom>
          <a:solidFill>
            <a:srgbClr val="D0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0"/>
          <p:cNvSpPr/>
          <p:nvPr/>
        </p:nvSpPr>
        <p:spPr>
          <a:xfrm>
            <a:off x="598932" y="1088136"/>
            <a:ext cx="768096" cy="749808"/>
          </a:xfrm>
          <a:prstGeom prst="rect">
            <a:avLst/>
          </a:prstGeom>
          <a:solidFill>
            <a:srgbClr val="0E9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0" descr="p1_i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91440"/>
            <a:ext cx="265176" cy="438912"/>
          </a:xfrm>
          <a:prstGeom prst="rect">
            <a:avLst/>
          </a:prstGeom>
        </p:spPr>
      </p:pic>
      <p:pic>
        <p:nvPicPr>
          <p:cNvPr id="14" name="i1" descr="p1_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012" y="196596"/>
            <a:ext cx="978408" cy="434340"/>
          </a:xfrm>
          <a:prstGeom prst="rect">
            <a:avLst/>
          </a:prstGeom>
        </p:spPr>
      </p:pic>
      <p:pic>
        <p:nvPicPr>
          <p:cNvPr id="15" name="i2" descr="p1_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868680"/>
            <a:ext cx="137160" cy="137160"/>
          </a:xfrm>
          <a:prstGeom prst="rect">
            <a:avLst/>
          </a:prstGeom>
        </p:spPr>
      </p:pic>
      <p:pic>
        <p:nvPicPr>
          <p:cNvPr id="16" name="i3" descr="p1_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016252"/>
            <a:ext cx="137160" cy="137160"/>
          </a:xfrm>
          <a:prstGeom prst="rect">
            <a:avLst/>
          </a:prstGeom>
        </p:spPr>
      </p:pic>
      <p:pic>
        <p:nvPicPr>
          <p:cNvPr id="17" name="i4" descr="p1_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286000"/>
            <a:ext cx="6135624" cy="1504188"/>
          </a:xfrm>
          <a:prstGeom prst="rect">
            <a:avLst/>
          </a:prstGeom>
        </p:spPr>
      </p:pic>
      <p:pic>
        <p:nvPicPr>
          <p:cNvPr id="18" name="i5" descr="p1_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7380" y="6867144"/>
            <a:ext cx="3493008" cy="2377440"/>
          </a:xfrm>
          <a:prstGeom prst="rect">
            <a:avLst/>
          </a:prstGeom>
        </p:spPr>
      </p:pic>
      <p:pic>
        <p:nvPicPr>
          <p:cNvPr id="19" name="i6" descr="p1_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180" y="7004304"/>
            <a:ext cx="278892" cy="315468"/>
          </a:xfrm>
          <a:prstGeom prst="rect">
            <a:avLst/>
          </a:prstGeom>
        </p:spPr>
      </p:pic>
      <p:pic>
        <p:nvPicPr>
          <p:cNvPr id="20" name="i7" descr="p1_i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8215884"/>
            <a:ext cx="676656" cy="210312"/>
          </a:xfrm>
          <a:prstGeom prst="rect">
            <a:avLst/>
          </a:prstGeom>
        </p:spPr>
      </p:pic>
      <p:pic>
        <p:nvPicPr>
          <p:cNvPr id="21" name="i8" descr="p1_i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444" y="8229600"/>
            <a:ext cx="429768" cy="288036"/>
          </a:xfrm>
          <a:prstGeom prst="rect">
            <a:avLst/>
          </a:prstGeom>
        </p:spPr>
      </p:pic>
      <p:pic>
        <p:nvPicPr>
          <p:cNvPr id="22" name="i9" descr="p1_i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3208" y="9313164"/>
            <a:ext cx="306324" cy="306324"/>
          </a:xfrm>
          <a:prstGeom prst="rect">
            <a:avLst/>
          </a:prstGeom>
        </p:spPr>
      </p:pic>
      <p:pic>
        <p:nvPicPr>
          <p:cNvPr id="23" name="i10" descr="p1_i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6040" y="9390888"/>
            <a:ext cx="2112264" cy="233172"/>
          </a:xfrm>
          <a:prstGeom prst="rect">
            <a:avLst/>
          </a:prstGeom>
        </p:spPr>
      </p:pic>
      <p:pic>
        <p:nvPicPr>
          <p:cNvPr id="24" name="i11" descr="p1_i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8988" y="9496044"/>
            <a:ext cx="192024" cy="114300"/>
          </a:xfrm>
          <a:prstGeom prst="rect">
            <a:avLst/>
          </a:prstGeom>
        </p:spPr>
      </p:pic>
      <p:cxnSp>
        <p:nvCxnSpPr>
          <p:cNvPr id="25" name="l0"/>
          <p:cNvCxnSpPr/>
          <p:nvPr/>
        </p:nvCxnSpPr>
        <p:spPr>
          <a:xfrm>
            <a:off x="4219956" y="2286000"/>
            <a:ext cx="2427732" cy="0"/>
          </a:xfrm>
          <a:prstGeom prst="line">
            <a:avLst/>
          </a:prstGeom>
          <a:ln w="18288">
            <a:solidFill>
              <a:srgbClr val="B3B6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1"/>
          <p:cNvCxnSpPr/>
          <p:nvPr/>
        </p:nvCxnSpPr>
        <p:spPr>
          <a:xfrm>
            <a:off x="4247388" y="2402586"/>
            <a:ext cx="288036" cy="0"/>
          </a:xfrm>
          <a:prstGeom prst="line">
            <a:avLst/>
          </a:prstGeom>
          <a:ln w="6350">
            <a:solidFill>
              <a:srgbClr val="C3D3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2"/>
          <p:cNvCxnSpPr/>
          <p:nvPr/>
        </p:nvCxnSpPr>
        <p:spPr>
          <a:xfrm>
            <a:off x="4686300" y="3147822"/>
            <a:ext cx="292608" cy="0"/>
          </a:xfrm>
          <a:prstGeom prst="line">
            <a:avLst/>
          </a:prstGeom>
          <a:ln w="6350">
            <a:solidFill>
              <a:srgbClr val="D5D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3"/>
          <p:cNvCxnSpPr/>
          <p:nvPr/>
        </p:nvCxnSpPr>
        <p:spPr>
          <a:xfrm>
            <a:off x="4718304" y="3188970"/>
            <a:ext cx="315468" cy="0"/>
          </a:xfrm>
          <a:prstGeom prst="line">
            <a:avLst/>
          </a:prstGeom>
          <a:ln w="13716">
            <a:solidFill>
              <a:srgbClr val="D7D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4"/>
          <p:cNvCxnSpPr/>
          <p:nvPr/>
        </p:nvCxnSpPr>
        <p:spPr>
          <a:xfrm>
            <a:off x="4613148" y="3209544"/>
            <a:ext cx="443484" cy="0"/>
          </a:xfrm>
          <a:prstGeom prst="line">
            <a:avLst/>
          </a:prstGeom>
          <a:ln w="18288">
            <a:solidFill>
              <a:srgbClr val="D6DB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5"/>
          <p:cNvCxnSpPr/>
          <p:nvPr/>
        </p:nvCxnSpPr>
        <p:spPr>
          <a:xfrm>
            <a:off x="4663440" y="3227832"/>
            <a:ext cx="416052" cy="0"/>
          </a:xfrm>
          <a:prstGeom prst="line">
            <a:avLst/>
          </a:prstGeom>
          <a:ln w="9144">
            <a:solidFill>
              <a:srgbClr val="D5D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6"/>
          <p:cNvCxnSpPr/>
          <p:nvPr/>
        </p:nvCxnSpPr>
        <p:spPr>
          <a:xfrm>
            <a:off x="4521708" y="3259836"/>
            <a:ext cx="342900" cy="0"/>
          </a:xfrm>
          <a:prstGeom prst="line">
            <a:avLst/>
          </a:prstGeom>
          <a:ln w="18288">
            <a:solidFill>
              <a:srgbClr val="D6DA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7"/>
          <p:cNvCxnSpPr/>
          <p:nvPr/>
        </p:nvCxnSpPr>
        <p:spPr>
          <a:xfrm>
            <a:off x="603504" y="3323844"/>
            <a:ext cx="726948" cy="0"/>
          </a:xfrm>
          <a:prstGeom prst="line">
            <a:avLst/>
          </a:prstGeom>
          <a:ln w="9144">
            <a:solidFill>
              <a:srgbClr val="AEB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8"/>
          <p:cNvCxnSpPr/>
          <p:nvPr/>
        </p:nvCxnSpPr>
        <p:spPr>
          <a:xfrm>
            <a:off x="6739128" y="1138428"/>
            <a:ext cx="0" cy="740664"/>
          </a:xfrm>
          <a:prstGeom prst="line">
            <a:avLst/>
          </a:prstGeom>
          <a:ln w="18288">
            <a:solidFill>
              <a:srgbClr val="389F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9"/>
          <p:cNvCxnSpPr/>
          <p:nvPr/>
        </p:nvCxnSpPr>
        <p:spPr>
          <a:xfrm>
            <a:off x="4210812" y="2295144"/>
            <a:ext cx="0" cy="425196"/>
          </a:xfrm>
          <a:prstGeom prst="line">
            <a:avLst/>
          </a:prstGeom>
          <a:ln w="9144">
            <a:solidFill>
              <a:srgbClr val="B2B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10"/>
          <p:cNvCxnSpPr/>
          <p:nvPr/>
        </p:nvCxnSpPr>
        <p:spPr>
          <a:xfrm>
            <a:off x="6725412" y="2308860"/>
            <a:ext cx="0" cy="521208"/>
          </a:xfrm>
          <a:prstGeom prst="line">
            <a:avLst/>
          </a:prstGeom>
          <a:ln w="9144">
            <a:solidFill>
              <a:srgbClr val="B4B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11"/>
          <p:cNvCxnSpPr/>
          <p:nvPr/>
        </p:nvCxnSpPr>
        <p:spPr>
          <a:xfrm>
            <a:off x="4206240" y="2724912"/>
            <a:ext cx="0" cy="1037844"/>
          </a:xfrm>
          <a:prstGeom prst="line">
            <a:avLst/>
          </a:prstGeom>
          <a:ln w="9144">
            <a:solidFill>
              <a:srgbClr val="AEB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12"/>
          <p:cNvCxnSpPr/>
          <p:nvPr/>
        </p:nvCxnSpPr>
        <p:spPr>
          <a:xfrm>
            <a:off x="6723126" y="2857500"/>
            <a:ext cx="0" cy="841248"/>
          </a:xfrm>
          <a:prstGeom prst="line">
            <a:avLst/>
          </a:prstGeom>
          <a:ln w="13716">
            <a:solidFill>
              <a:srgbClr val="B4B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l13"/>
          <p:cNvCxnSpPr/>
          <p:nvPr/>
        </p:nvCxnSpPr>
        <p:spPr>
          <a:xfrm>
            <a:off x="4457700" y="3159252"/>
            <a:ext cx="0" cy="580644"/>
          </a:xfrm>
          <a:prstGeom prst="line">
            <a:avLst/>
          </a:prstGeom>
          <a:ln w="27432">
            <a:solidFill>
              <a:srgbClr val="D3D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l14"/>
          <p:cNvCxnSpPr/>
          <p:nvPr/>
        </p:nvCxnSpPr>
        <p:spPr>
          <a:xfrm>
            <a:off x="4551426" y="3182112"/>
            <a:ext cx="0" cy="557784"/>
          </a:xfrm>
          <a:prstGeom prst="line">
            <a:avLst/>
          </a:prstGeom>
          <a:ln w="13716">
            <a:solidFill>
              <a:srgbClr val="D2D6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l15"/>
          <p:cNvCxnSpPr/>
          <p:nvPr/>
        </p:nvCxnSpPr>
        <p:spPr>
          <a:xfrm>
            <a:off x="4482846" y="3218688"/>
            <a:ext cx="0" cy="521208"/>
          </a:xfrm>
          <a:prstGeom prst="line">
            <a:avLst/>
          </a:prstGeom>
          <a:ln w="13716">
            <a:solidFill>
              <a:srgbClr val="D5D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16"/>
          <p:cNvCxnSpPr/>
          <p:nvPr/>
        </p:nvCxnSpPr>
        <p:spPr>
          <a:xfrm>
            <a:off x="4293108" y="3236976"/>
            <a:ext cx="0" cy="502920"/>
          </a:xfrm>
          <a:prstGeom prst="line">
            <a:avLst/>
          </a:prstGeom>
          <a:ln w="9144">
            <a:solidFill>
              <a:srgbClr val="D5DA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17"/>
          <p:cNvCxnSpPr/>
          <p:nvPr/>
        </p:nvCxnSpPr>
        <p:spPr>
          <a:xfrm>
            <a:off x="4274820" y="3355848"/>
            <a:ext cx="0" cy="384048"/>
          </a:xfrm>
          <a:prstGeom prst="line">
            <a:avLst/>
          </a:prstGeom>
          <a:ln w="18288">
            <a:solidFill>
              <a:srgbClr val="D1D7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18"/>
          <p:cNvCxnSpPr/>
          <p:nvPr/>
        </p:nvCxnSpPr>
        <p:spPr>
          <a:xfrm>
            <a:off x="5397246" y="3470148"/>
            <a:ext cx="0" cy="274320"/>
          </a:xfrm>
          <a:prstGeom prst="line">
            <a:avLst/>
          </a:prstGeom>
          <a:ln w="6350">
            <a:solidFill>
              <a:srgbClr val="C5C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0"/>
          <p:cNvSpPr txBox="1"/>
          <p:nvPr/>
        </p:nvSpPr>
        <p:spPr>
          <a:xfrm>
            <a:off x="1235497" y="220870"/>
            <a:ext cx="1043439" cy="290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4B5152"/>
                </a:solidFill>
                <a:latin typeface="NanumGothic"/>
                <a:ea typeface="NanumGothic"/>
              </a:rPr>
              <a:t>건실계획</a:t>
            </a:r>
          </a:p>
        </p:txBody>
      </p:sp>
      <p:sp>
        <p:nvSpPr>
          <p:cNvPr id="45" name="t1"/>
          <p:cNvSpPr txBox="1"/>
          <p:nvPr/>
        </p:nvSpPr>
        <p:spPr>
          <a:xfrm>
            <a:off x="5233643" y="623779"/>
            <a:ext cx="1259138" cy="1395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1">
                <a:solidFill>
                  <a:srgbClr val="494B4A"/>
                </a:solidFill>
                <a:latin typeface="NanumGothic"/>
                <a:ea typeface="NanumGothic"/>
              </a:rPr>
              <a:t>고속도로 민간투자 태양광</a:t>
            </a:r>
          </a:p>
        </p:txBody>
      </p:sp>
      <p:sp>
        <p:nvSpPr>
          <p:cNvPr id="46" name="t2"/>
          <p:cNvSpPr txBox="1"/>
          <p:nvPr/>
        </p:nvSpPr>
        <p:spPr>
          <a:xfrm>
            <a:off x="6428584" y="651219"/>
            <a:ext cx="366101" cy="1029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1">
                <a:solidFill>
                  <a:srgbClr val="B1B3B4"/>
                </a:solidFill>
                <a:latin typeface="NanumGothic"/>
                <a:ea typeface="NanumGothic"/>
              </a:rPr>
              <a:t>발전사업</a:t>
            </a:r>
          </a:p>
        </p:txBody>
      </p:sp>
      <p:sp>
        <p:nvSpPr>
          <p:cNvPr id="47" name="t3"/>
          <p:cNvSpPr txBox="1"/>
          <p:nvPr/>
        </p:nvSpPr>
        <p:spPr>
          <a:xfrm>
            <a:off x="774495" y="852928"/>
            <a:ext cx="901614" cy="1717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404141"/>
                </a:solidFill>
                <a:latin typeface="NanumGothic"/>
                <a:ea typeface="NanumGothic"/>
              </a:rPr>
              <a:t>사업신청 목적</a:t>
            </a:r>
          </a:p>
        </p:txBody>
      </p:sp>
      <p:sp>
        <p:nvSpPr>
          <p:cNvPr id="48" name="t4"/>
          <p:cNvSpPr txBox="1"/>
          <p:nvPr/>
        </p:nvSpPr>
        <p:spPr>
          <a:xfrm>
            <a:off x="1428839" y="1180115"/>
            <a:ext cx="4726368" cy="5911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990" b="0">
                <a:solidFill>
                  <a:srgbClr val="3C3E3D"/>
                </a:solidFill>
                <a:latin typeface="NanumGothic"/>
                <a:ea typeface="NanumGothic"/>
              </a:rPr>
              <a:t>• 한국도로공사가 보유한 성토부의 기용자산을 활용하여 신재생에너지 생산 및 전기 보급</a:t>
            </a:r>
          </a:p>
          <a:p>
            <a:pPr algn="l">
              <a:lnSpc>
                <a:spcPct val="129000"/>
              </a:lnSpc>
            </a:pPr>
            <a:r>
              <a:rPr sz="990" b="0">
                <a:solidFill>
                  <a:srgbClr val="3C3E3D"/>
                </a:solidFill>
                <a:latin typeface="NanumGothic"/>
                <a:ea typeface="NanumGothic"/>
              </a:rPr>
              <a:t>• 2050 탄소중립의 실천', “국가온실기스감축목표(NDC)"의 신에너지 국가정책에 기여</a:t>
            </a:r>
          </a:p>
          <a:p>
            <a:pPr algn="l">
              <a:lnSpc>
                <a:spcPct val="129000"/>
              </a:lnSpc>
            </a:pPr>
            <a:r>
              <a:rPr sz="990" b="0">
                <a:solidFill>
                  <a:srgbClr val="3C3E3D"/>
                </a:solidFill>
                <a:latin typeface="NanumGothic"/>
                <a:ea typeface="NanumGothic"/>
              </a:rPr>
              <a:t>• 유휴지신을 활용하여 청정에너지 생산, 신수익 창출 및 신규 일자리 등 사회적 가치실현</a:t>
            </a:r>
          </a:p>
        </p:txBody>
      </p:sp>
      <p:sp>
        <p:nvSpPr>
          <p:cNvPr id="49" name="t5"/>
          <p:cNvSpPr txBox="1"/>
          <p:nvPr/>
        </p:nvSpPr>
        <p:spPr>
          <a:xfrm>
            <a:off x="738069" y="1388269"/>
            <a:ext cx="602631" cy="168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98C8"/>
                </a:solidFill>
                <a:latin typeface="NanumGothic"/>
                <a:ea typeface="NanumGothic"/>
              </a:rPr>
              <a:t>중점사항</a:t>
            </a:r>
          </a:p>
        </p:txBody>
      </p:sp>
      <p:sp>
        <p:nvSpPr>
          <p:cNvPr id="50" name="t6"/>
          <p:cNvSpPr txBox="1"/>
          <p:nvPr/>
        </p:nvSpPr>
        <p:spPr>
          <a:xfrm>
            <a:off x="769939" y="2000545"/>
            <a:ext cx="613383" cy="171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A3C3B"/>
                </a:solidFill>
                <a:latin typeface="NanumGothic"/>
                <a:ea typeface="NanumGothic"/>
              </a:rPr>
              <a:t>사업개요</a:t>
            </a:r>
          </a:p>
        </p:txBody>
      </p:sp>
      <p:sp>
        <p:nvSpPr>
          <p:cNvPr id="51" name="t7"/>
          <p:cNvSpPr txBox="1"/>
          <p:nvPr/>
        </p:nvSpPr>
        <p:spPr>
          <a:xfrm>
            <a:off x="632399" y="2266188"/>
            <a:ext cx="732251" cy="1075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사 업 명</a:t>
            </a:r>
          </a:p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발주 기관</a:t>
            </a:r>
          </a:p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사업 방식</a:t>
            </a:r>
          </a:p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설치 부지</a:t>
            </a:r>
          </a:p>
          <a:p>
            <a:pPr algn="l">
              <a:lnSpc>
                <a:spcPct val="125000"/>
              </a:lnSpc>
            </a:pPr>
            <a:r>
              <a:rPr sz="1120" b="0">
                <a:solidFill>
                  <a:srgbClr val="4A4D4E"/>
                </a:solidFill>
                <a:latin typeface="NanumGothic"/>
                <a:ea typeface="NanumGothic"/>
              </a:rPr>
              <a:t>설 치 용량</a:t>
            </a:r>
          </a:p>
        </p:txBody>
      </p:sp>
      <p:sp>
        <p:nvSpPr>
          <p:cNvPr id="52" name="t8"/>
          <p:cNvSpPr txBox="1"/>
          <p:nvPr/>
        </p:nvSpPr>
        <p:spPr>
          <a:xfrm>
            <a:off x="1360596" y="2264412"/>
            <a:ext cx="2276304" cy="1080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40" b="0">
                <a:solidFill>
                  <a:srgbClr val="4D4F4E"/>
                </a:solidFill>
                <a:latin typeface="NanumGothic"/>
                <a:ea typeface="NanumGothic"/>
              </a:rPr>
              <a:t>2023년 고속도로 민간투자 태양광 발전사업</a:t>
            </a:r>
          </a:p>
          <a:p>
            <a:pPr algn="l">
              <a:lnSpc>
                <a:spcPct val="150000"/>
              </a:lnSpc>
            </a:pPr>
            <a:r>
              <a:rPr sz="940" b="0">
                <a:solidFill>
                  <a:srgbClr val="4D4F4E"/>
                </a:solidFill>
                <a:latin typeface="NanumGothic"/>
                <a:ea typeface="NanumGothic"/>
              </a:rPr>
              <a:t>한국도로공사</a:t>
            </a:r>
          </a:p>
          <a:p>
            <a:pPr algn="l">
              <a:lnSpc>
                <a:spcPct val="150000"/>
              </a:lnSpc>
            </a:pPr>
            <a:r>
              <a:rPr sz="940" b="0">
                <a:solidFill>
                  <a:srgbClr val="4D4F4E"/>
                </a:solidFill>
                <a:latin typeface="NanumGothic"/>
                <a:ea typeface="NanumGothic"/>
              </a:rPr>
              <a:t>BOT(Bui ld-Operate-Transper)</a:t>
            </a:r>
          </a:p>
          <a:p>
            <a:pPr algn="l">
              <a:lnSpc>
                <a:spcPct val="150000"/>
              </a:lnSpc>
            </a:pPr>
            <a:r>
              <a:rPr sz="940" b="0">
                <a:solidFill>
                  <a:srgbClr val="4D4F4E"/>
                </a:solidFill>
                <a:latin typeface="NanumGothic"/>
                <a:ea typeface="NanumGothic"/>
              </a:rPr>
              <a:t>경71 평택시 질고동 42-1 일원 외 14개소</a:t>
            </a:r>
          </a:p>
          <a:p>
            <a:pPr algn="l">
              <a:lnSpc>
                <a:spcPct val="150000"/>
              </a:lnSpc>
            </a:pPr>
            <a:r>
              <a:rPr sz="940" b="0">
                <a:solidFill>
                  <a:srgbClr val="4D4F4E"/>
                </a:solidFill>
                <a:latin typeface="NanumGothic"/>
                <a:ea typeface="NanumGothic"/>
              </a:rPr>
              <a:t>IOBNV</a:t>
            </a:r>
          </a:p>
        </p:txBody>
      </p:sp>
      <p:sp>
        <p:nvSpPr>
          <p:cNvPr id="53" name="t9"/>
          <p:cNvSpPr txBox="1"/>
          <p:nvPr/>
        </p:nvSpPr>
        <p:spPr>
          <a:xfrm>
            <a:off x="5271150" y="2528316"/>
            <a:ext cx="159837" cy="118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8EB848"/>
                </a:solidFill>
                <a:latin typeface="NanumGothic"/>
                <a:ea typeface="NanumGothic"/>
              </a:rPr>
              <a:t>7</a:t>
            </a:r>
          </a:p>
        </p:txBody>
      </p:sp>
      <p:sp>
        <p:nvSpPr>
          <p:cNvPr id="54" name="t10"/>
          <p:cNvSpPr txBox="1"/>
          <p:nvPr/>
        </p:nvSpPr>
        <p:spPr>
          <a:xfrm>
            <a:off x="1351280" y="3372219"/>
            <a:ext cx="1921756" cy="346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484949"/>
                </a:solidFill>
                <a:latin typeface="NanumGothic"/>
                <a:ea typeface="NanumGothic"/>
              </a:rPr>
              <a:t>건설기간 : 실시협약 체결 후 18개월</a:t>
            </a:r>
          </a:p>
          <a:p>
            <a:pPr algn="l">
              <a:lnSpc>
                <a:spcPct val="115000"/>
              </a:lnSpc>
            </a:pPr>
            <a:r>
              <a:rPr sz="960" b="0">
                <a:solidFill>
                  <a:srgbClr val="484949"/>
                </a:solidFill>
                <a:latin typeface="NanumGothic"/>
                <a:ea typeface="NanumGothic"/>
              </a:rPr>
              <a:t>운영21간 : 건설기간 완료 후 20년</a:t>
            </a:r>
          </a:p>
        </p:txBody>
      </p:sp>
      <p:sp>
        <p:nvSpPr>
          <p:cNvPr id="55" name="t11"/>
          <p:cNvSpPr txBox="1"/>
          <p:nvPr/>
        </p:nvSpPr>
        <p:spPr>
          <a:xfrm>
            <a:off x="628101" y="3458718"/>
            <a:ext cx="733531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A3E3E"/>
                </a:solidFill>
                <a:latin typeface="NanumGothic"/>
                <a:ea typeface="NanumGothic"/>
              </a:rPr>
              <a:t>사업 기 가</a:t>
            </a:r>
          </a:p>
        </p:txBody>
      </p:sp>
      <p:sp>
        <p:nvSpPr>
          <p:cNvPr id="56" name="t12"/>
          <p:cNvSpPr txBox="1"/>
          <p:nvPr/>
        </p:nvSpPr>
        <p:spPr>
          <a:xfrm>
            <a:off x="760717" y="3920567"/>
            <a:ext cx="1034946" cy="173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C3E3E"/>
                </a:solidFill>
                <a:latin typeface="NanumGothic"/>
                <a:ea typeface="NanumGothic"/>
              </a:rPr>
              <a:t>사업의 기대효과</a:t>
            </a:r>
          </a:p>
        </p:txBody>
      </p:sp>
      <p:sp>
        <p:nvSpPr>
          <p:cNvPr id="57" name="t13"/>
          <p:cNvSpPr txBox="1"/>
          <p:nvPr/>
        </p:nvSpPr>
        <p:spPr>
          <a:xfrm>
            <a:off x="1373671" y="4223169"/>
            <a:ext cx="1547912" cy="166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343837"/>
                </a:solidFill>
                <a:latin typeface="NanumGothic"/>
                <a:ea typeface="NanumGothic"/>
              </a:rPr>
              <a:t>정부의 신에너지 정책 실현</a:t>
            </a:r>
          </a:p>
        </p:txBody>
      </p:sp>
      <p:sp>
        <p:nvSpPr>
          <p:cNvPr id="58" name="t14"/>
          <p:cNvSpPr txBox="1"/>
          <p:nvPr/>
        </p:nvSpPr>
        <p:spPr>
          <a:xfrm>
            <a:off x="4418741" y="4246356"/>
            <a:ext cx="1605935" cy="163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73C3C"/>
                </a:solidFill>
                <a:latin typeface="NanumGothic"/>
                <a:ea typeface="NanumGothic"/>
              </a:rPr>
              <a:t>공공기관의 사회적 가치실현</a:t>
            </a:r>
          </a:p>
        </p:txBody>
      </p:sp>
      <p:sp>
        <p:nvSpPr>
          <p:cNvPr id="59" name="t15"/>
          <p:cNvSpPr txBox="1"/>
          <p:nvPr/>
        </p:nvSpPr>
        <p:spPr>
          <a:xfrm>
            <a:off x="665735" y="4493128"/>
            <a:ext cx="2865098" cy="5254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30" b="0">
                <a:solidFill>
                  <a:srgbClr val="4D4F4F"/>
                </a:solidFill>
                <a:latin typeface="NanumGothic"/>
                <a:ea typeface="NanumGothic"/>
              </a:rPr>
              <a:t>• 2050 탄소중립의 실천의 정책실현</a:t>
            </a:r>
          </a:p>
          <a:p>
            <a:pPr algn="l">
              <a:lnSpc>
                <a:spcPct val="122000"/>
              </a:lnSpc>
            </a:pPr>
            <a:r>
              <a:rPr sz="930" b="0">
                <a:solidFill>
                  <a:srgbClr val="4D4F4F"/>
                </a:solidFill>
                <a:latin typeface="NanumGothic"/>
                <a:ea typeface="NanumGothic"/>
              </a:rPr>
              <a:t>• 청정그린에너지 생산으로 저탄소 탄소중립국가로 도약</a:t>
            </a:r>
          </a:p>
          <a:p>
            <a:pPr algn="l">
              <a:lnSpc>
                <a:spcPct val="122000"/>
              </a:lnSpc>
            </a:pPr>
            <a:r>
              <a:rPr sz="930" b="0">
                <a:solidFill>
                  <a:srgbClr val="4D4F4F"/>
                </a:solidFill>
                <a:latin typeface="NanumGothic"/>
                <a:ea typeface="NanumGothic"/>
              </a:rPr>
              <a:t>• 정부의 신재생에너지 보급정책에 기여</a:t>
            </a:r>
          </a:p>
        </p:txBody>
      </p:sp>
      <p:sp>
        <p:nvSpPr>
          <p:cNvPr id="60" name="t16"/>
          <p:cNvSpPr txBox="1"/>
          <p:nvPr/>
        </p:nvSpPr>
        <p:spPr>
          <a:xfrm>
            <a:off x="3742719" y="4514729"/>
            <a:ext cx="2448711" cy="531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19" b="0">
                <a:solidFill>
                  <a:srgbClr val="494C4B"/>
                </a:solidFill>
                <a:latin typeface="NanumGothic"/>
                <a:ea typeface="NanumGothic"/>
              </a:rPr>
              <a:t>• 한국도로공사와 사업시행자의 공익사업 실현</a:t>
            </a:r>
          </a:p>
          <a:p>
            <a:pPr algn="l">
              <a:lnSpc>
                <a:spcPct val="124000"/>
              </a:lnSpc>
            </a:pPr>
            <a:r>
              <a:rPr sz="919" b="0">
                <a:solidFill>
                  <a:srgbClr val="494C4B"/>
                </a:solidFill>
                <a:latin typeface="NanumGothic"/>
                <a:ea typeface="NanumGothic"/>
              </a:rPr>
              <a:t>• 호적발전 대비 C02 약 7천만톤 저감효과 기대</a:t>
            </a:r>
          </a:p>
          <a:p>
            <a:pPr algn="l">
              <a:lnSpc>
                <a:spcPct val="124000"/>
              </a:lnSpc>
            </a:pPr>
            <a:r>
              <a:rPr sz="919" b="0">
                <a:solidFill>
                  <a:srgbClr val="494C4B"/>
                </a:solidFill>
                <a:latin typeface="NanumGothic"/>
                <a:ea typeface="NanumGothic"/>
              </a:rPr>
              <a:t>• 신규 일자리 500개의 고용창출효과 7</a:t>
            </a:r>
          </a:p>
        </p:txBody>
      </p:sp>
      <p:sp>
        <p:nvSpPr>
          <p:cNvPr id="61" name="t17"/>
          <p:cNvSpPr txBox="1"/>
          <p:nvPr/>
        </p:nvSpPr>
        <p:spPr>
          <a:xfrm>
            <a:off x="1702696" y="5242284"/>
            <a:ext cx="891449" cy="169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53839"/>
                </a:solidFill>
                <a:latin typeface="NanumGothic"/>
                <a:ea typeface="NanumGothic"/>
              </a:rPr>
              <a:t>환경개선 효과</a:t>
            </a:r>
          </a:p>
        </p:txBody>
      </p:sp>
      <p:sp>
        <p:nvSpPr>
          <p:cNvPr id="62" name="t18"/>
          <p:cNvSpPr txBox="1"/>
          <p:nvPr/>
        </p:nvSpPr>
        <p:spPr>
          <a:xfrm>
            <a:off x="4555883" y="5265865"/>
            <a:ext cx="1336392" cy="164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333738"/>
                </a:solidFill>
                <a:latin typeface="NanumGothic"/>
                <a:ea typeface="NanumGothic"/>
              </a:rPr>
              <a:t>유휴부지의 가용자산화</a:t>
            </a:r>
          </a:p>
        </p:txBody>
      </p:sp>
      <p:sp>
        <p:nvSpPr>
          <p:cNvPr id="63" name="t19"/>
          <p:cNvSpPr txBox="1"/>
          <p:nvPr/>
        </p:nvSpPr>
        <p:spPr>
          <a:xfrm>
            <a:off x="661493" y="5509058"/>
            <a:ext cx="2751409" cy="530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>
                <a:solidFill>
                  <a:srgbClr val="494B4A"/>
                </a:solidFill>
                <a:latin typeface="NanumGothic"/>
                <a:ea typeface="NanumGothic"/>
              </a:rPr>
              <a:t>• 신에너지전환으로 국2 은실2 卜스감축목표(NDC) 실천</a:t>
            </a:r>
          </a:p>
          <a:p>
            <a:pPr algn="l">
              <a:lnSpc>
                <a:spcPct val="130000"/>
              </a:lnSpc>
            </a:pPr>
            <a:r>
              <a:rPr sz="880" b="0">
                <a:solidFill>
                  <a:srgbClr val="494B4A"/>
                </a:solidFill>
                <a:latin typeface="NanumGothic"/>
                <a:ea typeface="NanumGothic"/>
              </a:rPr>
              <a:t>• “환경오염 Zero" 목표로 친환경 발전소 건립</a:t>
            </a:r>
          </a:p>
          <a:p>
            <a:pPr algn="l">
              <a:lnSpc>
                <a:spcPct val="130000"/>
              </a:lnSpc>
            </a:pPr>
            <a:r>
              <a:rPr sz="880" b="0">
                <a:solidFill>
                  <a:srgbClr val="494B4A"/>
                </a:solidFill>
                <a:latin typeface="NanumGothic"/>
                <a:ea typeface="NanumGothic"/>
              </a:rPr>
              <a:t>• 경&amp;}OI 우수6뼈 주변과 조화로운 발전소 건립</a:t>
            </a:r>
          </a:p>
        </p:txBody>
      </p:sp>
      <p:sp>
        <p:nvSpPr>
          <p:cNvPr id="64" name="t20"/>
          <p:cNvSpPr txBox="1"/>
          <p:nvPr/>
        </p:nvSpPr>
        <p:spPr>
          <a:xfrm>
            <a:off x="3738118" y="5539405"/>
            <a:ext cx="2540498" cy="5297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</a:pPr>
            <a:r>
              <a:rPr sz="930" b="0">
                <a:solidFill>
                  <a:srgbClr val="4A4B4B"/>
                </a:solidFill>
                <a:latin typeface="NanumGothic"/>
                <a:ea typeface="NanumGothic"/>
              </a:rPr>
              <a:t>• 한국도로공사 유휴부지를 활용 신부가가치 창출</a:t>
            </a:r>
          </a:p>
          <a:p>
            <a:pPr algn="l">
              <a:lnSpc>
                <a:spcPct val="123000"/>
              </a:lnSpc>
            </a:pPr>
            <a:r>
              <a:rPr sz="930" b="0">
                <a:solidFill>
                  <a:srgbClr val="4A4B4B"/>
                </a:solidFill>
                <a:latin typeface="NanumGothic"/>
                <a:ea typeface="NanumGothic"/>
              </a:rPr>
              <a:t>• 본사업에 직접 지역주민을 참여 수익 공유</a:t>
            </a:r>
          </a:p>
          <a:p>
            <a:pPr algn="l">
              <a:lnSpc>
                <a:spcPct val="123000"/>
              </a:lnSpc>
            </a:pPr>
            <a:r>
              <a:rPr sz="930" b="0">
                <a:solidFill>
                  <a:srgbClr val="4A4B4B"/>
                </a:solidFill>
                <a:latin typeface="NanumGothic"/>
                <a:ea typeface="NanumGothic"/>
              </a:rPr>
              <a:t>• 유휴부지를 이용 환경친회적인 청정에너지 생산</a:t>
            </a:r>
          </a:p>
        </p:txBody>
      </p:sp>
      <p:sp>
        <p:nvSpPr>
          <p:cNvPr id="65" name="t21"/>
          <p:cNvSpPr txBox="1"/>
          <p:nvPr/>
        </p:nvSpPr>
        <p:spPr>
          <a:xfrm>
            <a:off x="747079" y="6293653"/>
            <a:ext cx="613383" cy="1713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414242"/>
                </a:solidFill>
                <a:latin typeface="NanumGothic"/>
                <a:ea typeface="NanumGothic"/>
              </a:rPr>
              <a:t>사업구도</a:t>
            </a:r>
          </a:p>
        </p:txBody>
      </p:sp>
      <p:sp>
        <p:nvSpPr>
          <p:cNvPr id="66" name="t22"/>
          <p:cNvSpPr txBox="1"/>
          <p:nvPr/>
        </p:nvSpPr>
        <p:spPr>
          <a:xfrm>
            <a:off x="1442264" y="6733233"/>
            <a:ext cx="861956" cy="1660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3D3F40"/>
                </a:solidFill>
                <a:latin typeface="NanumGothic"/>
                <a:ea typeface="NanumGothic"/>
              </a:rPr>
              <a:t>자본금(25%)</a:t>
            </a:r>
          </a:p>
        </p:txBody>
      </p:sp>
      <p:sp>
        <p:nvSpPr>
          <p:cNvPr id="67" name="t23"/>
          <p:cNvSpPr txBox="1"/>
          <p:nvPr/>
        </p:nvSpPr>
        <p:spPr>
          <a:xfrm>
            <a:off x="5401818" y="6774942"/>
            <a:ext cx="361188" cy="161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D4041"/>
                </a:solidFill>
                <a:latin typeface="NanumGothic"/>
                <a:ea typeface="NanumGothic"/>
              </a:rPr>
              <a:t>EPC</a:t>
            </a:r>
          </a:p>
        </p:txBody>
      </p:sp>
      <p:sp>
        <p:nvSpPr>
          <p:cNvPr id="68" name="t24"/>
          <p:cNvSpPr txBox="1"/>
          <p:nvPr/>
        </p:nvSpPr>
        <p:spPr>
          <a:xfrm>
            <a:off x="5494155" y="7037909"/>
            <a:ext cx="505869" cy="311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869" b="0">
                <a:solidFill>
                  <a:srgbClr val="696D6D"/>
                </a:solidFill>
                <a:latin typeface="NanumGothic"/>
                <a:ea typeface="NanumGothic"/>
              </a:rPr>
              <a:t>저무</a:t>
            </a:r>
          </a:p>
          <a:p>
            <a:pPr algn="ctr">
              <a:lnSpc>
                <a:spcPct val="114000"/>
              </a:lnSpc>
            </a:pPr>
            <a:r>
              <a:rPr sz="869" b="0">
                <a:solidFill>
                  <a:srgbClr val="696D6D"/>
                </a:solidFill>
                <a:latin typeface="NanumGothic"/>
                <a:ea typeface="NanumGothic"/>
              </a:rPr>
              <a:t>건설업체</a:t>
            </a:r>
          </a:p>
        </p:txBody>
      </p:sp>
      <p:sp>
        <p:nvSpPr>
          <p:cNvPr id="69" name="t25"/>
          <p:cNvSpPr txBox="1"/>
          <p:nvPr/>
        </p:nvSpPr>
        <p:spPr>
          <a:xfrm>
            <a:off x="1827121" y="7174392"/>
            <a:ext cx="422483" cy="148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B706F"/>
                </a:solidFill>
                <a:latin typeface="NanumGothic"/>
                <a:ea typeface="NanumGothic"/>
              </a:rPr>
              <a:t>신청자</a:t>
            </a:r>
          </a:p>
        </p:txBody>
      </p:sp>
      <p:sp>
        <p:nvSpPr>
          <p:cNvPr id="70" name="t26"/>
          <p:cNvSpPr txBox="1"/>
          <p:nvPr/>
        </p:nvSpPr>
        <p:spPr>
          <a:xfrm>
            <a:off x="3448110" y="7832598"/>
            <a:ext cx="630204" cy="295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80" b="1">
                <a:solidFill>
                  <a:srgbClr val="2B3439"/>
                </a:solidFill>
                <a:latin typeface="NanumGothic"/>
                <a:ea typeface="NanumGothic"/>
              </a:rPr>
              <a:t>SPC</a:t>
            </a:r>
          </a:p>
        </p:txBody>
      </p:sp>
      <p:sp>
        <p:nvSpPr>
          <p:cNvPr id="71" name="t27"/>
          <p:cNvSpPr txBox="1"/>
          <p:nvPr/>
        </p:nvSpPr>
        <p:spPr>
          <a:xfrm>
            <a:off x="792688" y="7870683"/>
            <a:ext cx="875326" cy="17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93B3D"/>
                </a:solidFill>
                <a:latin typeface="NanumGothic"/>
                <a:ea typeface="NanumGothic"/>
              </a:rPr>
              <a:t>한국도로공사</a:t>
            </a:r>
          </a:p>
        </p:txBody>
      </p:sp>
      <p:sp>
        <p:nvSpPr>
          <p:cNvPr id="72" name="t28"/>
          <p:cNvSpPr txBox="1"/>
          <p:nvPr/>
        </p:nvSpPr>
        <p:spPr>
          <a:xfrm>
            <a:off x="5567162" y="7910887"/>
            <a:ext cx="1092824" cy="144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3E4040"/>
                </a:solidFill>
                <a:latin typeface="NanumGothic"/>
                <a:ea typeface="NanumGothic"/>
              </a:rPr>
              <a:t>재무적 투자자(75%)</a:t>
            </a:r>
          </a:p>
        </p:txBody>
      </p:sp>
      <p:sp>
        <p:nvSpPr>
          <p:cNvPr id="73" name="t29"/>
          <p:cNvSpPr txBox="1"/>
          <p:nvPr/>
        </p:nvSpPr>
        <p:spPr>
          <a:xfrm>
            <a:off x="2151822" y="7988456"/>
            <a:ext cx="627152" cy="1460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070"/>
                </a:solidFill>
                <a:latin typeface="NanumGothic"/>
                <a:ea typeface="NanumGothic"/>
              </a:rPr>
              <a:t>임대료지급</a:t>
            </a:r>
          </a:p>
        </p:txBody>
      </p:sp>
      <p:sp>
        <p:nvSpPr>
          <p:cNvPr id="74" name="t30"/>
          <p:cNvSpPr txBox="1"/>
          <p:nvPr/>
        </p:nvSpPr>
        <p:spPr>
          <a:xfrm>
            <a:off x="4575143" y="8002618"/>
            <a:ext cx="611507" cy="1424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B6E6E"/>
                </a:solidFill>
                <a:latin typeface="NanumGothic"/>
                <a:ea typeface="NanumGothic"/>
              </a:rPr>
              <a:t>원리금상환</a:t>
            </a:r>
          </a:p>
        </p:txBody>
      </p:sp>
      <p:sp>
        <p:nvSpPr>
          <p:cNvPr id="75" name="t31"/>
          <p:cNvSpPr txBox="1"/>
          <p:nvPr/>
        </p:nvSpPr>
        <p:spPr>
          <a:xfrm>
            <a:off x="2197609" y="8322398"/>
            <a:ext cx="516620" cy="1445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>
                <a:solidFill>
                  <a:srgbClr val="666969"/>
                </a:solidFill>
                <a:latin typeface="NanumGothic"/>
                <a:ea typeface="NanumGothic"/>
              </a:rPr>
              <a:t>부지임대</a:t>
            </a:r>
          </a:p>
        </p:txBody>
      </p:sp>
      <p:sp>
        <p:nvSpPr>
          <p:cNvPr id="76" name="t32"/>
          <p:cNvSpPr txBox="1"/>
          <p:nvPr/>
        </p:nvSpPr>
        <p:spPr>
          <a:xfrm>
            <a:off x="3343994" y="8332817"/>
            <a:ext cx="773180" cy="170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515152"/>
                </a:solidFill>
                <a:latin typeface="NanumGothic"/>
                <a:ea typeface="NanumGothic"/>
              </a:rPr>
              <a:t>및 유지관리</a:t>
            </a:r>
          </a:p>
        </p:txBody>
      </p:sp>
      <p:sp>
        <p:nvSpPr>
          <p:cNvPr id="77" name="t33"/>
          <p:cNvSpPr txBox="1"/>
          <p:nvPr/>
        </p:nvSpPr>
        <p:spPr>
          <a:xfrm>
            <a:off x="4729734" y="8333994"/>
            <a:ext cx="306324" cy="161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E6E"/>
                </a:solidFill>
                <a:latin typeface="NanumGothic"/>
                <a:ea typeface="NanumGothic"/>
              </a:rPr>
              <a:t>대출</a:t>
            </a:r>
          </a:p>
        </p:txBody>
      </p:sp>
      <p:sp>
        <p:nvSpPr>
          <p:cNvPr id="78" name="t34"/>
          <p:cNvSpPr txBox="1"/>
          <p:nvPr/>
        </p:nvSpPr>
        <p:spPr>
          <a:xfrm>
            <a:off x="1501151" y="9013137"/>
            <a:ext cx="767956" cy="1782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3A3C3E"/>
                </a:solidFill>
                <a:latin typeface="NanumGothic"/>
                <a:ea typeface="NanumGothic"/>
              </a:rPr>
              <a:t>공급사업자</a:t>
            </a:r>
          </a:p>
        </p:txBody>
      </p:sp>
      <p:sp>
        <p:nvSpPr>
          <p:cNvPr id="79" name="t35"/>
          <p:cNvSpPr txBox="1"/>
          <p:nvPr/>
        </p:nvSpPr>
        <p:spPr>
          <a:xfrm>
            <a:off x="5200167" y="9036741"/>
            <a:ext cx="741881" cy="172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383B3C"/>
                </a:solidFill>
                <a:latin typeface="NanumGothic"/>
                <a:ea typeface="NanumGothic"/>
              </a:rPr>
              <a:t>전기사용자</a:t>
            </a:r>
          </a:p>
        </p:txBody>
      </p:sp>
      <p:sp>
        <p:nvSpPr>
          <p:cNvPr id="80" name="t36"/>
          <p:cNvSpPr txBox="1"/>
          <p:nvPr/>
        </p:nvSpPr>
        <p:spPr>
          <a:xfrm>
            <a:off x="3436755" y="9260030"/>
            <a:ext cx="505869" cy="141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6B6E6F"/>
                </a:solidFill>
                <a:latin typeface="NanumGothic"/>
                <a:ea typeface="NanumGothic"/>
              </a:rPr>
              <a:t>전력판매</a:t>
            </a:r>
          </a:p>
        </p:txBody>
      </p:sp>
      <p:sp>
        <p:nvSpPr>
          <p:cNvPr id="81" name="t37"/>
          <p:cNvSpPr txBox="1"/>
          <p:nvPr/>
        </p:nvSpPr>
        <p:spPr>
          <a:xfrm>
            <a:off x="1552729" y="9276968"/>
            <a:ext cx="642797" cy="309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7000"/>
              </a:lnSpc>
            </a:pPr>
            <a:r>
              <a:rPr sz="919" b="0">
                <a:solidFill>
                  <a:srgbClr val="737676"/>
                </a:solidFill>
                <a:latin typeface="NanumGothic"/>
                <a:ea typeface="NanumGothic"/>
              </a:rPr>
              <a:t>전력</a:t>
            </a:r>
          </a:p>
          <a:p>
            <a:pPr algn="ctr">
              <a:lnSpc>
                <a:spcPct val="107000"/>
              </a:lnSpc>
            </a:pPr>
            <a:r>
              <a:rPr sz="919" b="0">
                <a:solidFill>
                  <a:srgbClr val="737676"/>
                </a:solidFill>
                <a:latin typeface="NanumGothic"/>
                <a:ea typeface="NanumGothic"/>
              </a:rPr>
              <a:t>중개사업자</a:t>
            </a:r>
          </a:p>
        </p:txBody>
      </p:sp>
      <p:sp>
        <p:nvSpPr>
          <p:cNvPr id="82" name="t38"/>
          <p:cNvSpPr txBox="1"/>
          <p:nvPr/>
        </p:nvSpPr>
        <p:spPr>
          <a:xfrm>
            <a:off x="5540075" y="9333738"/>
            <a:ext cx="416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676969"/>
                </a:solidFill>
                <a:latin typeface="NanumGothic"/>
                <a:ea typeface="NanumGothic"/>
              </a:rPr>
              <a:t>RE100</a:t>
            </a:r>
          </a:p>
        </p:txBody>
      </p:sp>
      <p:sp>
        <p:nvSpPr>
          <p:cNvPr id="83" name="t39"/>
          <p:cNvSpPr txBox="1"/>
          <p:nvPr/>
        </p:nvSpPr>
        <p:spPr>
          <a:xfrm>
            <a:off x="3436688" y="9593600"/>
            <a:ext cx="511244" cy="143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C6D6D"/>
                </a:solidFill>
                <a:latin typeface="NanumGothic"/>
                <a:ea typeface="NanumGothic"/>
              </a:rPr>
              <a:t>대금지급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