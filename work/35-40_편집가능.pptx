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7406640" cy="105338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image" Target="../media/image22.jpg"/><Relationship Id="rId5" Type="http://schemas.openxmlformats.org/officeDocument/2006/relationships/image" Target="../media/image23.jpg"/><Relationship Id="rId6" Type="http://schemas.openxmlformats.org/officeDocument/2006/relationships/image" Target="../media/image24.jpg"/><Relationship Id="rId7" Type="http://schemas.openxmlformats.org/officeDocument/2006/relationships/image" Target="../media/image25.jpg"/><Relationship Id="rId8" Type="http://schemas.openxmlformats.org/officeDocument/2006/relationships/image" Target="../media/image26.jpg"/><Relationship Id="rId9" Type="http://schemas.openxmlformats.org/officeDocument/2006/relationships/image" Target="../media/image27.jpg"/><Relationship Id="rId10" Type="http://schemas.openxmlformats.org/officeDocument/2006/relationships/image" Target="../media/image2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image" Target="../media/image30.jpg"/><Relationship Id="rId4" Type="http://schemas.openxmlformats.org/officeDocument/2006/relationships/image" Target="../media/image31.jp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image" Target="../media/image35.png"/><Relationship Id="rId9" Type="http://schemas.openxmlformats.org/officeDocument/2006/relationships/image" Target="../media/image36.jpg"/><Relationship Id="rId10" Type="http://schemas.openxmlformats.org/officeDocument/2006/relationships/image" Target="../media/image37.jpg"/><Relationship Id="rId11" Type="http://schemas.openxmlformats.org/officeDocument/2006/relationships/image" Target="../media/image38.jpg"/><Relationship Id="rId12" Type="http://schemas.openxmlformats.org/officeDocument/2006/relationships/image" Target="../media/image39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Relationship Id="rId6" Type="http://schemas.openxmlformats.org/officeDocument/2006/relationships/image" Target="../media/image44.png"/><Relationship Id="rId7" Type="http://schemas.openxmlformats.org/officeDocument/2006/relationships/image" Target="../media/image45.png"/><Relationship Id="rId8" Type="http://schemas.openxmlformats.org/officeDocument/2006/relationships/image" Target="../media/image46.png"/><Relationship Id="rId9" Type="http://schemas.openxmlformats.org/officeDocument/2006/relationships/image" Target="../media/image47.png"/><Relationship Id="rId10" Type="http://schemas.openxmlformats.org/officeDocument/2006/relationships/image" Target="../media/image48.png"/><Relationship Id="rId11" Type="http://schemas.openxmlformats.org/officeDocument/2006/relationships/image" Target="../media/image49.png"/><Relationship Id="rId12" Type="http://schemas.openxmlformats.org/officeDocument/2006/relationships/image" Target="../media/image50.png"/><Relationship Id="rId13" Type="http://schemas.openxmlformats.org/officeDocument/2006/relationships/image" Target="../media/image51.png"/><Relationship Id="rId14" Type="http://schemas.openxmlformats.org/officeDocument/2006/relationships/image" Target="../media/image52.png"/><Relationship Id="rId15" Type="http://schemas.openxmlformats.org/officeDocument/2006/relationships/image" Target="../media/image5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jp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Relationship Id="rId8" Type="http://schemas.openxmlformats.org/officeDocument/2006/relationships/image" Target="../media/image60.png"/><Relationship Id="rId9" Type="http://schemas.openxmlformats.org/officeDocument/2006/relationships/image" Target="../media/image61.png"/><Relationship Id="rId10" Type="http://schemas.openxmlformats.org/officeDocument/2006/relationships/image" Target="../media/image62.png"/><Relationship Id="rId11" Type="http://schemas.openxmlformats.org/officeDocument/2006/relationships/image" Target="../media/image63.png"/><Relationship Id="rId12" Type="http://schemas.openxmlformats.org/officeDocument/2006/relationships/image" Target="../media/image64.png"/><Relationship Id="rId13" Type="http://schemas.openxmlformats.org/officeDocument/2006/relationships/image" Target="../media/image65.png"/><Relationship Id="rId14" Type="http://schemas.openxmlformats.org/officeDocument/2006/relationships/image" Target="../media/image66.png"/><Relationship Id="rId15" Type="http://schemas.openxmlformats.org/officeDocument/2006/relationships/image" Target="../media/image67.png"/><Relationship Id="rId16" Type="http://schemas.openxmlformats.org/officeDocument/2006/relationships/image" Target="../media/image68.png"/><Relationship Id="rId17" Type="http://schemas.openxmlformats.org/officeDocument/2006/relationships/image" Target="../media/image69.png"/><Relationship Id="rId18" Type="http://schemas.openxmlformats.org/officeDocument/2006/relationships/image" Target="../media/image70.png"/><Relationship Id="rId19" Type="http://schemas.openxmlformats.org/officeDocument/2006/relationships/image" Target="../media/image71.png"/><Relationship Id="rId20" Type="http://schemas.openxmlformats.org/officeDocument/2006/relationships/image" Target="../media/image72.png"/><Relationship Id="rId21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iagram-bg"/>
          <p:cNvSpPr/>
          <p:nvPr/>
        </p:nvSpPr>
        <p:spPr>
          <a:xfrm>
            <a:off x="598932" y="6528816"/>
            <a:ext cx="6121908" cy="3300984"/>
          </a:xfrm>
          <a:prstGeom prst="rect">
            <a:avLst/>
          </a:prstGeom>
          <a:gradFill rotWithShape="1">
            <a:gsLst>
              <a:gs pos="0">
                <a:srgbClr val="E3F0F8"/>
              </a:gs>
              <a:gs pos="100000">
                <a:srgbClr val="F9FCFE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1"/>
          <p:cNvSpPr/>
          <p:nvPr/>
        </p:nvSpPr>
        <p:spPr>
          <a:xfrm>
            <a:off x="1280160" y="8947404"/>
            <a:ext cx="1133856" cy="749808"/>
          </a:xfrm>
          <a:prstGeom prst="rect">
            <a:avLst/>
          </a:prstGeom>
          <a:solidFill>
            <a:srgbClr val="FFFFFF"/>
          </a:solidFill>
          <a:ln w="27432">
            <a:solidFill>
              <a:srgbClr val="50B2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2"/>
          <p:cNvSpPr/>
          <p:nvPr/>
        </p:nvSpPr>
        <p:spPr>
          <a:xfrm>
            <a:off x="1275588" y="6675120"/>
            <a:ext cx="1138428" cy="745236"/>
          </a:xfrm>
          <a:prstGeom prst="rect">
            <a:avLst/>
          </a:prstGeom>
          <a:solidFill>
            <a:srgbClr val="FFFFFF"/>
          </a:solidFill>
          <a:ln w="22860">
            <a:solidFill>
              <a:srgbClr val="4FB5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3"/>
          <p:cNvSpPr/>
          <p:nvPr/>
        </p:nvSpPr>
        <p:spPr>
          <a:xfrm>
            <a:off x="5518404" y="7845552"/>
            <a:ext cx="1129284" cy="74523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8288">
            <a:solidFill>
              <a:srgbClr val="52B1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4"/>
          <p:cNvSpPr/>
          <p:nvPr/>
        </p:nvSpPr>
        <p:spPr>
          <a:xfrm>
            <a:off x="598932" y="4165092"/>
            <a:ext cx="3035808" cy="274320"/>
          </a:xfrm>
          <a:prstGeom prst="rect">
            <a:avLst/>
          </a:prstGeom>
          <a:solidFill>
            <a:srgbClr val="D6E1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5"/>
          <p:cNvSpPr/>
          <p:nvPr/>
        </p:nvSpPr>
        <p:spPr>
          <a:xfrm>
            <a:off x="594360" y="5184648"/>
            <a:ext cx="3031236" cy="274320"/>
          </a:xfrm>
          <a:prstGeom prst="rect">
            <a:avLst/>
          </a:prstGeom>
          <a:solidFill>
            <a:srgbClr val="D6E2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6"/>
          <p:cNvSpPr/>
          <p:nvPr/>
        </p:nvSpPr>
        <p:spPr>
          <a:xfrm>
            <a:off x="4974336" y="8974836"/>
            <a:ext cx="1115568" cy="745236"/>
          </a:xfrm>
          <a:prstGeom prst="rect">
            <a:avLst/>
          </a:prstGeom>
          <a:solidFill>
            <a:srgbClr val="FFFFFF"/>
          </a:solidFill>
          <a:ln w="22860">
            <a:solidFill>
              <a:srgbClr val="54B2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7"/>
          <p:cNvSpPr/>
          <p:nvPr/>
        </p:nvSpPr>
        <p:spPr>
          <a:xfrm>
            <a:off x="640080" y="7808976"/>
            <a:ext cx="1110996" cy="745236"/>
          </a:xfrm>
          <a:prstGeom prst="rect">
            <a:avLst/>
          </a:prstGeom>
          <a:solidFill>
            <a:srgbClr val="FFFFFF"/>
          </a:solidFill>
          <a:ln w="22860">
            <a:solidFill>
              <a:srgbClr val="4BB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8"/>
          <p:cNvSpPr/>
          <p:nvPr/>
        </p:nvSpPr>
        <p:spPr>
          <a:xfrm>
            <a:off x="4988052" y="6702552"/>
            <a:ext cx="1115568" cy="7406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8288">
            <a:solidFill>
              <a:srgbClr val="5AB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9"/>
          <p:cNvSpPr/>
          <p:nvPr/>
        </p:nvSpPr>
        <p:spPr>
          <a:xfrm>
            <a:off x="3662172" y="5212080"/>
            <a:ext cx="3054096" cy="265176"/>
          </a:xfrm>
          <a:prstGeom prst="rect">
            <a:avLst/>
          </a:prstGeom>
          <a:solidFill>
            <a:srgbClr val="D0D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10"/>
          <p:cNvSpPr/>
          <p:nvPr/>
        </p:nvSpPr>
        <p:spPr>
          <a:xfrm>
            <a:off x="3671316" y="4192524"/>
            <a:ext cx="3049524" cy="260604"/>
          </a:xfrm>
          <a:prstGeom prst="rect">
            <a:avLst/>
          </a:prstGeom>
          <a:solidFill>
            <a:srgbClr val="D0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11"/>
          <p:cNvSpPr/>
          <p:nvPr/>
        </p:nvSpPr>
        <p:spPr>
          <a:xfrm>
            <a:off x="598932" y="1088136"/>
            <a:ext cx="768096" cy="749808"/>
          </a:xfrm>
          <a:prstGeom prst="rect">
            <a:avLst/>
          </a:prstGeom>
          <a:solidFill>
            <a:srgbClr val="0E90C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ighlight-frame"/>
          <p:cNvSpPr/>
          <p:nvPr/>
        </p:nvSpPr>
        <p:spPr>
          <a:xfrm>
            <a:off x="1371600" y="1097280"/>
            <a:ext cx="5376672" cy="781812"/>
          </a:xfrm>
          <a:prstGeom prst="rect">
            <a:avLst/>
          </a:prstGeom>
          <a:noFill/>
          <a:ln w="9144">
            <a:solidFill>
              <a:srgbClr val="389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i0" descr="p1_i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2816" y="2350008"/>
            <a:ext cx="2446020" cy="1394460"/>
          </a:xfrm>
          <a:prstGeom prst="rect">
            <a:avLst/>
          </a:prstGeom>
        </p:spPr>
      </p:pic>
      <p:pic>
        <p:nvPicPr>
          <p:cNvPr id="16" name="i2" descr="p1_i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012" y="196596"/>
            <a:ext cx="978408" cy="434340"/>
          </a:xfrm>
          <a:prstGeom prst="rect">
            <a:avLst/>
          </a:prstGeom>
        </p:spPr>
      </p:pic>
      <p:pic>
        <p:nvPicPr>
          <p:cNvPr id="17" name="i4" descr="p1_i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868680"/>
            <a:ext cx="137160" cy="137160"/>
          </a:xfrm>
          <a:prstGeom prst="rect">
            <a:avLst/>
          </a:prstGeom>
        </p:spPr>
      </p:pic>
      <p:pic>
        <p:nvPicPr>
          <p:cNvPr id="18" name="i7" descr="p1_i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2016252"/>
            <a:ext cx="137160" cy="137160"/>
          </a:xfrm>
          <a:prstGeom prst="rect">
            <a:avLst/>
          </a:prstGeom>
        </p:spPr>
      </p:pic>
      <p:pic>
        <p:nvPicPr>
          <p:cNvPr id="19" name="i9" descr="p1_i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932" y="3931920"/>
            <a:ext cx="132588" cy="141732"/>
          </a:xfrm>
          <a:prstGeom prst="rect">
            <a:avLst/>
          </a:prstGeom>
        </p:spPr>
      </p:pic>
      <p:pic>
        <p:nvPicPr>
          <p:cNvPr id="20" name="i10" descr="p1_i1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5216" y="6304788"/>
            <a:ext cx="132588" cy="141732"/>
          </a:xfrm>
          <a:prstGeom prst="rect">
            <a:avLst/>
          </a:prstGeom>
        </p:spPr>
      </p:pic>
      <p:pic>
        <p:nvPicPr>
          <p:cNvPr id="21" name="i12" descr="p1_i1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40180" y="7004304"/>
            <a:ext cx="278892" cy="315468"/>
          </a:xfrm>
          <a:prstGeom prst="rect">
            <a:avLst/>
          </a:prstGeom>
        </p:spPr>
      </p:pic>
      <p:pic>
        <p:nvPicPr>
          <p:cNvPr id="22" name="i13" descr="p1_i1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0392" y="8215884"/>
            <a:ext cx="676656" cy="210312"/>
          </a:xfrm>
          <a:prstGeom prst="rect">
            <a:avLst/>
          </a:prstGeom>
        </p:spPr>
      </p:pic>
      <p:pic>
        <p:nvPicPr>
          <p:cNvPr id="23" name="i14" descr="p1_i14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38444" y="8229600"/>
            <a:ext cx="429768" cy="288036"/>
          </a:xfrm>
          <a:prstGeom prst="rect">
            <a:avLst/>
          </a:prstGeom>
        </p:spPr>
      </p:pic>
      <p:pic>
        <p:nvPicPr>
          <p:cNvPr id="24" name="i15" descr="p1_i15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93208" y="9313164"/>
            <a:ext cx="306324" cy="306324"/>
          </a:xfrm>
          <a:prstGeom prst="rect">
            <a:avLst/>
          </a:prstGeom>
        </p:spPr>
      </p:pic>
      <p:pic>
        <p:nvPicPr>
          <p:cNvPr id="25" name="i16" descr="p1_i16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06040" y="9390888"/>
            <a:ext cx="2112264" cy="233172"/>
          </a:xfrm>
          <a:prstGeom prst="rect">
            <a:avLst/>
          </a:prstGeom>
        </p:spPr>
      </p:pic>
      <p:pic>
        <p:nvPicPr>
          <p:cNvPr id="26" name="spc-globe" descr="p1_a1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94660" y="7543800"/>
            <a:ext cx="1394460" cy="1531620"/>
          </a:xfrm>
          <a:prstGeom prst="rect">
            <a:avLst/>
          </a:prstGeom>
        </p:spPr>
      </p:pic>
      <p:pic>
        <p:nvPicPr>
          <p:cNvPr id="27" name="arrow-equity" descr="p1_a14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542032" y="6880860"/>
            <a:ext cx="658368" cy="685800"/>
          </a:xfrm>
          <a:prstGeom prst="rect">
            <a:avLst/>
          </a:prstGeom>
        </p:spPr>
      </p:pic>
      <p:pic>
        <p:nvPicPr>
          <p:cNvPr id="28" name="arrow-epc" descr="p1_a15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28516" y="6858000"/>
            <a:ext cx="726948" cy="640080"/>
          </a:xfrm>
          <a:prstGeom prst="rect">
            <a:avLst/>
          </a:prstGeom>
        </p:spPr>
      </p:pic>
      <p:pic>
        <p:nvPicPr>
          <p:cNvPr id="29" name="arrow-lease" descr="p1_a16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025396" y="8156448"/>
            <a:ext cx="809244" cy="192024"/>
          </a:xfrm>
          <a:prstGeom prst="rect">
            <a:avLst/>
          </a:prstGeom>
        </p:spPr>
      </p:pic>
      <p:pic>
        <p:nvPicPr>
          <p:cNvPr id="30" name="arrow-loan" descr="p1_a17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457700" y="8165592"/>
            <a:ext cx="800100" cy="192024"/>
          </a:xfrm>
          <a:prstGeom prst="rect">
            <a:avLst/>
          </a:prstGeom>
        </p:spPr>
      </p:pic>
      <p:pic>
        <p:nvPicPr>
          <p:cNvPr id="31" name="arrow-power" descr="p1_a18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542032" y="8595360"/>
            <a:ext cx="685800" cy="813816"/>
          </a:xfrm>
          <a:prstGeom prst="rect">
            <a:avLst/>
          </a:prstGeom>
        </p:spPr>
      </p:pic>
      <p:cxnSp>
        <p:nvCxnSpPr>
          <p:cNvPr id="32" name="l7"/>
          <p:cNvCxnSpPr/>
          <p:nvPr/>
        </p:nvCxnSpPr>
        <p:spPr>
          <a:xfrm>
            <a:off x="4206240" y="2290572"/>
            <a:ext cx="0" cy="1481328"/>
          </a:xfrm>
          <a:prstGeom prst="line">
            <a:avLst/>
          </a:prstGeom>
          <a:ln w="18288">
            <a:solidFill>
              <a:srgbClr val="B6B8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l8"/>
          <p:cNvCxnSpPr/>
          <p:nvPr/>
        </p:nvCxnSpPr>
        <p:spPr>
          <a:xfrm>
            <a:off x="6723126" y="2304288"/>
            <a:ext cx="0" cy="1472184"/>
          </a:xfrm>
          <a:prstGeom prst="line">
            <a:avLst/>
          </a:prstGeom>
          <a:ln w="13716">
            <a:solidFill>
              <a:srgbClr val="B8BC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page-bar"/>
          <p:cNvCxnSpPr/>
          <p:nvPr/>
        </p:nvCxnSpPr>
        <p:spPr>
          <a:xfrm>
            <a:off x="6441948" y="10035540"/>
            <a:ext cx="0" cy="114300"/>
          </a:xfrm>
          <a:prstGeom prst="line">
            <a:avLst/>
          </a:prstGeom>
          <a:ln w="9144">
            <a:solidFill>
              <a:srgbClr val="3A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a5"/>
          <p:cNvCxnSpPr/>
          <p:nvPr/>
        </p:nvCxnSpPr>
        <p:spPr>
          <a:xfrm>
            <a:off x="603504" y="2281428"/>
            <a:ext cx="3579876" cy="0"/>
          </a:xfrm>
          <a:prstGeom prst="line">
            <a:avLst/>
          </a:prstGeom>
          <a:ln w="9144">
            <a:solidFill>
              <a:srgbClr val="C8C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a6"/>
          <p:cNvCxnSpPr/>
          <p:nvPr/>
        </p:nvCxnSpPr>
        <p:spPr>
          <a:xfrm>
            <a:off x="603504" y="3765042"/>
            <a:ext cx="6117336" cy="0"/>
          </a:xfrm>
          <a:prstGeom prst="line">
            <a:avLst/>
          </a:prstGeom>
          <a:ln w="9144">
            <a:solidFill>
              <a:srgbClr val="C8C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a7"/>
          <p:cNvCxnSpPr/>
          <p:nvPr/>
        </p:nvCxnSpPr>
        <p:spPr>
          <a:xfrm>
            <a:off x="603504" y="2484882"/>
            <a:ext cx="3579876" cy="0"/>
          </a:xfrm>
          <a:prstGeom prst="line">
            <a:avLst/>
          </a:prstGeom>
          <a:ln w="6350">
            <a:solidFill>
              <a:srgbClr val="C8CCCD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a8"/>
          <p:cNvCxnSpPr/>
          <p:nvPr/>
        </p:nvCxnSpPr>
        <p:spPr>
          <a:xfrm>
            <a:off x="603504" y="2699766"/>
            <a:ext cx="3579876" cy="0"/>
          </a:xfrm>
          <a:prstGeom prst="line">
            <a:avLst/>
          </a:prstGeom>
          <a:ln w="6350">
            <a:solidFill>
              <a:srgbClr val="C8CCCD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a9"/>
          <p:cNvCxnSpPr/>
          <p:nvPr/>
        </p:nvCxnSpPr>
        <p:spPr>
          <a:xfrm>
            <a:off x="603504" y="2914650"/>
            <a:ext cx="3579876" cy="0"/>
          </a:xfrm>
          <a:prstGeom prst="line">
            <a:avLst/>
          </a:prstGeom>
          <a:ln w="6350">
            <a:solidFill>
              <a:srgbClr val="C8CCCD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a10"/>
          <p:cNvCxnSpPr/>
          <p:nvPr/>
        </p:nvCxnSpPr>
        <p:spPr>
          <a:xfrm>
            <a:off x="603504" y="3129534"/>
            <a:ext cx="3579876" cy="0"/>
          </a:xfrm>
          <a:prstGeom prst="line">
            <a:avLst/>
          </a:prstGeom>
          <a:ln w="6350">
            <a:solidFill>
              <a:srgbClr val="C8CCCD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a11"/>
          <p:cNvCxnSpPr/>
          <p:nvPr/>
        </p:nvCxnSpPr>
        <p:spPr>
          <a:xfrm>
            <a:off x="603504" y="3339846"/>
            <a:ext cx="3579876" cy="0"/>
          </a:xfrm>
          <a:prstGeom prst="line">
            <a:avLst/>
          </a:prstGeom>
          <a:ln w="6350">
            <a:solidFill>
              <a:srgbClr val="C8CCCD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0"/>
          <p:cNvSpPr txBox="1"/>
          <p:nvPr/>
        </p:nvSpPr>
        <p:spPr>
          <a:xfrm>
            <a:off x="1235125" y="219835"/>
            <a:ext cx="1047906" cy="298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4B5152"/>
                </a:solidFill>
                <a:latin typeface="NanumGothic"/>
                <a:ea typeface="NanumGothic"/>
              </a:rPr>
              <a:t>건설계획</a:t>
            </a:r>
          </a:p>
        </p:txBody>
      </p:sp>
      <p:sp>
        <p:nvSpPr>
          <p:cNvPr id="43" name="t1"/>
          <p:cNvSpPr txBox="1"/>
          <p:nvPr/>
        </p:nvSpPr>
        <p:spPr>
          <a:xfrm>
            <a:off x="5233471" y="623299"/>
            <a:ext cx="1261209" cy="143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>
                <a:solidFill>
                  <a:srgbClr val="494B4A"/>
                </a:solidFill>
                <a:latin typeface="NanumGothic"/>
                <a:ea typeface="NanumGothic"/>
              </a:rPr>
              <a:t>고속도로 민간투자 태양광</a:t>
            </a:r>
          </a:p>
        </p:txBody>
      </p:sp>
      <p:sp>
        <p:nvSpPr>
          <p:cNvPr id="44" name="t2"/>
          <p:cNvSpPr txBox="1"/>
          <p:nvPr/>
        </p:nvSpPr>
        <p:spPr>
          <a:xfrm>
            <a:off x="6428460" y="650874"/>
            <a:ext cx="367590" cy="1056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1">
                <a:solidFill>
                  <a:srgbClr val="B1B3B4"/>
                </a:solidFill>
                <a:latin typeface="NanumGothic"/>
                <a:ea typeface="NanumGothic"/>
              </a:rPr>
              <a:t>발전사업</a:t>
            </a:r>
          </a:p>
        </p:txBody>
      </p:sp>
      <p:sp>
        <p:nvSpPr>
          <p:cNvPr id="45" name="t3"/>
          <p:cNvSpPr txBox="1"/>
          <p:nvPr/>
        </p:nvSpPr>
        <p:spPr>
          <a:xfrm>
            <a:off x="774280" y="852330"/>
            <a:ext cx="904197" cy="17651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04141"/>
                </a:solidFill>
                <a:latin typeface="NanumGothic"/>
                <a:ea typeface="NanumGothic"/>
              </a:rPr>
              <a:t>사업신청 목적</a:t>
            </a:r>
          </a:p>
        </p:txBody>
      </p:sp>
      <p:sp>
        <p:nvSpPr>
          <p:cNvPr id="46" name="t4"/>
          <p:cNvSpPr txBox="1"/>
          <p:nvPr/>
        </p:nvSpPr>
        <p:spPr>
          <a:xfrm>
            <a:off x="1428972" y="1178700"/>
            <a:ext cx="4791129" cy="5930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69" b="0">
                <a:solidFill>
                  <a:srgbClr val="3C3E3D"/>
                </a:solidFill>
                <a:latin typeface="NanumGothic"/>
                <a:ea typeface="NanumGothic"/>
              </a:rPr>
              <a:t>• 한국도로공사가 보유한 성토부의 가용자산을 활용하여 신재생에너지 생산 및 전기 보급</a:t>
            </a:r>
          </a:p>
          <a:p>
            <a:pPr algn="l">
              <a:lnSpc>
                <a:spcPct val="132000"/>
              </a:lnSpc>
            </a:pPr>
            <a:r>
              <a:rPr sz="969" b="0">
                <a:solidFill>
                  <a:srgbClr val="3C3E3D"/>
                </a:solidFill>
                <a:latin typeface="NanumGothic"/>
                <a:ea typeface="NanumGothic"/>
              </a:rPr>
              <a:t>• “2050 탄소중립의 실천”, “국가온실가스감축목표(NDC)”의 신에너지 국가정책에 기여</a:t>
            </a:r>
          </a:p>
          <a:p>
            <a:pPr algn="l">
              <a:lnSpc>
                <a:spcPct val="132000"/>
              </a:lnSpc>
            </a:pPr>
            <a:r>
              <a:rPr sz="969" b="0">
                <a:solidFill>
                  <a:srgbClr val="3C3E3D"/>
                </a:solidFill>
                <a:latin typeface="NanumGothic"/>
                <a:ea typeface="NanumGothic"/>
              </a:rPr>
              <a:t>• 유휴자산을 활용하여 청정에너지 생산, 신수익 창출 및 신규 일자리 등 사회적 가치실현</a:t>
            </a:r>
          </a:p>
        </p:txBody>
      </p:sp>
      <p:sp>
        <p:nvSpPr>
          <p:cNvPr id="47" name="t5"/>
          <p:cNvSpPr txBox="1"/>
          <p:nvPr/>
        </p:nvSpPr>
        <p:spPr>
          <a:xfrm>
            <a:off x="737858" y="1387684"/>
            <a:ext cx="605161" cy="17307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>
                <a:solidFill>
                  <a:srgbClr val="FFFFFF"/>
                </a:solidFill>
                <a:latin typeface="NanumGothic"/>
                <a:ea typeface="NanumGothic"/>
              </a:rPr>
              <a:t>중점사항</a:t>
            </a:r>
          </a:p>
        </p:txBody>
      </p:sp>
      <p:sp>
        <p:nvSpPr>
          <p:cNvPr id="48" name="t6"/>
          <p:cNvSpPr txBox="1"/>
          <p:nvPr/>
        </p:nvSpPr>
        <p:spPr>
          <a:xfrm>
            <a:off x="769725" y="1999949"/>
            <a:ext cx="615959" cy="1761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A3C3B"/>
                </a:solidFill>
                <a:latin typeface="NanumGothic"/>
                <a:ea typeface="NanumGothic"/>
              </a:rPr>
              <a:t>사업개요</a:t>
            </a:r>
          </a:p>
        </p:txBody>
      </p:sp>
      <p:sp>
        <p:nvSpPr>
          <p:cNvPr id="49" name="t7"/>
          <p:cNvSpPr txBox="1"/>
          <p:nvPr/>
        </p:nvSpPr>
        <p:spPr>
          <a:xfrm>
            <a:off x="632888" y="2262511"/>
            <a:ext cx="798303" cy="10719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3000"/>
              </a:lnSpc>
            </a:pPr>
            <a:r>
              <a:rPr sz="1050" b="1">
                <a:solidFill>
                  <a:srgbClr val="4A4D4E"/>
                </a:solidFill>
                <a:latin typeface="NanumGothic"/>
                <a:ea typeface="NanumGothic"/>
              </a:rPr>
              <a:t>사 업 명</a:t>
            </a:r>
          </a:p>
          <a:p>
            <a:pPr algn="l">
              <a:lnSpc>
                <a:spcPct val="133000"/>
              </a:lnSpc>
            </a:pPr>
            <a:r>
              <a:rPr sz="1050" b="1">
                <a:solidFill>
                  <a:srgbClr val="4A4D4E"/>
                </a:solidFill>
                <a:latin typeface="NanumGothic"/>
                <a:ea typeface="NanumGothic"/>
              </a:rPr>
              <a:t>발 주 기 관</a:t>
            </a:r>
          </a:p>
          <a:p>
            <a:pPr algn="l">
              <a:lnSpc>
                <a:spcPct val="133000"/>
              </a:lnSpc>
            </a:pPr>
            <a:r>
              <a:rPr sz="1050" b="1">
                <a:solidFill>
                  <a:srgbClr val="4A4D4E"/>
                </a:solidFill>
                <a:latin typeface="NanumGothic"/>
                <a:ea typeface="NanumGothic"/>
              </a:rPr>
              <a:t>사 업 방 식</a:t>
            </a:r>
          </a:p>
          <a:p>
            <a:pPr algn="l">
              <a:lnSpc>
                <a:spcPct val="133000"/>
              </a:lnSpc>
            </a:pPr>
            <a:r>
              <a:rPr sz="1050" b="1">
                <a:solidFill>
                  <a:srgbClr val="4A4D4E"/>
                </a:solidFill>
                <a:latin typeface="NanumGothic"/>
                <a:ea typeface="NanumGothic"/>
              </a:rPr>
              <a:t>설 치 부 지</a:t>
            </a:r>
          </a:p>
          <a:p>
            <a:pPr algn="l">
              <a:lnSpc>
                <a:spcPct val="133000"/>
              </a:lnSpc>
            </a:pPr>
            <a:r>
              <a:rPr sz="1050" b="1">
                <a:solidFill>
                  <a:srgbClr val="4A4D4E"/>
                </a:solidFill>
                <a:latin typeface="NanumGothic"/>
                <a:ea typeface="NanumGothic"/>
              </a:rPr>
              <a:t>설 치 용 량</a:t>
            </a:r>
          </a:p>
        </p:txBody>
      </p:sp>
      <p:sp>
        <p:nvSpPr>
          <p:cNvPr id="50" name="t8"/>
          <p:cNvSpPr txBox="1"/>
          <p:nvPr/>
        </p:nvSpPr>
        <p:spPr>
          <a:xfrm>
            <a:off x="1360723" y="2263361"/>
            <a:ext cx="2337840" cy="10809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3000"/>
              </a:lnSpc>
            </a:pPr>
            <a:r>
              <a:rPr sz="919" b="0">
                <a:solidFill>
                  <a:srgbClr val="4D4F4E"/>
                </a:solidFill>
                <a:latin typeface="NanumGothic"/>
                <a:ea typeface="NanumGothic"/>
              </a:rPr>
              <a:t>2023년 고속도로 민간투자 태양광 발전사업</a:t>
            </a:r>
          </a:p>
          <a:p>
            <a:pPr algn="l">
              <a:lnSpc>
                <a:spcPct val="153000"/>
              </a:lnSpc>
            </a:pPr>
            <a:r>
              <a:rPr sz="919" b="0">
                <a:solidFill>
                  <a:srgbClr val="4D4F4E"/>
                </a:solidFill>
                <a:latin typeface="NanumGothic"/>
                <a:ea typeface="NanumGothic"/>
              </a:rPr>
              <a:t>한국도로공사</a:t>
            </a:r>
          </a:p>
          <a:p>
            <a:pPr algn="l">
              <a:lnSpc>
                <a:spcPct val="153000"/>
              </a:lnSpc>
            </a:pPr>
            <a:r>
              <a:rPr sz="919" b="0">
                <a:solidFill>
                  <a:srgbClr val="4D4F4E"/>
                </a:solidFill>
                <a:latin typeface="NanumGothic"/>
                <a:ea typeface="NanumGothic"/>
              </a:rPr>
              <a:t>BOT(Build-Operate-Transper)</a:t>
            </a:r>
          </a:p>
          <a:p>
            <a:pPr algn="l">
              <a:lnSpc>
                <a:spcPct val="153000"/>
              </a:lnSpc>
            </a:pPr>
            <a:r>
              <a:rPr sz="919" b="0">
                <a:solidFill>
                  <a:srgbClr val="4D4F4E"/>
                </a:solidFill>
                <a:latin typeface="NanumGothic"/>
                <a:ea typeface="NanumGothic"/>
              </a:rPr>
              <a:t>경기 평택시 칠괴동 42-1일원 외 14개소</a:t>
            </a:r>
          </a:p>
          <a:p>
            <a:pPr algn="l">
              <a:lnSpc>
                <a:spcPct val="153000"/>
              </a:lnSpc>
            </a:pPr>
            <a:r>
              <a:rPr sz="919" b="0">
                <a:solidFill>
                  <a:srgbClr val="4D4F4E"/>
                </a:solidFill>
                <a:latin typeface="NanumGothic"/>
                <a:ea typeface="NanumGothic"/>
              </a:rPr>
              <a:t>10MW</a:t>
            </a:r>
          </a:p>
        </p:txBody>
      </p:sp>
      <p:sp>
        <p:nvSpPr>
          <p:cNvPr id="51" name="t9"/>
          <p:cNvSpPr txBox="1"/>
          <p:nvPr/>
        </p:nvSpPr>
        <p:spPr>
          <a:xfrm>
            <a:off x="1351410" y="3370637"/>
            <a:ext cx="1984941" cy="3486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40" b="0">
                <a:solidFill>
                  <a:srgbClr val="484949"/>
                </a:solidFill>
                <a:latin typeface="NanumGothic"/>
                <a:ea typeface="NanumGothic"/>
              </a:rPr>
              <a:t>건설기간 : 실시협약 체결 후 18개월</a:t>
            </a:r>
          </a:p>
          <a:p>
            <a:pPr algn="l">
              <a:lnSpc>
                <a:spcPct val="118000"/>
              </a:lnSpc>
            </a:pPr>
            <a:r>
              <a:rPr sz="940" b="0">
                <a:solidFill>
                  <a:srgbClr val="484949"/>
                </a:solidFill>
                <a:latin typeface="NanumGothic"/>
                <a:ea typeface="NanumGothic"/>
              </a:rPr>
              <a:t>운영기간 : 건설기간 완료 후 20년</a:t>
            </a:r>
          </a:p>
        </p:txBody>
      </p:sp>
      <p:sp>
        <p:nvSpPr>
          <p:cNvPr id="52" name="t10"/>
          <p:cNvSpPr txBox="1"/>
          <p:nvPr/>
        </p:nvSpPr>
        <p:spPr>
          <a:xfrm>
            <a:off x="628101" y="3458718"/>
            <a:ext cx="733531" cy="1737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>
                <a:solidFill>
                  <a:srgbClr val="3A3E3E"/>
                </a:solidFill>
                <a:latin typeface="NanumGothic"/>
                <a:ea typeface="NanumGothic"/>
              </a:rPr>
              <a:t>사 업 기 간</a:t>
            </a:r>
          </a:p>
        </p:txBody>
      </p:sp>
      <p:sp>
        <p:nvSpPr>
          <p:cNvPr id="53" name="t11"/>
          <p:cNvSpPr txBox="1"/>
          <p:nvPr/>
        </p:nvSpPr>
        <p:spPr>
          <a:xfrm>
            <a:off x="760500" y="3919965"/>
            <a:ext cx="1037551" cy="1779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0" b="1">
                <a:solidFill>
                  <a:srgbClr val="3C3E3E"/>
                </a:solidFill>
                <a:latin typeface="NanumGothic"/>
                <a:ea typeface="NanumGothic"/>
              </a:rPr>
              <a:t>사업의 기대효과</a:t>
            </a:r>
          </a:p>
        </p:txBody>
      </p:sp>
      <p:sp>
        <p:nvSpPr>
          <p:cNvPr id="54" name="t12"/>
          <p:cNvSpPr txBox="1"/>
          <p:nvPr/>
        </p:nvSpPr>
        <p:spPr>
          <a:xfrm>
            <a:off x="1373463" y="4222591"/>
            <a:ext cx="1550409" cy="17093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1">
                <a:solidFill>
                  <a:srgbClr val="343837"/>
                </a:solidFill>
                <a:latin typeface="NanumGothic"/>
                <a:ea typeface="NanumGothic"/>
              </a:rPr>
              <a:t>정부의 신에너지 정책 실현</a:t>
            </a:r>
          </a:p>
        </p:txBody>
      </p:sp>
      <p:sp>
        <p:nvSpPr>
          <p:cNvPr id="55" name="t13"/>
          <p:cNvSpPr txBox="1"/>
          <p:nvPr/>
        </p:nvSpPr>
        <p:spPr>
          <a:xfrm>
            <a:off x="4418536" y="4245788"/>
            <a:ext cx="1608390" cy="1682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373C3C"/>
                </a:solidFill>
                <a:latin typeface="NanumGothic"/>
                <a:ea typeface="NanumGothic"/>
              </a:rPr>
              <a:t>공공기관의 사회적 가치실현</a:t>
            </a:r>
          </a:p>
        </p:txBody>
      </p:sp>
      <p:sp>
        <p:nvSpPr>
          <p:cNvPr id="56" name="t14"/>
          <p:cNvSpPr txBox="1"/>
          <p:nvPr/>
        </p:nvSpPr>
        <p:spPr>
          <a:xfrm>
            <a:off x="665860" y="4492395"/>
            <a:ext cx="2925841" cy="52363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10" b="0">
                <a:solidFill>
                  <a:srgbClr val="4D4F4F"/>
                </a:solidFill>
                <a:latin typeface="NanumGothic"/>
                <a:ea typeface="NanumGothic"/>
              </a:rPr>
              <a:t>• “2050 탄소중립의 실천”의 정책실현</a:t>
            </a:r>
          </a:p>
          <a:p>
            <a:pPr algn="l">
              <a:lnSpc>
                <a:spcPct val="124000"/>
              </a:lnSpc>
            </a:pPr>
            <a:r>
              <a:rPr sz="910" b="0">
                <a:solidFill>
                  <a:srgbClr val="4D4F4F"/>
                </a:solidFill>
                <a:latin typeface="NanumGothic"/>
                <a:ea typeface="NanumGothic"/>
              </a:rPr>
              <a:t>• 청정그린에너지 생산으로 저탄소 탄소중립국가로 도약</a:t>
            </a:r>
          </a:p>
          <a:p>
            <a:pPr algn="l">
              <a:lnSpc>
                <a:spcPct val="124000"/>
              </a:lnSpc>
            </a:pPr>
            <a:r>
              <a:rPr sz="910" b="0">
                <a:solidFill>
                  <a:srgbClr val="4D4F4F"/>
                </a:solidFill>
                <a:latin typeface="NanumGothic"/>
                <a:ea typeface="NanumGothic"/>
              </a:rPr>
              <a:t>• 정부의 신재생에너지 보급정책에 기여</a:t>
            </a:r>
          </a:p>
        </p:txBody>
      </p:sp>
      <p:sp>
        <p:nvSpPr>
          <p:cNvPr id="57" name="t15"/>
          <p:cNvSpPr txBox="1"/>
          <p:nvPr/>
        </p:nvSpPr>
        <p:spPr>
          <a:xfrm>
            <a:off x="3742837" y="4513992"/>
            <a:ext cx="2509321" cy="5301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00" b="0">
                <a:solidFill>
                  <a:srgbClr val="494C4B"/>
                </a:solidFill>
                <a:latin typeface="NanumGothic"/>
                <a:ea typeface="NanumGothic"/>
              </a:rPr>
              <a:t>• 한국도로공사와 사업시행자의 공익사업 실현</a:t>
            </a:r>
          </a:p>
          <a:p>
            <a:pPr algn="l">
              <a:lnSpc>
                <a:spcPct val="126000"/>
              </a:lnSpc>
            </a:pPr>
            <a:r>
              <a:rPr sz="900" b="0">
                <a:solidFill>
                  <a:srgbClr val="494C4B"/>
                </a:solidFill>
                <a:latin typeface="NanumGothic"/>
                <a:ea typeface="NanumGothic"/>
              </a:rPr>
              <a:t>• 화석발전 대비 CO₂ 약 7천만톤 저감효과 기대</a:t>
            </a:r>
          </a:p>
          <a:p>
            <a:pPr algn="l">
              <a:lnSpc>
                <a:spcPct val="126000"/>
              </a:lnSpc>
            </a:pPr>
            <a:r>
              <a:rPr sz="900" b="0">
                <a:solidFill>
                  <a:srgbClr val="494C4B"/>
                </a:solidFill>
                <a:latin typeface="NanumGothic"/>
                <a:ea typeface="NanumGothic"/>
              </a:rPr>
              <a:t>• 신규 일자리 500개의 고용창출효과 기대</a:t>
            </a:r>
          </a:p>
        </p:txBody>
      </p:sp>
      <p:sp>
        <p:nvSpPr>
          <p:cNvPr id="58" name="t16"/>
          <p:cNvSpPr txBox="1"/>
          <p:nvPr/>
        </p:nvSpPr>
        <p:spPr>
          <a:xfrm>
            <a:off x="1702483" y="5241693"/>
            <a:ext cx="894002" cy="1745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90" b="1">
                <a:solidFill>
                  <a:srgbClr val="353839"/>
                </a:solidFill>
                <a:latin typeface="NanumGothic"/>
                <a:ea typeface="NanumGothic"/>
              </a:rPr>
              <a:t>환경개선 효과</a:t>
            </a:r>
          </a:p>
        </p:txBody>
      </p:sp>
      <p:sp>
        <p:nvSpPr>
          <p:cNvPr id="59" name="t17"/>
          <p:cNvSpPr txBox="1"/>
          <p:nvPr/>
        </p:nvSpPr>
        <p:spPr>
          <a:xfrm>
            <a:off x="4555678" y="5265295"/>
            <a:ext cx="1338853" cy="1686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33738"/>
                </a:solidFill>
                <a:latin typeface="NanumGothic"/>
                <a:ea typeface="NanumGothic"/>
              </a:rPr>
              <a:t>유휴부지의 가용자산화</a:t>
            </a:r>
          </a:p>
        </p:txBody>
      </p:sp>
      <p:sp>
        <p:nvSpPr>
          <p:cNvPr id="60" name="t18"/>
          <p:cNvSpPr txBox="1"/>
          <p:nvPr/>
        </p:nvSpPr>
        <p:spPr>
          <a:xfrm>
            <a:off x="661400" y="5509845"/>
            <a:ext cx="2813647" cy="5306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90" b="0">
                <a:solidFill>
                  <a:srgbClr val="494B4A"/>
                </a:solidFill>
                <a:latin typeface="NanumGothic"/>
                <a:ea typeface="NanumGothic"/>
              </a:rPr>
              <a:t>• 신에너지전환으로 국가온실가스감축목표(NDC) 실천</a:t>
            </a:r>
          </a:p>
          <a:p>
            <a:pPr algn="l">
              <a:lnSpc>
                <a:spcPct val="128000"/>
              </a:lnSpc>
            </a:pPr>
            <a:r>
              <a:rPr sz="890" b="0">
                <a:solidFill>
                  <a:srgbClr val="494B4A"/>
                </a:solidFill>
                <a:latin typeface="NanumGothic"/>
                <a:ea typeface="NanumGothic"/>
              </a:rPr>
              <a:t>• “환경오염 Zero” 목표로 친환경 발전소 건립</a:t>
            </a:r>
          </a:p>
          <a:p>
            <a:pPr algn="l">
              <a:lnSpc>
                <a:spcPct val="128000"/>
              </a:lnSpc>
            </a:pPr>
            <a:r>
              <a:rPr sz="890" b="0">
                <a:solidFill>
                  <a:srgbClr val="494B4A"/>
                </a:solidFill>
                <a:latin typeface="NanumGothic"/>
                <a:ea typeface="NanumGothic"/>
              </a:rPr>
              <a:t>• 경관이 우수하며 주변과 조화로운 발전소 건립</a:t>
            </a:r>
          </a:p>
        </p:txBody>
      </p:sp>
      <p:sp>
        <p:nvSpPr>
          <p:cNvPr id="61" name="t19"/>
          <p:cNvSpPr txBox="1"/>
          <p:nvPr/>
        </p:nvSpPr>
        <p:spPr>
          <a:xfrm>
            <a:off x="3738243" y="5537994"/>
            <a:ext cx="2601252" cy="5320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10" b="0">
                <a:solidFill>
                  <a:srgbClr val="4A4B4B"/>
                </a:solidFill>
                <a:latin typeface="NanumGothic"/>
                <a:ea typeface="NanumGothic"/>
              </a:rPr>
              <a:t>• 한국도로공사 유휴부지를 활용 신부가가치 창출</a:t>
            </a:r>
          </a:p>
          <a:p>
            <a:pPr algn="l">
              <a:lnSpc>
                <a:spcPct val="126000"/>
              </a:lnSpc>
            </a:pPr>
            <a:r>
              <a:rPr sz="910" b="0">
                <a:solidFill>
                  <a:srgbClr val="4A4B4B"/>
                </a:solidFill>
                <a:latin typeface="NanumGothic"/>
                <a:ea typeface="NanumGothic"/>
              </a:rPr>
              <a:t>• 본사업에 직접 지역주민을 참여 수익 공유</a:t>
            </a:r>
          </a:p>
          <a:p>
            <a:pPr algn="l">
              <a:lnSpc>
                <a:spcPct val="126000"/>
              </a:lnSpc>
            </a:pPr>
            <a:r>
              <a:rPr sz="910" b="0">
                <a:solidFill>
                  <a:srgbClr val="4A4B4B"/>
                </a:solidFill>
                <a:latin typeface="NanumGothic"/>
                <a:ea typeface="NanumGothic"/>
              </a:rPr>
              <a:t>• 유휴부지를 이용 환경친화적인 청정에너지 생산</a:t>
            </a:r>
          </a:p>
        </p:txBody>
      </p:sp>
      <p:sp>
        <p:nvSpPr>
          <p:cNvPr id="62" name="t20"/>
          <p:cNvSpPr txBox="1"/>
          <p:nvPr/>
        </p:nvSpPr>
        <p:spPr>
          <a:xfrm>
            <a:off x="746865" y="6293057"/>
            <a:ext cx="615959" cy="1761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414242"/>
                </a:solidFill>
                <a:latin typeface="NanumGothic"/>
                <a:ea typeface="NanumGothic"/>
              </a:rPr>
              <a:t>사업구도</a:t>
            </a:r>
          </a:p>
        </p:txBody>
      </p:sp>
      <p:sp>
        <p:nvSpPr>
          <p:cNvPr id="63" name="t21"/>
          <p:cNvSpPr txBox="1"/>
          <p:nvPr/>
        </p:nvSpPr>
        <p:spPr>
          <a:xfrm>
            <a:off x="1442056" y="6732656"/>
            <a:ext cx="864448" cy="1706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1">
                <a:solidFill>
                  <a:srgbClr val="3D3F40"/>
                </a:solidFill>
                <a:latin typeface="NanumGothic"/>
                <a:ea typeface="NanumGothic"/>
              </a:rPr>
              <a:t>자본금(25%)</a:t>
            </a:r>
          </a:p>
        </p:txBody>
      </p:sp>
      <p:sp>
        <p:nvSpPr>
          <p:cNvPr id="64" name="t22"/>
          <p:cNvSpPr txBox="1"/>
          <p:nvPr/>
        </p:nvSpPr>
        <p:spPr>
          <a:xfrm>
            <a:off x="5401818" y="6774942"/>
            <a:ext cx="361188" cy="161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D4041"/>
                </a:solidFill>
                <a:latin typeface="NanumGothic"/>
                <a:ea typeface="NanumGothic"/>
              </a:rPr>
              <a:t>EPC</a:t>
            </a:r>
          </a:p>
        </p:txBody>
      </p:sp>
      <p:sp>
        <p:nvSpPr>
          <p:cNvPr id="65" name="t23"/>
          <p:cNvSpPr txBox="1"/>
          <p:nvPr/>
        </p:nvSpPr>
        <p:spPr>
          <a:xfrm>
            <a:off x="5494272" y="7037117"/>
            <a:ext cx="562905" cy="3104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850" b="0">
                <a:solidFill>
                  <a:srgbClr val="696D6D"/>
                </a:solidFill>
                <a:latin typeface="NanumGothic"/>
                <a:ea typeface="NanumGothic"/>
              </a:rPr>
              <a:t>전문</a:t>
            </a:r>
          </a:p>
          <a:p>
            <a:pPr algn="ctr">
              <a:lnSpc>
                <a:spcPct val="116000"/>
              </a:lnSpc>
            </a:pPr>
            <a:r>
              <a:rPr sz="850" b="0">
                <a:solidFill>
                  <a:srgbClr val="696D6D"/>
                </a:solidFill>
                <a:latin typeface="NanumGothic"/>
                <a:ea typeface="NanumGothic"/>
              </a:rPr>
              <a:t>건설업체</a:t>
            </a:r>
          </a:p>
        </p:txBody>
      </p:sp>
      <p:sp>
        <p:nvSpPr>
          <p:cNvPr id="66" name="t24"/>
          <p:cNvSpPr txBox="1"/>
          <p:nvPr/>
        </p:nvSpPr>
        <p:spPr>
          <a:xfrm>
            <a:off x="1827243" y="7016366"/>
            <a:ext cx="482297" cy="3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1000"/>
              </a:lnSpc>
            </a:pPr>
            <a:r>
              <a:rPr sz="890" b="0">
                <a:solidFill>
                  <a:srgbClr val="6B706F"/>
                </a:solidFill>
                <a:latin typeface="NanumGothic"/>
                <a:ea typeface="NanumGothic"/>
              </a:rPr>
              <a:t>사업</a:t>
            </a:r>
          </a:p>
          <a:p>
            <a:pPr algn="ctr">
              <a:lnSpc>
                <a:spcPct val="111000"/>
              </a:lnSpc>
            </a:pPr>
            <a:r>
              <a:rPr sz="890" b="0">
                <a:solidFill>
                  <a:srgbClr val="6B706F"/>
                </a:solidFill>
                <a:latin typeface="NanumGothic"/>
                <a:ea typeface="NanumGothic"/>
              </a:rPr>
              <a:t>신청자</a:t>
            </a:r>
          </a:p>
        </p:txBody>
      </p:sp>
      <p:sp>
        <p:nvSpPr>
          <p:cNvPr id="67" name="t25"/>
          <p:cNvSpPr txBox="1"/>
          <p:nvPr/>
        </p:nvSpPr>
        <p:spPr>
          <a:xfrm>
            <a:off x="3448110" y="7832598"/>
            <a:ext cx="630204" cy="2956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80" b="1">
                <a:solidFill>
                  <a:srgbClr val="2B3439"/>
                </a:solidFill>
                <a:latin typeface="NanumGothic"/>
                <a:ea typeface="NanumGothic"/>
              </a:rPr>
              <a:t>SPC</a:t>
            </a:r>
          </a:p>
        </p:txBody>
      </p:sp>
      <p:sp>
        <p:nvSpPr>
          <p:cNvPr id="68" name="t26"/>
          <p:cNvSpPr txBox="1"/>
          <p:nvPr/>
        </p:nvSpPr>
        <p:spPr>
          <a:xfrm>
            <a:off x="792470" y="7870077"/>
            <a:ext cx="877942" cy="1786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0" b="1">
                <a:solidFill>
                  <a:srgbClr val="393B3D"/>
                </a:solidFill>
                <a:latin typeface="NanumGothic"/>
                <a:ea typeface="NanumGothic"/>
              </a:rPr>
              <a:t>한국도로공사</a:t>
            </a:r>
          </a:p>
        </p:txBody>
      </p:sp>
      <p:sp>
        <p:nvSpPr>
          <p:cNvPr id="69" name="t27"/>
          <p:cNvSpPr txBox="1"/>
          <p:nvPr/>
        </p:nvSpPr>
        <p:spPr>
          <a:xfrm>
            <a:off x="5566982" y="7910388"/>
            <a:ext cx="1094979" cy="1488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>
                <a:solidFill>
                  <a:srgbClr val="3E4040"/>
                </a:solidFill>
                <a:latin typeface="NanumGothic"/>
                <a:ea typeface="NanumGothic"/>
              </a:rPr>
              <a:t>재무적 투자자(75%)</a:t>
            </a:r>
          </a:p>
        </p:txBody>
      </p:sp>
      <p:sp>
        <p:nvSpPr>
          <p:cNvPr id="70" name="t28"/>
          <p:cNvSpPr txBox="1"/>
          <p:nvPr/>
        </p:nvSpPr>
        <p:spPr>
          <a:xfrm>
            <a:off x="2151641" y="7987952"/>
            <a:ext cx="629327" cy="1500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6B7070"/>
                </a:solidFill>
                <a:latin typeface="NanumGothic"/>
                <a:ea typeface="NanumGothic"/>
              </a:rPr>
              <a:t>임대료지급</a:t>
            </a:r>
          </a:p>
        </p:txBody>
      </p:sp>
      <p:sp>
        <p:nvSpPr>
          <p:cNvPr id="71" name="t29"/>
          <p:cNvSpPr txBox="1"/>
          <p:nvPr/>
        </p:nvSpPr>
        <p:spPr>
          <a:xfrm>
            <a:off x="4574966" y="8002128"/>
            <a:ext cx="613625" cy="1464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6E6E"/>
                </a:solidFill>
                <a:latin typeface="NanumGothic"/>
                <a:ea typeface="NanumGothic"/>
              </a:rPr>
              <a:t>원리금상환</a:t>
            </a:r>
          </a:p>
        </p:txBody>
      </p:sp>
      <p:sp>
        <p:nvSpPr>
          <p:cNvPr id="72" name="t30"/>
          <p:cNvSpPr txBox="1"/>
          <p:nvPr/>
        </p:nvSpPr>
        <p:spPr>
          <a:xfrm>
            <a:off x="2197430" y="8321900"/>
            <a:ext cx="518771" cy="1485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666969"/>
                </a:solidFill>
                <a:latin typeface="NanumGothic"/>
                <a:ea typeface="NanumGothic"/>
              </a:rPr>
              <a:t>부지임대</a:t>
            </a:r>
          </a:p>
        </p:txBody>
      </p:sp>
      <p:sp>
        <p:nvSpPr>
          <p:cNvPr id="73" name="t31"/>
          <p:cNvSpPr txBox="1"/>
          <p:nvPr/>
        </p:nvSpPr>
        <p:spPr>
          <a:xfrm>
            <a:off x="3344137" y="8138435"/>
            <a:ext cx="842856" cy="3740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40" b="1">
                <a:solidFill>
                  <a:srgbClr val="515152"/>
                </a:solidFill>
                <a:latin typeface="NanumGothic"/>
                <a:ea typeface="NanumGothic"/>
              </a:rPr>
              <a:t>운영</a:t>
            </a:r>
          </a:p>
          <a:p>
            <a:pPr algn="ctr">
              <a:lnSpc>
                <a:spcPct val="115000"/>
              </a:lnSpc>
            </a:pPr>
            <a:r>
              <a:rPr sz="1040" b="1">
                <a:solidFill>
                  <a:srgbClr val="515152"/>
                </a:solidFill>
                <a:latin typeface="NanumGothic"/>
                <a:ea typeface="NanumGothic"/>
              </a:rPr>
              <a:t>및 유지관리</a:t>
            </a:r>
          </a:p>
        </p:txBody>
      </p:sp>
      <p:sp>
        <p:nvSpPr>
          <p:cNvPr id="74" name="t32"/>
          <p:cNvSpPr txBox="1"/>
          <p:nvPr/>
        </p:nvSpPr>
        <p:spPr>
          <a:xfrm>
            <a:off x="4729734" y="8333994"/>
            <a:ext cx="306324" cy="161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6E6E"/>
                </a:solidFill>
                <a:latin typeface="NanumGothic"/>
                <a:ea typeface="NanumGothic"/>
              </a:rPr>
              <a:t>대출</a:t>
            </a:r>
          </a:p>
        </p:txBody>
      </p:sp>
      <p:sp>
        <p:nvSpPr>
          <p:cNvPr id="75" name="t33"/>
          <p:cNvSpPr txBox="1"/>
          <p:nvPr/>
        </p:nvSpPr>
        <p:spPr>
          <a:xfrm>
            <a:off x="1500927" y="9012516"/>
            <a:ext cx="770641" cy="1831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1">
                <a:solidFill>
                  <a:srgbClr val="3A3C3E"/>
                </a:solidFill>
                <a:latin typeface="NanumGothic"/>
                <a:ea typeface="NanumGothic"/>
              </a:rPr>
              <a:t>공급사업자</a:t>
            </a:r>
          </a:p>
        </p:txBody>
      </p:sp>
      <p:sp>
        <p:nvSpPr>
          <p:cNvPr id="76" name="t34"/>
          <p:cNvSpPr txBox="1"/>
          <p:nvPr/>
        </p:nvSpPr>
        <p:spPr>
          <a:xfrm>
            <a:off x="5199951" y="9036142"/>
            <a:ext cx="744472" cy="1770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83B3C"/>
                </a:solidFill>
                <a:latin typeface="NanumGothic"/>
                <a:ea typeface="NanumGothic"/>
              </a:rPr>
              <a:t>전기사용자</a:t>
            </a:r>
          </a:p>
        </p:txBody>
      </p:sp>
      <p:sp>
        <p:nvSpPr>
          <p:cNvPr id="77" name="t35"/>
          <p:cNvSpPr txBox="1"/>
          <p:nvPr/>
        </p:nvSpPr>
        <p:spPr>
          <a:xfrm>
            <a:off x="3436579" y="9259543"/>
            <a:ext cx="507973" cy="14550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90" b="0">
                <a:solidFill>
                  <a:srgbClr val="6B6E6F"/>
                </a:solidFill>
                <a:latin typeface="NanumGothic"/>
                <a:ea typeface="NanumGothic"/>
              </a:rPr>
              <a:t>전력판매</a:t>
            </a:r>
          </a:p>
        </p:txBody>
      </p:sp>
      <p:sp>
        <p:nvSpPr>
          <p:cNvPr id="78" name="t36"/>
          <p:cNvSpPr txBox="1"/>
          <p:nvPr/>
        </p:nvSpPr>
        <p:spPr>
          <a:xfrm>
            <a:off x="1552853" y="9275342"/>
            <a:ext cx="703294" cy="312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900" b="0">
                <a:solidFill>
                  <a:srgbClr val="737676"/>
                </a:solidFill>
                <a:latin typeface="NanumGothic"/>
                <a:ea typeface="NanumGothic"/>
              </a:rPr>
              <a:t>전력</a:t>
            </a:r>
          </a:p>
          <a:p>
            <a:pPr algn="ctr">
              <a:lnSpc>
                <a:spcPct val="110000"/>
              </a:lnSpc>
            </a:pPr>
            <a:r>
              <a:rPr sz="900" b="0">
                <a:solidFill>
                  <a:srgbClr val="737676"/>
                </a:solidFill>
                <a:latin typeface="NanumGothic"/>
                <a:ea typeface="NanumGothic"/>
              </a:rPr>
              <a:t>중개사업자</a:t>
            </a:r>
          </a:p>
        </p:txBody>
      </p:sp>
      <p:sp>
        <p:nvSpPr>
          <p:cNvPr id="79" name="t37"/>
          <p:cNvSpPr txBox="1"/>
          <p:nvPr/>
        </p:nvSpPr>
        <p:spPr>
          <a:xfrm>
            <a:off x="5540132" y="9324390"/>
            <a:ext cx="472953" cy="300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30" b="0">
                <a:solidFill>
                  <a:srgbClr val="676969"/>
                </a:solidFill>
                <a:latin typeface="NanumGothic"/>
                <a:ea typeface="NanumGothic"/>
              </a:rPr>
              <a:t>RE100</a:t>
            </a:r>
          </a:p>
          <a:p>
            <a:pPr algn="ctr">
              <a:lnSpc>
                <a:spcPct val="115000"/>
              </a:lnSpc>
            </a:pPr>
            <a:r>
              <a:rPr sz="830" b="0">
                <a:solidFill>
                  <a:srgbClr val="676969"/>
                </a:solidFill>
                <a:latin typeface="NanumGothic"/>
                <a:ea typeface="NanumGothic"/>
              </a:rPr>
              <a:t>기업</a:t>
            </a:r>
          </a:p>
        </p:txBody>
      </p:sp>
      <p:sp>
        <p:nvSpPr>
          <p:cNvPr id="80" name="t38"/>
          <p:cNvSpPr txBox="1"/>
          <p:nvPr/>
        </p:nvSpPr>
        <p:spPr>
          <a:xfrm>
            <a:off x="3436510" y="9593107"/>
            <a:ext cx="513372" cy="1470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C6D6D"/>
                </a:solidFill>
                <a:latin typeface="NanumGothic"/>
                <a:ea typeface="NanumGothic"/>
              </a:rPr>
              <a:t>대금지급</a:t>
            </a:r>
          </a:p>
        </p:txBody>
      </p:sp>
      <p:sp>
        <p:nvSpPr>
          <p:cNvPr id="81" name="chapter-number"/>
          <p:cNvSpPr txBox="1"/>
          <p:nvPr/>
        </p:nvSpPr>
        <p:spPr>
          <a:xfrm>
            <a:off x="534924" y="33527"/>
            <a:ext cx="1014984" cy="618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BFDDF0"/>
                </a:solidFill>
                <a:latin typeface="NanumGothic"/>
                <a:ea typeface="NanumGothic"/>
              </a:rPr>
              <a:t>0</a:t>
            </a:r>
            <a:r>
              <a:rPr sz="4000" b="1">
                <a:solidFill>
                  <a:srgbClr val="4A9BD5"/>
                </a:solidFill>
                <a:latin typeface="NanumGothic"/>
                <a:ea typeface="NanumGothic"/>
              </a:rPr>
              <a:t>2</a:t>
            </a:r>
          </a:p>
        </p:txBody>
      </p:sp>
      <p:sp>
        <p:nvSpPr>
          <p:cNvPr id="82" name="page-number"/>
          <p:cNvSpPr txBox="1"/>
          <p:nvPr/>
        </p:nvSpPr>
        <p:spPr>
          <a:xfrm>
            <a:off x="6497726" y="9989820"/>
            <a:ext cx="327355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A3C3C"/>
                </a:solidFill>
                <a:latin typeface="NanumGothic"/>
                <a:ea typeface="NanumGothic"/>
              </a:rPr>
              <a:t>35</a:t>
            </a:r>
          </a:p>
        </p:txBody>
      </p:sp>
      <p:sp>
        <p:nvSpPr>
          <p:cNvPr id="83" name="a3"/>
          <p:cNvSpPr txBox="1"/>
          <p:nvPr/>
        </p:nvSpPr>
        <p:spPr>
          <a:xfrm>
            <a:off x="613105" y="290322"/>
            <a:ext cx="337413" cy="1005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>
                <a:solidFill>
                  <a:srgbClr val="94BADC"/>
                </a:solidFill>
                <a:latin typeface="NanumGothic"/>
                <a:ea typeface="NanumGothic"/>
              </a:rPr>
              <a:t>Chapter</a:t>
            </a:r>
          </a:p>
        </p:txBody>
      </p:sp>
      <p:sp>
        <p:nvSpPr>
          <p:cNvPr id="84" name="a19"/>
          <p:cNvSpPr txBox="1"/>
          <p:nvPr/>
        </p:nvSpPr>
        <p:spPr>
          <a:xfrm rot="18900000">
            <a:off x="2814408" y="6972490"/>
            <a:ext cx="425653" cy="1539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6E6E"/>
                </a:solidFill>
                <a:latin typeface="NanumGothic"/>
                <a:ea typeface="NanumGothic"/>
              </a:rPr>
              <a:t>배당</a:t>
            </a:r>
          </a:p>
        </p:txBody>
      </p:sp>
      <p:sp>
        <p:nvSpPr>
          <p:cNvPr id="85" name="a20"/>
          <p:cNvSpPr txBox="1"/>
          <p:nvPr/>
        </p:nvSpPr>
        <p:spPr>
          <a:xfrm rot="18900000">
            <a:off x="2599524" y="7287958"/>
            <a:ext cx="425653" cy="1539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6E6E"/>
                </a:solidFill>
                <a:latin typeface="NanumGothic"/>
                <a:ea typeface="NanumGothic"/>
              </a:rPr>
              <a:t>출자</a:t>
            </a:r>
          </a:p>
        </p:txBody>
      </p:sp>
      <p:sp>
        <p:nvSpPr>
          <p:cNvPr id="86" name="a21"/>
          <p:cNvSpPr txBox="1"/>
          <p:nvPr/>
        </p:nvSpPr>
        <p:spPr>
          <a:xfrm rot="18900000">
            <a:off x="4025988" y="6949630"/>
            <a:ext cx="608533" cy="1539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6E6E"/>
                </a:solidFill>
                <a:latin typeface="NanumGothic"/>
                <a:ea typeface="NanumGothic"/>
              </a:rPr>
              <a:t>대금지급</a:t>
            </a:r>
          </a:p>
        </p:txBody>
      </p:sp>
      <p:sp>
        <p:nvSpPr>
          <p:cNvPr id="87" name="a22"/>
          <p:cNvSpPr txBox="1"/>
          <p:nvPr/>
        </p:nvSpPr>
        <p:spPr>
          <a:xfrm rot="18900000">
            <a:off x="4387176" y="7228522"/>
            <a:ext cx="425653" cy="1539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6E6E"/>
                </a:solidFill>
                <a:latin typeface="NanumGothic"/>
                <a:ea typeface="NanumGothic"/>
              </a:rPr>
              <a:t>시공</a:t>
            </a:r>
          </a:p>
        </p:txBody>
      </p:sp>
      <p:sp>
        <p:nvSpPr>
          <p:cNvPr id="88" name="a23"/>
          <p:cNvSpPr txBox="1"/>
          <p:nvPr/>
        </p:nvSpPr>
        <p:spPr>
          <a:xfrm rot="18900000">
            <a:off x="2480652" y="8792146"/>
            <a:ext cx="608533" cy="1539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6E6E"/>
                </a:solidFill>
                <a:latin typeface="NanumGothic"/>
                <a:ea typeface="NanumGothic"/>
              </a:rPr>
              <a:t>전력판매</a:t>
            </a:r>
          </a:p>
        </p:txBody>
      </p:sp>
      <p:sp>
        <p:nvSpPr>
          <p:cNvPr id="89" name="a24"/>
          <p:cNvSpPr txBox="1"/>
          <p:nvPr/>
        </p:nvSpPr>
        <p:spPr>
          <a:xfrm rot="18900000">
            <a:off x="2654388" y="9125902"/>
            <a:ext cx="608533" cy="1539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6B6E6E"/>
                </a:solidFill>
                <a:latin typeface="NanumGothic"/>
                <a:ea typeface="NanumGothic"/>
              </a:rPr>
              <a:t>대금지급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0"/>
          <p:cNvSpPr/>
          <p:nvPr/>
        </p:nvSpPr>
        <p:spPr>
          <a:xfrm>
            <a:off x="886968" y="7228332"/>
            <a:ext cx="1869948" cy="173736"/>
          </a:xfrm>
          <a:prstGeom prst="rect">
            <a:avLst/>
          </a:prstGeom>
          <a:solidFill>
            <a:srgbClr val="E1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able-header"/>
          <p:cNvSpPr/>
          <p:nvPr/>
        </p:nvSpPr>
        <p:spPr>
          <a:xfrm>
            <a:off x="758952" y="1129284"/>
            <a:ext cx="6135624" cy="301752"/>
          </a:xfrm>
          <a:prstGeom prst="rect">
            <a:avLst/>
          </a:prstGeom>
          <a:solidFill>
            <a:srgbClr val="D3DF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map-and-tables" descr="p2_i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1787652"/>
            <a:ext cx="6071616" cy="8046720"/>
          </a:xfrm>
          <a:prstGeom prst="rect">
            <a:avLst/>
          </a:prstGeom>
        </p:spPr>
      </p:pic>
      <p:pic>
        <p:nvPicPr>
          <p:cNvPr id="5" name="section-icon" descr="p2_a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" y="932688"/>
            <a:ext cx="155448" cy="164592"/>
          </a:xfrm>
          <a:prstGeom prst="rect">
            <a:avLst/>
          </a:prstGeom>
        </p:spPr>
      </p:pic>
      <p:cxnSp>
        <p:nvCxnSpPr>
          <p:cNvPr id="6" name="l0"/>
          <p:cNvCxnSpPr/>
          <p:nvPr/>
        </p:nvCxnSpPr>
        <p:spPr>
          <a:xfrm>
            <a:off x="5961888" y="8371332"/>
            <a:ext cx="544068" cy="0"/>
          </a:xfrm>
          <a:prstGeom prst="line">
            <a:avLst/>
          </a:prstGeom>
          <a:ln w="9144">
            <a:solidFill>
              <a:srgbClr val="6565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l1"/>
          <p:cNvCxnSpPr/>
          <p:nvPr/>
        </p:nvCxnSpPr>
        <p:spPr>
          <a:xfrm>
            <a:off x="2839212" y="8958834"/>
            <a:ext cx="320040" cy="0"/>
          </a:xfrm>
          <a:prstGeom prst="line">
            <a:avLst/>
          </a:prstGeom>
          <a:ln w="6350">
            <a:solidFill>
              <a:srgbClr val="DBD9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l2"/>
          <p:cNvCxnSpPr/>
          <p:nvPr/>
        </p:nvCxnSpPr>
        <p:spPr>
          <a:xfrm>
            <a:off x="6435090" y="1357884"/>
            <a:ext cx="0" cy="288036"/>
          </a:xfrm>
          <a:prstGeom prst="line">
            <a:avLst/>
          </a:prstGeom>
          <a:ln w="6350">
            <a:solidFill>
              <a:srgbClr val="9296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l3"/>
          <p:cNvCxnSpPr/>
          <p:nvPr/>
        </p:nvCxnSpPr>
        <p:spPr>
          <a:xfrm>
            <a:off x="6453378" y="5564124"/>
            <a:ext cx="0" cy="324612"/>
          </a:xfrm>
          <a:prstGeom prst="line">
            <a:avLst/>
          </a:prstGeom>
          <a:ln w="6350">
            <a:solidFill>
              <a:srgbClr val="BAB8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l4"/>
          <p:cNvCxnSpPr/>
          <p:nvPr/>
        </p:nvCxnSpPr>
        <p:spPr>
          <a:xfrm>
            <a:off x="5527548" y="7388352"/>
            <a:ext cx="0" cy="841248"/>
          </a:xfrm>
          <a:prstGeom prst="line">
            <a:avLst/>
          </a:prstGeom>
          <a:ln w="9144">
            <a:solidFill>
              <a:srgbClr val="B9BB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5"/>
          <p:cNvCxnSpPr/>
          <p:nvPr/>
        </p:nvCxnSpPr>
        <p:spPr>
          <a:xfrm>
            <a:off x="2260854" y="7411212"/>
            <a:ext cx="0" cy="274320"/>
          </a:xfrm>
          <a:prstGeom prst="line">
            <a:avLst/>
          </a:prstGeom>
          <a:ln w="6350">
            <a:solidFill>
              <a:srgbClr val="BBBB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l6"/>
          <p:cNvCxnSpPr/>
          <p:nvPr/>
        </p:nvCxnSpPr>
        <p:spPr>
          <a:xfrm>
            <a:off x="3115818" y="7406640"/>
            <a:ext cx="0" cy="1298448"/>
          </a:xfrm>
          <a:prstGeom prst="line">
            <a:avLst/>
          </a:prstGeom>
          <a:ln w="13716">
            <a:solidFill>
              <a:srgbClr val="BABB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l7"/>
          <p:cNvCxnSpPr/>
          <p:nvPr/>
        </p:nvCxnSpPr>
        <p:spPr>
          <a:xfrm>
            <a:off x="1191006" y="7420356"/>
            <a:ext cx="0" cy="2350008"/>
          </a:xfrm>
          <a:prstGeom prst="line">
            <a:avLst/>
          </a:prstGeom>
          <a:ln w="22860">
            <a:solidFill>
              <a:srgbClr val="B2B4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l8"/>
          <p:cNvCxnSpPr/>
          <p:nvPr/>
        </p:nvCxnSpPr>
        <p:spPr>
          <a:xfrm>
            <a:off x="4167378" y="7415784"/>
            <a:ext cx="0" cy="521208"/>
          </a:xfrm>
          <a:prstGeom prst="line">
            <a:avLst/>
          </a:prstGeom>
          <a:ln w="6350">
            <a:solidFill>
              <a:srgbClr val="BFC1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9"/>
          <p:cNvCxnSpPr/>
          <p:nvPr/>
        </p:nvCxnSpPr>
        <p:spPr>
          <a:xfrm>
            <a:off x="2260854" y="7690104"/>
            <a:ext cx="0" cy="297180"/>
          </a:xfrm>
          <a:prstGeom prst="line">
            <a:avLst/>
          </a:prstGeom>
          <a:ln w="6350">
            <a:solidFill>
              <a:srgbClr val="BCBD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10"/>
          <p:cNvCxnSpPr/>
          <p:nvPr/>
        </p:nvCxnSpPr>
        <p:spPr>
          <a:xfrm>
            <a:off x="4174236" y="8165592"/>
            <a:ext cx="0" cy="1133856"/>
          </a:xfrm>
          <a:prstGeom prst="line">
            <a:avLst/>
          </a:prstGeom>
          <a:ln w="9144">
            <a:solidFill>
              <a:srgbClr val="AAAE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11"/>
          <p:cNvCxnSpPr/>
          <p:nvPr/>
        </p:nvCxnSpPr>
        <p:spPr>
          <a:xfrm>
            <a:off x="3127248" y="8915400"/>
            <a:ext cx="0" cy="836676"/>
          </a:xfrm>
          <a:prstGeom prst="line">
            <a:avLst/>
          </a:prstGeom>
          <a:ln w="9144">
            <a:solidFill>
              <a:srgbClr val="B3B5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12"/>
          <p:cNvCxnSpPr/>
          <p:nvPr/>
        </p:nvCxnSpPr>
        <p:spPr>
          <a:xfrm>
            <a:off x="2274570" y="9221724"/>
            <a:ext cx="0" cy="539496"/>
          </a:xfrm>
          <a:prstGeom prst="line">
            <a:avLst/>
          </a:prstGeom>
          <a:ln w="6350">
            <a:solidFill>
              <a:srgbClr val="C0C0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13"/>
          <p:cNvCxnSpPr/>
          <p:nvPr/>
        </p:nvCxnSpPr>
        <p:spPr>
          <a:xfrm>
            <a:off x="4181094" y="9304020"/>
            <a:ext cx="0" cy="438912"/>
          </a:xfrm>
          <a:prstGeom prst="line">
            <a:avLst/>
          </a:prstGeom>
          <a:ln w="6350">
            <a:solidFill>
              <a:srgbClr val="AEB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page-bar"/>
          <p:cNvCxnSpPr/>
          <p:nvPr/>
        </p:nvCxnSpPr>
        <p:spPr>
          <a:xfrm>
            <a:off x="1046988" y="10058400"/>
            <a:ext cx="0" cy="137160"/>
          </a:xfrm>
          <a:prstGeom prst="line">
            <a:avLst/>
          </a:prstGeom>
          <a:ln w="9144">
            <a:solidFill>
              <a:srgbClr val="3A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a3"/>
          <p:cNvCxnSpPr/>
          <p:nvPr/>
        </p:nvCxnSpPr>
        <p:spPr>
          <a:xfrm>
            <a:off x="1184148" y="557784"/>
            <a:ext cx="288036" cy="0"/>
          </a:xfrm>
          <a:prstGeom prst="line">
            <a:avLst/>
          </a:prstGeom>
          <a:ln w="9144">
            <a:solidFill>
              <a:srgbClr val="558F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a5"/>
          <p:cNvCxnSpPr/>
          <p:nvPr/>
        </p:nvCxnSpPr>
        <p:spPr>
          <a:xfrm>
            <a:off x="758952" y="1124712"/>
            <a:ext cx="6135624" cy="0"/>
          </a:xfrm>
          <a:prstGeom prst="line">
            <a:avLst/>
          </a:prstGeom>
          <a:ln w="9144">
            <a:solidFill>
              <a:srgbClr val="AEB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a6"/>
          <p:cNvCxnSpPr/>
          <p:nvPr/>
        </p:nvCxnSpPr>
        <p:spPr>
          <a:xfrm>
            <a:off x="763524" y="1659636"/>
            <a:ext cx="6140196" cy="0"/>
          </a:xfrm>
          <a:prstGeom prst="line">
            <a:avLst/>
          </a:prstGeom>
          <a:ln w="9144">
            <a:solidFill>
              <a:srgbClr val="AEB2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a7"/>
          <p:cNvCxnSpPr/>
          <p:nvPr/>
        </p:nvCxnSpPr>
        <p:spPr>
          <a:xfrm>
            <a:off x="1202436" y="1129284"/>
            <a:ext cx="0" cy="525780"/>
          </a:xfrm>
          <a:prstGeom prst="line">
            <a:avLst/>
          </a:prstGeom>
          <a:ln w="6350">
            <a:solidFill>
              <a:srgbClr val="C4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a8"/>
          <p:cNvCxnSpPr/>
          <p:nvPr/>
        </p:nvCxnSpPr>
        <p:spPr>
          <a:xfrm>
            <a:off x="1810512" y="1129284"/>
            <a:ext cx="0" cy="525780"/>
          </a:xfrm>
          <a:prstGeom prst="line">
            <a:avLst/>
          </a:prstGeom>
          <a:ln w="6350">
            <a:solidFill>
              <a:srgbClr val="C4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0"/>
          <p:cNvSpPr txBox="1"/>
          <p:nvPr/>
        </p:nvSpPr>
        <p:spPr>
          <a:xfrm>
            <a:off x="1386001" y="279271"/>
            <a:ext cx="1047906" cy="298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413F48"/>
                </a:solidFill>
                <a:latin typeface="NanumGothic"/>
                <a:ea typeface="NanumGothic"/>
              </a:rPr>
              <a:t>건설계획</a:t>
            </a:r>
          </a:p>
        </p:txBody>
      </p:sp>
      <p:sp>
        <p:nvSpPr>
          <p:cNvPr id="27" name="t1"/>
          <p:cNvSpPr txBox="1"/>
          <p:nvPr/>
        </p:nvSpPr>
        <p:spPr>
          <a:xfrm>
            <a:off x="750467" y="382322"/>
            <a:ext cx="330419" cy="960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70" b="1">
                <a:solidFill>
                  <a:srgbClr val="94BADC"/>
                </a:solidFill>
                <a:latin typeface="NanumGothic"/>
                <a:ea typeface="NanumGothic"/>
              </a:rPr>
              <a:t>Chapter</a:t>
            </a:r>
          </a:p>
        </p:txBody>
      </p:sp>
      <p:sp>
        <p:nvSpPr>
          <p:cNvPr id="28" name="t2"/>
          <p:cNvSpPr txBox="1"/>
          <p:nvPr/>
        </p:nvSpPr>
        <p:spPr>
          <a:xfrm>
            <a:off x="892809" y="919957"/>
            <a:ext cx="1374656" cy="18413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B3F3E"/>
                </a:solidFill>
                <a:latin typeface="NanumGothic"/>
                <a:ea typeface="NanumGothic"/>
              </a:rPr>
              <a:t>전체 사업대상지 현황</a:t>
            </a:r>
          </a:p>
        </p:txBody>
      </p:sp>
      <p:sp>
        <p:nvSpPr>
          <p:cNvPr id="29" name="t3"/>
          <p:cNvSpPr txBox="1"/>
          <p:nvPr/>
        </p:nvSpPr>
        <p:spPr>
          <a:xfrm>
            <a:off x="6507144" y="1157478"/>
            <a:ext cx="406359" cy="1859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60" b="1">
                <a:solidFill>
                  <a:srgbClr val="292D2D"/>
                </a:solidFill>
                <a:latin typeface="NanumGothic"/>
                <a:ea typeface="NanumGothic"/>
              </a:rPr>
              <a:t>비고</a:t>
            </a:r>
          </a:p>
        </p:txBody>
      </p:sp>
      <p:sp>
        <p:nvSpPr>
          <p:cNvPr id="30" name="t4"/>
          <p:cNvSpPr txBox="1"/>
          <p:nvPr/>
        </p:nvSpPr>
        <p:spPr>
          <a:xfrm>
            <a:off x="3805942" y="1173554"/>
            <a:ext cx="944801" cy="1670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2A2D2D"/>
                </a:solidFill>
                <a:latin typeface="NanumGothic"/>
                <a:ea typeface="NanumGothic"/>
              </a:rPr>
              <a:t>권 역(행정소재)</a:t>
            </a:r>
          </a:p>
        </p:txBody>
      </p:sp>
      <p:sp>
        <p:nvSpPr>
          <p:cNvPr id="31" name="t6"/>
          <p:cNvSpPr txBox="1"/>
          <p:nvPr/>
        </p:nvSpPr>
        <p:spPr>
          <a:xfrm>
            <a:off x="2092145" y="1422396"/>
            <a:ext cx="4383649" cy="1514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0">
                <a:solidFill>
                  <a:srgbClr val="3E3F3F"/>
                </a:solidFill>
                <a:latin typeface="NanumGothic"/>
                <a:ea typeface="NanumGothic"/>
              </a:rPr>
              <a:t>경기도, 강원도, 충청북도, 충청남도, 서울특별시, 인천광역시, 대전광역시, 세종특별자치시</a:t>
            </a:r>
          </a:p>
        </p:txBody>
      </p:sp>
      <p:sp>
        <p:nvSpPr>
          <p:cNvPr id="32" name="t7"/>
          <p:cNvSpPr txBox="1"/>
          <p:nvPr/>
        </p:nvSpPr>
        <p:spPr>
          <a:xfrm>
            <a:off x="1027236" y="1478280"/>
            <a:ext cx="136428" cy="1432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2F3132"/>
                </a:solidFill>
                <a:latin typeface="NanumGothic"/>
                <a:ea typeface="NanumGothic"/>
              </a:rPr>
              <a:t>1</a:t>
            </a:r>
          </a:p>
        </p:txBody>
      </p:sp>
      <p:sp>
        <p:nvSpPr>
          <p:cNvPr id="33" name="t9"/>
          <p:cNvSpPr txBox="1"/>
          <p:nvPr/>
        </p:nvSpPr>
        <p:spPr>
          <a:xfrm>
            <a:off x="4187586" y="2720340"/>
            <a:ext cx="415869" cy="11887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20" b="1">
                <a:solidFill>
                  <a:srgbClr val="B3669C"/>
                </a:solidFill>
                <a:latin typeface="NanumGothic"/>
                <a:ea typeface="NanumGothic"/>
              </a:rPr>
              <a:t>중앙선</a:t>
            </a:r>
          </a:p>
        </p:txBody>
      </p:sp>
      <p:sp>
        <p:nvSpPr>
          <p:cNvPr id="34" name="t10"/>
          <p:cNvSpPr txBox="1"/>
          <p:nvPr/>
        </p:nvSpPr>
        <p:spPr>
          <a:xfrm>
            <a:off x="4547461" y="3091596"/>
            <a:ext cx="413339" cy="1480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1">
                <a:solidFill>
                  <a:srgbClr val="4B4D4E"/>
                </a:solidFill>
                <a:latin typeface="NanumGothic"/>
                <a:ea typeface="NanumGothic"/>
              </a:rPr>
              <a:t>강원도</a:t>
            </a:r>
          </a:p>
        </p:txBody>
      </p:sp>
      <p:sp>
        <p:nvSpPr>
          <p:cNvPr id="35" name="t11"/>
          <p:cNvSpPr txBox="1"/>
          <p:nvPr/>
        </p:nvSpPr>
        <p:spPr>
          <a:xfrm>
            <a:off x="3619528" y="3421290"/>
            <a:ext cx="401989" cy="1439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>
                <a:solidFill>
                  <a:srgbClr val="8B6880"/>
                </a:solidFill>
                <a:latin typeface="NanumGothic"/>
                <a:ea typeface="NanumGothic"/>
              </a:rPr>
              <a:t>중부선</a:t>
            </a:r>
          </a:p>
        </p:txBody>
      </p:sp>
      <p:sp>
        <p:nvSpPr>
          <p:cNvPr id="36" name="t12"/>
          <p:cNvSpPr txBox="1"/>
          <p:nvPr/>
        </p:nvSpPr>
        <p:spPr>
          <a:xfrm>
            <a:off x="4073560" y="4010406"/>
            <a:ext cx="394289" cy="112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80" b="1">
                <a:solidFill>
                  <a:srgbClr val="B36DA1"/>
                </a:solidFill>
                <a:latin typeface="NanumGothic"/>
                <a:ea typeface="NanumGothic"/>
              </a:rPr>
              <a:t>영동선</a:t>
            </a:r>
          </a:p>
        </p:txBody>
      </p:sp>
      <p:sp>
        <p:nvSpPr>
          <p:cNvPr id="37" name="t13"/>
          <p:cNvSpPr txBox="1"/>
          <p:nvPr/>
        </p:nvSpPr>
        <p:spPr>
          <a:xfrm>
            <a:off x="3244073" y="4169566"/>
            <a:ext cx="655496" cy="1562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1">
                <a:solidFill>
                  <a:srgbClr val="A87CA0"/>
                </a:solidFill>
                <a:latin typeface="NanumGothic"/>
                <a:ea typeface="NanumGothic"/>
              </a:rPr>
              <a:t>평택제천선</a:t>
            </a:r>
          </a:p>
        </p:txBody>
      </p:sp>
      <p:sp>
        <p:nvSpPr>
          <p:cNvPr id="38" name="t14"/>
          <p:cNvSpPr txBox="1"/>
          <p:nvPr/>
        </p:nvSpPr>
        <p:spPr>
          <a:xfrm>
            <a:off x="1762910" y="4426058"/>
            <a:ext cx="639794" cy="15254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>
                <a:solidFill>
                  <a:srgbClr val="9F7A94"/>
                </a:solidFill>
                <a:latin typeface="NanumGothic"/>
                <a:ea typeface="NanumGothic"/>
              </a:rPr>
              <a:t>당진청주선</a:t>
            </a:r>
          </a:p>
        </p:txBody>
      </p:sp>
      <p:sp>
        <p:nvSpPr>
          <p:cNvPr id="39" name="t15"/>
          <p:cNvSpPr txBox="1"/>
          <p:nvPr/>
        </p:nvSpPr>
        <p:spPr>
          <a:xfrm>
            <a:off x="3345208" y="4637442"/>
            <a:ext cx="401989" cy="1439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>
                <a:solidFill>
                  <a:srgbClr val="B177A7"/>
                </a:solidFill>
                <a:latin typeface="NanumGothic"/>
                <a:ea typeface="NanumGothic"/>
              </a:rPr>
              <a:t>경부선</a:t>
            </a:r>
          </a:p>
        </p:txBody>
      </p:sp>
      <p:sp>
        <p:nvSpPr>
          <p:cNvPr id="40" name="t17"/>
          <p:cNvSpPr txBox="1"/>
          <p:nvPr/>
        </p:nvSpPr>
        <p:spPr>
          <a:xfrm>
            <a:off x="3738194" y="4710020"/>
            <a:ext cx="518771" cy="1485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1">
                <a:solidFill>
                  <a:srgbClr val="49494B"/>
                </a:solidFill>
                <a:latin typeface="NanumGothic"/>
                <a:ea typeface="NanumGothic"/>
              </a:rPr>
              <a:t>충청북도</a:t>
            </a:r>
          </a:p>
        </p:txBody>
      </p:sp>
      <p:sp>
        <p:nvSpPr>
          <p:cNvPr id="41" name="t22"/>
          <p:cNvSpPr txBox="1"/>
          <p:nvPr/>
        </p:nvSpPr>
        <p:spPr>
          <a:xfrm>
            <a:off x="1534531" y="5176479"/>
            <a:ext cx="618859" cy="1476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1">
                <a:solidFill>
                  <a:srgbClr val="A96D9E"/>
                </a:solidFill>
                <a:latin typeface="NanumGothic"/>
                <a:ea typeface="NanumGothic"/>
              </a:rPr>
              <a:t>서산영덕선</a:t>
            </a:r>
          </a:p>
        </p:txBody>
      </p:sp>
      <p:sp>
        <p:nvSpPr>
          <p:cNvPr id="42" name="t23"/>
          <p:cNvSpPr txBox="1"/>
          <p:nvPr/>
        </p:nvSpPr>
        <p:spPr>
          <a:xfrm>
            <a:off x="2301689" y="5283602"/>
            <a:ext cx="588963" cy="1684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3E7A42"/>
                </a:solidFill>
                <a:latin typeface="NanumGothic"/>
                <a:ea typeface="NanumGothic"/>
              </a:rPr>
              <a:t>충청남도</a:t>
            </a:r>
          </a:p>
        </p:txBody>
      </p:sp>
      <p:sp>
        <p:nvSpPr>
          <p:cNvPr id="43" name="t24"/>
          <p:cNvSpPr txBox="1"/>
          <p:nvPr/>
        </p:nvSpPr>
        <p:spPr>
          <a:xfrm>
            <a:off x="5036710" y="5441731"/>
            <a:ext cx="513372" cy="1470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565455"/>
                </a:solidFill>
                <a:latin typeface="NanumGothic"/>
                <a:ea typeface="NanumGothic"/>
              </a:rPr>
              <a:t>경상북도</a:t>
            </a:r>
          </a:p>
        </p:txBody>
      </p:sp>
      <p:sp>
        <p:nvSpPr>
          <p:cNvPr id="44" name="t25"/>
          <p:cNvSpPr txBox="1"/>
          <p:nvPr/>
        </p:nvSpPr>
        <p:spPr>
          <a:xfrm>
            <a:off x="3307567" y="5603748"/>
            <a:ext cx="309615" cy="167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686868"/>
                </a:solidFill>
                <a:latin typeface="NanumGothic"/>
                <a:ea typeface="NanumGothic"/>
              </a:rPr>
              <a:t>대전</a:t>
            </a:r>
          </a:p>
        </p:txBody>
      </p:sp>
      <p:sp>
        <p:nvSpPr>
          <p:cNvPr id="45" name="t26"/>
          <p:cNvSpPr txBox="1"/>
          <p:nvPr/>
        </p:nvSpPr>
        <p:spPr>
          <a:xfrm>
            <a:off x="1525414" y="5624611"/>
            <a:ext cx="513372" cy="14703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AA64A1"/>
                </a:solidFill>
                <a:latin typeface="NanumGothic"/>
                <a:ea typeface="NanumGothic"/>
              </a:rPr>
              <a:t>서해안선</a:t>
            </a:r>
          </a:p>
        </p:txBody>
      </p:sp>
      <p:sp>
        <p:nvSpPr>
          <p:cNvPr id="46" name="t29"/>
          <p:cNvSpPr txBox="1"/>
          <p:nvPr/>
        </p:nvSpPr>
        <p:spPr>
          <a:xfrm>
            <a:off x="5090922" y="6372606"/>
            <a:ext cx="484632" cy="161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65455"/>
                </a:solidFill>
                <a:latin typeface="NanumGothic"/>
                <a:ea typeface="NanumGothic"/>
              </a:rPr>
              <a:t>대구</a:t>
            </a:r>
          </a:p>
        </p:txBody>
      </p:sp>
      <p:sp>
        <p:nvSpPr>
          <p:cNvPr id="47" name="t30"/>
          <p:cNvSpPr txBox="1"/>
          <p:nvPr/>
        </p:nvSpPr>
        <p:spPr>
          <a:xfrm>
            <a:off x="2819222" y="6570824"/>
            <a:ext cx="518771" cy="1485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1">
                <a:solidFill>
                  <a:srgbClr val="5F5F61"/>
                </a:solidFill>
                <a:latin typeface="NanumGothic"/>
                <a:ea typeface="NanumGothic"/>
              </a:rPr>
              <a:t>전라북도</a:t>
            </a:r>
          </a:p>
        </p:txBody>
      </p:sp>
      <p:sp>
        <p:nvSpPr>
          <p:cNvPr id="48" name="t31"/>
          <p:cNvSpPr txBox="1"/>
          <p:nvPr/>
        </p:nvSpPr>
        <p:spPr>
          <a:xfrm>
            <a:off x="4921747" y="6962364"/>
            <a:ext cx="1202565" cy="1617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NanumGothic"/>
                <a:ea typeface="NanumGothic"/>
              </a:rPr>
              <a:t>지역별 •노선별 현황</a:t>
            </a:r>
          </a:p>
        </p:txBody>
      </p:sp>
      <p:sp>
        <p:nvSpPr>
          <p:cNvPr id="49" name="t32"/>
          <p:cNvSpPr txBox="1"/>
          <p:nvPr/>
        </p:nvSpPr>
        <p:spPr>
          <a:xfrm>
            <a:off x="971016" y="7002059"/>
            <a:ext cx="765357" cy="1734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0" b="1">
                <a:solidFill>
                  <a:srgbClr val="FFFFFF"/>
                </a:solidFill>
                <a:latin typeface="NanumGothic"/>
                <a:ea typeface="NanumGothic"/>
              </a:rPr>
              <a:t>위치별 현황</a:t>
            </a:r>
          </a:p>
        </p:txBody>
      </p:sp>
      <p:sp>
        <p:nvSpPr>
          <p:cNvPr id="50" name="t33"/>
          <p:cNvSpPr txBox="1"/>
          <p:nvPr/>
        </p:nvSpPr>
        <p:spPr>
          <a:xfrm>
            <a:off x="6359039" y="7209358"/>
            <a:ext cx="373111" cy="1243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3E4344"/>
                </a:solidFill>
                <a:latin typeface="NanumGothic"/>
                <a:ea typeface="NanumGothic"/>
              </a:rPr>
              <a:t>개소 수</a:t>
            </a:r>
          </a:p>
        </p:txBody>
      </p:sp>
      <p:sp>
        <p:nvSpPr>
          <p:cNvPr id="51" name="t34"/>
          <p:cNvSpPr txBox="1"/>
          <p:nvPr/>
        </p:nvSpPr>
        <p:spPr>
          <a:xfrm>
            <a:off x="5668819" y="7218923"/>
            <a:ext cx="421583" cy="120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36363A"/>
                </a:solidFill>
                <a:latin typeface="NanumGothic"/>
                <a:ea typeface="NanumGothic"/>
              </a:rPr>
              <a:t>설치용량</a:t>
            </a:r>
          </a:p>
        </p:txBody>
      </p:sp>
      <p:sp>
        <p:nvSpPr>
          <p:cNvPr id="52" name="t35"/>
          <p:cNvSpPr txBox="1"/>
          <p:nvPr/>
        </p:nvSpPr>
        <p:spPr>
          <a:xfrm>
            <a:off x="5041727" y="7221474"/>
            <a:ext cx="366308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2E2F32"/>
                </a:solidFill>
                <a:latin typeface="NanumGothic"/>
                <a:ea typeface="NanumGothic"/>
              </a:rPr>
              <a:t>구 분</a:t>
            </a:r>
          </a:p>
        </p:txBody>
      </p:sp>
      <p:sp>
        <p:nvSpPr>
          <p:cNvPr id="53" name="t36"/>
          <p:cNvSpPr txBox="1"/>
          <p:nvPr/>
        </p:nvSpPr>
        <p:spPr>
          <a:xfrm>
            <a:off x="4246858" y="7227876"/>
            <a:ext cx="426982" cy="12251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40" b="1">
                <a:solidFill>
                  <a:srgbClr val="363538"/>
                </a:solidFill>
                <a:latin typeface="NanumGothic"/>
                <a:ea typeface="NanumGothic"/>
              </a:rPr>
              <a:t>설치용량</a:t>
            </a:r>
          </a:p>
        </p:txBody>
      </p:sp>
      <p:sp>
        <p:nvSpPr>
          <p:cNvPr id="54" name="t37"/>
          <p:cNvSpPr txBox="1"/>
          <p:nvPr/>
        </p:nvSpPr>
        <p:spPr>
          <a:xfrm>
            <a:off x="3611419" y="7237211"/>
            <a:ext cx="421583" cy="120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2F3032"/>
                </a:solidFill>
                <a:latin typeface="NanumGothic"/>
                <a:ea typeface="NanumGothic"/>
              </a:rPr>
              <a:t>사업위치</a:t>
            </a:r>
          </a:p>
        </p:txBody>
      </p:sp>
      <p:sp>
        <p:nvSpPr>
          <p:cNvPr id="55" name="t38"/>
          <p:cNvSpPr txBox="1"/>
          <p:nvPr/>
        </p:nvSpPr>
        <p:spPr>
          <a:xfrm>
            <a:off x="2308261" y="7245972"/>
            <a:ext cx="432382" cy="1240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1">
                <a:solidFill>
                  <a:srgbClr val="323536"/>
                </a:solidFill>
                <a:latin typeface="NanumGothic"/>
                <a:ea typeface="NanumGothic"/>
              </a:rPr>
              <a:t>설치용량</a:t>
            </a:r>
          </a:p>
        </p:txBody>
      </p:sp>
      <p:sp>
        <p:nvSpPr>
          <p:cNvPr id="56" name="t39"/>
          <p:cNvSpPr txBox="1"/>
          <p:nvPr/>
        </p:nvSpPr>
        <p:spPr>
          <a:xfrm>
            <a:off x="2838297" y="7245096"/>
            <a:ext cx="299008" cy="13106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2F3132"/>
                </a:solidFill>
                <a:latin typeface="NanumGothic"/>
                <a:ea typeface="NanumGothic"/>
              </a:rPr>
              <a:t>구분</a:t>
            </a:r>
          </a:p>
        </p:txBody>
      </p:sp>
      <p:sp>
        <p:nvSpPr>
          <p:cNvPr id="57" name="t40"/>
          <p:cNvSpPr txBox="1"/>
          <p:nvPr/>
        </p:nvSpPr>
        <p:spPr>
          <a:xfrm>
            <a:off x="1682035" y="7250927"/>
            <a:ext cx="421583" cy="120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2B2E2E"/>
                </a:solidFill>
                <a:latin typeface="NanumGothic"/>
                <a:ea typeface="NanumGothic"/>
              </a:rPr>
              <a:t>사업위치</a:t>
            </a:r>
          </a:p>
        </p:txBody>
      </p:sp>
      <p:sp>
        <p:nvSpPr>
          <p:cNvPr id="58" name="t41"/>
          <p:cNvSpPr txBox="1"/>
          <p:nvPr/>
        </p:nvSpPr>
        <p:spPr>
          <a:xfrm>
            <a:off x="913211" y="7258050"/>
            <a:ext cx="297728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2A2C31"/>
                </a:solidFill>
                <a:latin typeface="NanumGothic"/>
                <a:ea typeface="NanumGothic"/>
              </a:rPr>
              <a:t>구분</a:t>
            </a:r>
          </a:p>
        </p:txBody>
      </p:sp>
      <p:sp>
        <p:nvSpPr>
          <p:cNvPr id="59" name="t42"/>
          <p:cNvSpPr txBox="1"/>
          <p:nvPr/>
        </p:nvSpPr>
        <p:spPr>
          <a:xfrm>
            <a:off x="6446615" y="7421636"/>
            <a:ext cx="277748" cy="1086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616967"/>
                </a:solidFill>
                <a:latin typeface="NanumGothic"/>
                <a:ea typeface="NanumGothic"/>
              </a:rPr>
              <a:t>4개소</a:t>
            </a:r>
          </a:p>
        </p:txBody>
      </p:sp>
      <p:sp>
        <p:nvSpPr>
          <p:cNvPr id="60" name="t43"/>
          <p:cNvSpPr txBox="1"/>
          <p:nvPr/>
        </p:nvSpPr>
        <p:spPr>
          <a:xfrm>
            <a:off x="5075263" y="7431469"/>
            <a:ext cx="288487" cy="1031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" b="1">
                <a:solidFill>
                  <a:srgbClr val="4D4E4F"/>
                </a:solidFill>
                <a:latin typeface="NanumGothic"/>
                <a:ea typeface="NanumGothic"/>
              </a:rPr>
              <a:t>경기권</a:t>
            </a:r>
          </a:p>
        </p:txBody>
      </p:sp>
      <p:sp>
        <p:nvSpPr>
          <p:cNvPr id="61" name="t44"/>
          <p:cNvSpPr txBox="1"/>
          <p:nvPr/>
        </p:nvSpPr>
        <p:spPr>
          <a:xfrm>
            <a:off x="5660647" y="7436509"/>
            <a:ext cx="492207" cy="993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90" b="0">
                <a:solidFill>
                  <a:srgbClr val="676C6D"/>
                </a:solidFill>
                <a:latin typeface="NanumGothic"/>
                <a:ea typeface="NanumGothic"/>
              </a:rPr>
              <a:t>2,071.20kW</a:t>
            </a:r>
          </a:p>
        </p:txBody>
      </p:sp>
      <p:sp>
        <p:nvSpPr>
          <p:cNvPr id="62" name="t46"/>
          <p:cNvSpPr txBox="1"/>
          <p:nvPr/>
        </p:nvSpPr>
        <p:spPr>
          <a:xfrm>
            <a:off x="1220720" y="7453365"/>
            <a:ext cx="1079039" cy="11083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0" b="0">
                <a:solidFill>
                  <a:srgbClr val="5A5C5B"/>
                </a:solidFill>
                <a:latin typeface="NanumGothic"/>
                <a:ea typeface="NanumGothic"/>
              </a:rPr>
              <a:t>평택제천선 (19.74~19.84k)</a:t>
            </a:r>
          </a:p>
        </p:txBody>
      </p:sp>
      <p:sp>
        <p:nvSpPr>
          <p:cNvPr id="63" name="t47"/>
          <p:cNvSpPr txBox="1"/>
          <p:nvPr/>
        </p:nvSpPr>
        <p:spPr>
          <a:xfrm>
            <a:off x="3168446" y="7453517"/>
            <a:ext cx="991514" cy="1096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26362"/>
                </a:solidFill>
                <a:latin typeface="NanumGothic"/>
                <a:ea typeface="NanumGothic"/>
              </a:rPr>
              <a:t>서해안선 (251.2~251.7k)</a:t>
            </a:r>
          </a:p>
        </p:txBody>
      </p:sp>
      <p:sp>
        <p:nvSpPr>
          <p:cNvPr id="64" name="t48"/>
          <p:cNvSpPr txBox="1"/>
          <p:nvPr/>
        </p:nvSpPr>
        <p:spPr>
          <a:xfrm>
            <a:off x="2345881" y="7463757"/>
            <a:ext cx="433566" cy="1008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>
                <a:solidFill>
                  <a:srgbClr val="636563"/>
                </a:solidFill>
                <a:latin typeface="NanumGothic"/>
                <a:ea typeface="NanumGothic"/>
              </a:rPr>
              <a:t>380.40kW</a:t>
            </a:r>
          </a:p>
        </p:txBody>
      </p:sp>
      <p:sp>
        <p:nvSpPr>
          <p:cNvPr id="65" name="t49"/>
          <p:cNvSpPr txBox="1"/>
          <p:nvPr/>
        </p:nvSpPr>
        <p:spPr>
          <a:xfrm>
            <a:off x="4284462" y="7463904"/>
            <a:ext cx="428359" cy="996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90" b="0">
                <a:solidFill>
                  <a:srgbClr val="5E6161"/>
                </a:solidFill>
                <a:latin typeface="NanumGothic"/>
                <a:ea typeface="NanumGothic"/>
              </a:rPr>
              <a:t>999.60kW</a:t>
            </a:r>
          </a:p>
        </p:txBody>
      </p:sp>
      <p:sp>
        <p:nvSpPr>
          <p:cNvPr id="66" name="t50"/>
          <p:cNvSpPr txBox="1"/>
          <p:nvPr/>
        </p:nvSpPr>
        <p:spPr>
          <a:xfrm>
            <a:off x="6414906" y="7637341"/>
            <a:ext cx="306206" cy="1020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10" b="0">
                <a:solidFill>
                  <a:srgbClr val="656A6A"/>
                </a:solidFill>
                <a:latin typeface="NanumGothic"/>
                <a:ea typeface="NanumGothic"/>
              </a:rPr>
              <a:t>11개소</a:t>
            </a:r>
          </a:p>
        </p:txBody>
      </p:sp>
      <p:sp>
        <p:nvSpPr>
          <p:cNvPr id="67" name="t51"/>
          <p:cNvSpPr txBox="1"/>
          <p:nvPr/>
        </p:nvSpPr>
        <p:spPr>
          <a:xfrm>
            <a:off x="4978989" y="7645626"/>
            <a:ext cx="483655" cy="10893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1">
                <a:solidFill>
                  <a:srgbClr val="434546"/>
                </a:solidFill>
                <a:latin typeface="NanumGothic"/>
                <a:ea typeface="NanumGothic"/>
              </a:rPr>
              <a:t>충남/충북권</a:t>
            </a:r>
          </a:p>
        </p:txBody>
      </p:sp>
      <p:sp>
        <p:nvSpPr>
          <p:cNvPr id="68" name="t52"/>
          <p:cNvSpPr txBox="1"/>
          <p:nvPr/>
        </p:nvSpPr>
        <p:spPr>
          <a:xfrm>
            <a:off x="5660603" y="7646697"/>
            <a:ext cx="497314" cy="10036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>
                <a:solidFill>
                  <a:srgbClr val="65696A"/>
                </a:solidFill>
                <a:latin typeface="NanumGothic"/>
                <a:ea typeface="NanumGothic"/>
              </a:rPr>
              <a:t>7,746.00kW</a:t>
            </a:r>
          </a:p>
        </p:txBody>
      </p:sp>
      <p:sp>
        <p:nvSpPr>
          <p:cNvPr id="69" name="t53"/>
          <p:cNvSpPr txBox="1"/>
          <p:nvPr/>
        </p:nvSpPr>
        <p:spPr>
          <a:xfrm>
            <a:off x="1220703" y="7691062"/>
            <a:ext cx="1033522" cy="1112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0" b="0">
                <a:solidFill>
                  <a:srgbClr val="646666"/>
                </a:solidFill>
                <a:latin typeface="NanumGothic"/>
                <a:ea typeface="NanumGothic"/>
              </a:rPr>
              <a:t>평택제천선 (13.45~13.6k)</a:t>
            </a:r>
          </a:p>
        </p:txBody>
      </p:sp>
      <p:sp>
        <p:nvSpPr>
          <p:cNvPr id="70" name="t54"/>
          <p:cNvSpPr txBox="1"/>
          <p:nvPr/>
        </p:nvSpPr>
        <p:spPr>
          <a:xfrm>
            <a:off x="2345881" y="7701501"/>
            <a:ext cx="433566" cy="1008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>
                <a:solidFill>
                  <a:srgbClr val="5F6161"/>
                </a:solidFill>
                <a:latin typeface="NanumGothic"/>
                <a:ea typeface="NanumGothic"/>
              </a:rPr>
              <a:t>272.40kW</a:t>
            </a:r>
          </a:p>
        </p:txBody>
      </p:sp>
      <p:sp>
        <p:nvSpPr>
          <p:cNvPr id="71" name="t55"/>
          <p:cNvSpPr txBox="1"/>
          <p:nvPr/>
        </p:nvSpPr>
        <p:spPr>
          <a:xfrm>
            <a:off x="3173071" y="7714266"/>
            <a:ext cx="954308" cy="108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626565"/>
                </a:solidFill>
                <a:latin typeface="NanumGothic"/>
                <a:ea typeface="NanumGothic"/>
              </a:rPr>
              <a:t>경부선 (305.2~305.44k)</a:t>
            </a:r>
          </a:p>
        </p:txBody>
      </p:sp>
      <p:sp>
        <p:nvSpPr>
          <p:cNvPr id="72" name="t56"/>
          <p:cNvSpPr txBox="1"/>
          <p:nvPr/>
        </p:nvSpPr>
        <p:spPr>
          <a:xfrm>
            <a:off x="4284409" y="7724361"/>
            <a:ext cx="433566" cy="1008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>
                <a:solidFill>
                  <a:srgbClr val="606363"/>
                </a:solidFill>
                <a:latin typeface="NanumGothic"/>
                <a:ea typeface="NanumGothic"/>
              </a:rPr>
              <a:t>678.60kW</a:t>
            </a:r>
          </a:p>
        </p:txBody>
      </p:sp>
      <p:sp>
        <p:nvSpPr>
          <p:cNvPr id="73" name="t57"/>
          <p:cNvSpPr txBox="1"/>
          <p:nvPr/>
        </p:nvSpPr>
        <p:spPr>
          <a:xfrm>
            <a:off x="6451291" y="7847121"/>
            <a:ext cx="271927" cy="106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626767"/>
                </a:solidFill>
                <a:latin typeface="NanumGothic"/>
                <a:ea typeface="NanumGothic"/>
              </a:rPr>
              <a:t>3개소</a:t>
            </a:r>
          </a:p>
        </p:txBody>
      </p:sp>
      <p:sp>
        <p:nvSpPr>
          <p:cNvPr id="74" name="t58"/>
          <p:cNvSpPr txBox="1"/>
          <p:nvPr/>
        </p:nvSpPr>
        <p:spPr>
          <a:xfrm>
            <a:off x="5075171" y="7856410"/>
            <a:ext cx="294162" cy="1051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30" b="1">
                <a:solidFill>
                  <a:srgbClr val="4F5355"/>
                </a:solidFill>
                <a:latin typeface="NanumGothic"/>
                <a:ea typeface="NanumGothic"/>
              </a:rPr>
              <a:t>강원권</a:t>
            </a:r>
          </a:p>
        </p:txBody>
      </p:sp>
      <p:sp>
        <p:nvSpPr>
          <p:cNvPr id="75" name="t59"/>
          <p:cNvSpPr txBox="1"/>
          <p:nvPr/>
        </p:nvSpPr>
        <p:spPr>
          <a:xfrm>
            <a:off x="5660603" y="7861581"/>
            <a:ext cx="497314" cy="10036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>
                <a:solidFill>
                  <a:srgbClr val="606566"/>
                </a:solidFill>
                <a:latin typeface="NanumGothic"/>
                <a:ea typeface="NanumGothic"/>
              </a:rPr>
              <a:t>2,490.00kW</a:t>
            </a:r>
          </a:p>
        </p:txBody>
      </p:sp>
      <p:sp>
        <p:nvSpPr>
          <p:cNvPr id="76" name="t60"/>
          <p:cNvSpPr txBox="1"/>
          <p:nvPr/>
        </p:nvSpPr>
        <p:spPr>
          <a:xfrm>
            <a:off x="1225361" y="7929046"/>
            <a:ext cx="913610" cy="1092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606362"/>
                </a:solidFill>
                <a:latin typeface="NanumGothic"/>
                <a:ea typeface="NanumGothic"/>
              </a:rPr>
              <a:t>영동선 (91.48~91.81k)</a:t>
            </a:r>
          </a:p>
        </p:txBody>
      </p:sp>
      <p:sp>
        <p:nvSpPr>
          <p:cNvPr id="77" name="t61"/>
          <p:cNvSpPr txBox="1"/>
          <p:nvPr/>
        </p:nvSpPr>
        <p:spPr>
          <a:xfrm>
            <a:off x="2350506" y="7934820"/>
            <a:ext cx="428359" cy="996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90" b="0">
                <a:solidFill>
                  <a:srgbClr val="646665"/>
                </a:solidFill>
                <a:latin typeface="NanumGothic"/>
                <a:ea typeface="NanumGothic"/>
              </a:rPr>
              <a:t>984.60kW</a:t>
            </a:r>
          </a:p>
        </p:txBody>
      </p:sp>
      <p:sp>
        <p:nvSpPr>
          <p:cNvPr id="78" name="t62"/>
          <p:cNvSpPr txBox="1"/>
          <p:nvPr/>
        </p:nvSpPr>
        <p:spPr>
          <a:xfrm>
            <a:off x="3172772" y="7946608"/>
            <a:ext cx="1067624" cy="1150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656767"/>
                </a:solidFill>
                <a:latin typeface="NanumGothic"/>
                <a:ea typeface="NanumGothic"/>
              </a:rPr>
              <a:t>경부선 (306.28~306.84k)</a:t>
            </a:r>
          </a:p>
        </p:txBody>
      </p:sp>
      <p:sp>
        <p:nvSpPr>
          <p:cNvPr id="79" name="t63"/>
          <p:cNvSpPr txBox="1"/>
          <p:nvPr/>
        </p:nvSpPr>
        <p:spPr>
          <a:xfrm>
            <a:off x="4284409" y="7984965"/>
            <a:ext cx="433566" cy="1008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>
                <a:solidFill>
                  <a:srgbClr val="5D6160"/>
                </a:solidFill>
                <a:latin typeface="NanumGothic"/>
                <a:ea typeface="NanumGothic"/>
              </a:rPr>
              <a:t>684.60kW</a:t>
            </a:r>
          </a:p>
        </p:txBody>
      </p:sp>
      <p:sp>
        <p:nvSpPr>
          <p:cNvPr id="80" name="t64"/>
          <p:cNvSpPr txBox="1"/>
          <p:nvPr/>
        </p:nvSpPr>
        <p:spPr>
          <a:xfrm>
            <a:off x="6414823" y="8062305"/>
            <a:ext cx="311781" cy="1039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" b="0">
                <a:solidFill>
                  <a:srgbClr val="696D6E"/>
                </a:solidFill>
                <a:latin typeface="NanumGothic"/>
                <a:ea typeface="NanumGothic"/>
              </a:rPr>
              <a:t>18개소</a:t>
            </a:r>
          </a:p>
        </p:txBody>
      </p:sp>
      <p:sp>
        <p:nvSpPr>
          <p:cNvPr id="81" name="t65"/>
          <p:cNvSpPr txBox="1"/>
          <p:nvPr/>
        </p:nvSpPr>
        <p:spPr>
          <a:xfrm>
            <a:off x="5624053" y="8071967"/>
            <a:ext cx="538143" cy="997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90" b="0">
                <a:solidFill>
                  <a:srgbClr val="636668"/>
                </a:solidFill>
                <a:latin typeface="NanumGothic"/>
                <a:ea typeface="NanumGothic"/>
              </a:rPr>
              <a:t>12,307.20kW</a:t>
            </a:r>
          </a:p>
        </p:txBody>
      </p:sp>
      <p:sp>
        <p:nvSpPr>
          <p:cNvPr id="82" name="t66"/>
          <p:cNvSpPr txBox="1"/>
          <p:nvPr/>
        </p:nvSpPr>
        <p:spPr>
          <a:xfrm>
            <a:off x="1225275" y="8161978"/>
            <a:ext cx="1033522" cy="1112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0" b="0">
                <a:solidFill>
                  <a:srgbClr val="5D5F5F"/>
                </a:solidFill>
                <a:latin typeface="NanumGothic"/>
                <a:ea typeface="NanumGothic"/>
              </a:rPr>
              <a:t>당진청주선 (39.0~39.12k)</a:t>
            </a:r>
          </a:p>
        </p:txBody>
      </p:sp>
      <p:sp>
        <p:nvSpPr>
          <p:cNvPr id="83" name="t67"/>
          <p:cNvSpPr txBox="1"/>
          <p:nvPr/>
        </p:nvSpPr>
        <p:spPr>
          <a:xfrm>
            <a:off x="2350453" y="8172417"/>
            <a:ext cx="433566" cy="1008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>
                <a:solidFill>
                  <a:srgbClr val="5F6261"/>
                </a:solidFill>
                <a:latin typeface="NanumGothic"/>
                <a:ea typeface="NanumGothic"/>
              </a:rPr>
              <a:t>541.20kW</a:t>
            </a:r>
          </a:p>
        </p:txBody>
      </p:sp>
      <p:sp>
        <p:nvSpPr>
          <p:cNvPr id="84" name="t68"/>
          <p:cNvSpPr txBox="1"/>
          <p:nvPr/>
        </p:nvSpPr>
        <p:spPr>
          <a:xfrm>
            <a:off x="3177654" y="8235506"/>
            <a:ext cx="999891" cy="1081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606463"/>
                </a:solidFill>
                <a:latin typeface="NanumGothic"/>
                <a:ea typeface="NanumGothic"/>
              </a:rPr>
              <a:t>경부선 (306.84~307.13k)</a:t>
            </a:r>
          </a:p>
        </p:txBody>
      </p:sp>
      <p:sp>
        <p:nvSpPr>
          <p:cNvPr id="85" name="t69"/>
          <p:cNvSpPr txBox="1"/>
          <p:nvPr/>
        </p:nvSpPr>
        <p:spPr>
          <a:xfrm>
            <a:off x="4288981" y="8245569"/>
            <a:ext cx="433566" cy="1008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>
                <a:solidFill>
                  <a:srgbClr val="595B5C"/>
                </a:solidFill>
                <a:latin typeface="NanumGothic"/>
                <a:ea typeface="NanumGothic"/>
              </a:rPr>
              <a:t>499.80kW</a:t>
            </a:r>
          </a:p>
        </p:txBody>
      </p:sp>
      <p:sp>
        <p:nvSpPr>
          <p:cNvPr id="86" name="t70"/>
          <p:cNvSpPr txBox="1"/>
          <p:nvPr/>
        </p:nvSpPr>
        <p:spPr>
          <a:xfrm>
            <a:off x="6493033" y="8247234"/>
            <a:ext cx="453467" cy="2291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550" b="0">
                <a:solidFill>
                  <a:srgbClr val="585C5D"/>
                </a:solidFill>
                <a:latin typeface="NanumGothic"/>
                <a:ea typeface="NanumGothic"/>
              </a:rPr>
              <a:t>중부선</a:t>
            </a:r>
          </a:p>
          <a:p>
            <a:pPr algn="l">
              <a:lnSpc>
                <a:spcPct val="131000"/>
              </a:lnSpc>
            </a:pPr>
            <a:r>
              <a:rPr sz="550" b="0">
                <a:solidFill>
                  <a:srgbClr val="585C5D"/>
                </a:solidFill>
                <a:latin typeface="NanumGothic"/>
                <a:ea typeface="NanumGothic"/>
              </a:rPr>
              <a:t>433.80kW</a:t>
            </a:r>
          </a:p>
        </p:txBody>
      </p:sp>
      <p:sp>
        <p:nvSpPr>
          <p:cNvPr id="87" name="t71"/>
          <p:cNvSpPr txBox="1"/>
          <p:nvPr/>
        </p:nvSpPr>
        <p:spPr>
          <a:xfrm>
            <a:off x="4887776" y="8283637"/>
            <a:ext cx="514421" cy="2460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620" b="0">
                <a:solidFill>
                  <a:srgbClr val="515556"/>
                </a:solidFill>
                <a:latin typeface="NanumGothic"/>
                <a:ea typeface="NanumGothic"/>
              </a:rPr>
              <a:t>평택 제천선</a:t>
            </a:r>
          </a:p>
          <a:p>
            <a:pPr algn="l">
              <a:lnSpc>
                <a:spcPct val="125000"/>
              </a:lnSpc>
            </a:pPr>
            <a:r>
              <a:rPr sz="620" b="0">
                <a:solidFill>
                  <a:srgbClr val="515556"/>
                </a:solidFill>
                <a:latin typeface="NanumGothic"/>
                <a:ea typeface="NanumGothic"/>
              </a:rPr>
              <a:t>652.80kW</a:t>
            </a:r>
          </a:p>
        </p:txBody>
      </p:sp>
      <p:sp>
        <p:nvSpPr>
          <p:cNvPr id="88" name="t72"/>
          <p:cNvSpPr txBox="1"/>
          <p:nvPr/>
        </p:nvSpPr>
        <p:spPr>
          <a:xfrm>
            <a:off x="1229847" y="8395150"/>
            <a:ext cx="1033522" cy="1112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0" b="0">
                <a:solidFill>
                  <a:srgbClr val="565858"/>
                </a:solidFill>
                <a:latin typeface="NanumGothic"/>
                <a:ea typeface="NanumGothic"/>
              </a:rPr>
              <a:t>당진청주선 (40.44~40.7k)</a:t>
            </a:r>
          </a:p>
        </p:txBody>
      </p:sp>
      <p:sp>
        <p:nvSpPr>
          <p:cNvPr id="89" name="t73"/>
          <p:cNvSpPr txBox="1"/>
          <p:nvPr/>
        </p:nvSpPr>
        <p:spPr>
          <a:xfrm>
            <a:off x="2350453" y="8405589"/>
            <a:ext cx="433566" cy="1008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>
                <a:solidFill>
                  <a:srgbClr val="5D5F5E"/>
                </a:solidFill>
                <a:latin typeface="NanumGothic"/>
                <a:ea typeface="NanumGothic"/>
              </a:rPr>
              <a:t>325.80kW</a:t>
            </a:r>
          </a:p>
        </p:txBody>
      </p:sp>
      <p:sp>
        <p:nvSpPr>
          <p:cNvPr id="90" name="t75"/>
          <p:cNvSpPr txBox="1"/>
          <p:nvPr/>
        </p:nvSpPr>
        <p:spPr>
          <a:xfrm>
            <a:off x="3173060" y="8496049"/>
            <a:ext cx="1004729" cy="1086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5C5F5F"/>
                </a:solidFill>
                <a:latin typeface="NanumGothic"/>
                <a:ea typeface="NanumGothic"/>
              </a:rPr>
              <a:t>중앙선 (386.35~386.65k)</a:t>
            </a:r>
          </a:p>
        </p:txBody>
      </p:sp>
      <p:sp>
        <p:nvSpPr>
          <p:cNvPr id="91" name="t76"/>
          <p:cNvSpPr txBox="1"/>
          <p:nvPr/>
        </p:nvSpPr>
        <p:spPr>
          <a:xfrm>
            <a:off x="4288981" y="8506173"/>
            <a:ext cx="433566" cy="1008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>
                <a:solidFill>
                  <a:srgbClr val="656968"/>
                </a:solidFill>
                <a:latin typeface="NanumGothic"/>
                <a:ea typeface="NanumGothic"/>
              </a:rPr>
              <a:t>679.20kW</a:t>
            </a:r>
          </a:p>
        </p:txBody>
      </p:sp>
      <p:sp>
        <p:nvSpPr>
          <p:cNvPr id="92" name="t77"/>
          <p:cNvSpPr txBox="1"/>
          <p:nvPr/>
        </p:nvSpPr>
        <p:spPr>
          <a:xfrm>
            <a:off x="1229847" y="8632894"/>
            <a:ext cx="1033522" cy="1112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0" b="0">
                <a:solidFill>
                  <a:srgbClr val="5D6060"/>
                </a:solidFill>
                <a:latin typeface="NanumGothic"/>
                <a:ea typeface="NanumGothic"/>
              </a:rPr>
              <a:t>당진청주선 (43.3~43.47k)</a:t>
            </a:r>
          </a:p>
        </p:txBody>
      </p:sp>
      <p:sp>
        <p:nvSpPr>
          <p:cNvPr id="93" name="t78"/>
          <p:cNvSpPr txBox="1"/>
          <p:nvPr/>
        </p:nvSpPr>
        <p:spPr>
          <a:xfrm>
            <a:off x="2355025" y="8638761"/>
            <a:ext cx="433566" cy="1008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>
                <a:solidFill>
                  <a:srgbClr val="616362"/>
                </a:solidFill>
                <a:latin typeface="NanumGothic"/>
                <a:ea typeface="NanumGothic"/>
              </a:rPr>
              <a:t>964.20kW</a:t>
            </a:r>
          </a:p>
        </p:txBody>
      </p:sp>
      <p:sp>
        <p:nvSpPr>
          <p:cNvPr id="94" name="t79"/>
          <p:cNvSpPr txBox="1"/>
          <p:nvPr/>
        </p:nvSpPr>
        <p:spPr>
          <a:xfrm>
            <a:off x="6433509" y="8652614"/>
            <a:ext cx="528556" cy="2016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560" b="0">
                <a:solidFill>
                  <a:srgbClr val="595B5C"/>
                </a:solidFill>
                <a:latin typeface="NanumGothic"/>
                <a:ea typeface="NanumGothic"/>
              </a:rPr>
              <a:t>서산 영덕선</a:t>
            </a:r>
          </a:p>
          <a:p>
            <a:pPr algn="l">
              <a:lnSpc>
                <a:spcPct val="112000"/>
              </a:lnSpc>
            </a:pPr>
            <a:r>
              <a:rPr sz="560" b="0">
                <a:solidFill>
                  <a:srgbClr val="595B5C"/>
                </a:solidFill>
                <a:latin typeface="NanumGothic"/>
                <a:ea typeface="NanumGothic"/>
              </a:rPr>
              <a:t>3,052.20kW</a:t>
            </a:r>
          </a:p>
        </p:txBody>
      </p:sp>
      <p:sp>
        <p:nvSpPr>
          <p:cNvPr id="95" name="t80"/>
          <p:cNvSpPr txBox="1"/>
          <p:nvPr/>
        </p:nvSpPr>
        <p:spPr>
          <a:xfrm>
            <a:off x="4206895" y="8767360"/>
            <a:ext cx="517917" cy="961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70" b="1">
                <a:solidFill>
                  <a:srgbClr val="404143"/>
                </a:solidFill>
                <a:latin typeface="NanumGothic"/>
                <a:ea typeface="NanumGothic"/>
              </a:rPr>
              <a:t>10.062.60kW</a:t>
            </a:r>
          </a:p>
        </p:txBody>
      </p:sp>
      <p:sp>
        <p:nvSpPr>
          <p:cNvPr id="96" name="t81"/>
          <p:cNvSpPr txBox="1"/>
          <p:nvPr/>
        </p:nvSpPr>
        <p:spPr>
          <a:xfrm>
            <a:off x="4892644" y="8776362"/>
            <a:ext cx="417946" cy="9731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" b="1">
                <a:solidFill>
                  <a:srgbClr val="565859"/>
                </a:solidFill>
                <a:latin typeface="NanumGothic"/>
                <a:ea typeface="NanumGothic"/>
              </a:rPr>
              <a:t>984.60kW</a:t>
            </a:r>
          </a:p>
        </p:txBody>
      </p:sp>
      <p:sp>
        <p:nvSpPr>
          <p:cNvPr id="97" name="t83"/>
          <p:cNvSpPr txBox="1"/>
          <p:nvPr/>
        </p:nvSpPr>
        <p:spPr>
          <a:xfrm>
            <a:off x="1229864" y="8866113"/>
            <a:ext cx="1079039" cy="11083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0" b="0">
                <a:solidFill>
                  <a:srgbClr val="5A5C5C"/>
                </a:solidFill>
                <a:latin typeface="NanumGothic"/>
                <a:ea typeface="NanumGothic"/>
              </a:rPr>
              <a:t>서산영덕선 (51.07~51.21k)</a:t>
            </a:r>
          </a:p>
        </p:txBody>
      </p:sp>
      <p:sp>
        <p:nvSpPr>
          <p:cNvPr id="98" name="t84"/>
          <p:cNvSpPr txBox="1"/>
          <p:nvPr/>
        </p:nvSpPr>
        <p:spPr>
          <a:xfrm>
            <a:off x="2355025" y="8871933"/>
            <a:ext cx="433566" cy="1008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>
                <a:solidFill>
                  <a:srgbClr val="5F6261"/>
                </a:solidFill>
                <a:latin typeface="NanumGothic"/>
                <a:ea typeface="NanumGothic"/>
              </a:rPr>
              <a:t>999.60kW</a:t>
            </a:r>
          </a:p>
        </p:txBody>
      </p:sp>
      <p:sp>
        <p:nvSpPr>
          <p:cNvPr id="99" name="t85"/>
          <p:cNvSpPr txBox="1"/>
          <p:nvPr/>
        </p:nvSpPr>
        <p:spPr>
          <a:xfrm>
            <a:off x="4892833" y="8942132"/>
            <a:ext cx="453467" cy="2476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550" b="0">
                <a:solidFill>
                  <a:srgbClr val="5C5F5F"/>
                </a:solidFill>
                <a:latin typeface="NanumGothic"/>
                <a:ea typeface="NanumGothic"/>
              </a:rPr>
              <a:t>서해안선</a:t>
            </a:r>
          </a:p>
          <a:p>
            <a:pPr algn="l">
              <a:lnSpc>
                <a:spcPct val="142000"/>
              </a:lnSpc>
            </a:pPr>
            <a:r>
              <a:rPr sz="550" b="0">
                <a:solidFill>
                  <a:srgbClr val="5C5F5F"/>
                </a:solidFill>
                <a:latin typeface="NanumGothic"/>
                <a:ea typeface="NanumGothic"/>
              </a:rPr>
              <a:t>999.60kW</a:t>
            </a:r>
          </a:p>
        </p:txBody>
      </p:sp>
      <p:sp>
        <p:nvSpPr>
          <p:cNvPr id="100" name="t86"/>
          <p:cNvSpPr txBox="1"/>
          <p:nvPr/>
        </p:nvSpPr>
        <p:spPr>
          <a:xfrm>
            <a:off x="3177632" y="9017257"/>
            <a:ext cx="1004729" cy="1086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606061"/>
                </a:solidFill>
                <a:latin typeface="NanumGothic"/>
                <a:ea typeface="NanumGothic"/>
              </a:rPr>
              <a:t>중부선 (321.46~321.77k)</a:t>
            </a:r>
          </a:p>
        </p:txBody>
      </p:sp>
      <p:sp>
        <p:nvSpPr>
          <p:cNvPr id="101" name="t87"/>
          <p:cNvSpPr txBox="1"/>
          <p:nvPr/>
        </p:nvSpPr>
        <p:spPr>
          <a:xfrm>
            <a:off x="4293553" y="9027381"/>
            <a:ext cx="433566" cy="1008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>
                <a:solidFill>
                  <a:srgbClr val="5F6463"/>
                </a:solidFill>
                <a:latin typeface="NanumGothic"/>
                <a:ea typeface="NanumGothic"/>
              </a:rPr>
              <a:t>433.80kW</a:t>
            </a:r>
          </a:p>
        </p:txBody>
      </p:sp>
      <p:sp>
        <p:nvSpPr>
          <p:cNvPr id="102" name="t88"/>
          <p:cNvSpPr txBox="1"/>
          <p:nvPr/>
        </p:nvSpPr>
        <p:spPr>
          <a:xfrm>
            <a:off x="1229843" y="9103798"/>
            <a:ext cx="1083862" cy="1112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0" b="0">
                <a:solidFill>
                  <a:srgbClr val="585A59"/>
                </a:solidFill>
                <a:latin typeface="NanumGothic"/>
                <a:ea typeface="NanumGothic"/>
              </a:rPr>
              <a:t>서산영덕선 (53.76~53.85k)</a:t>
            </a:r>
          </a:p>
        </p:txBody>
      </p:sp>
      <p:sp>
        <p:nvSpPr>
          <p:cNvPr id="103" name="t89"/>
          <p:cNvSpPr txBox="1"/>
          <p:nvPr/>
        </p:nvSpPr>
        <p:spPr>
          <a:xfrm>
            <a:off x="2355025" y="9109677"/>
            <a:ext cx="433566" cy="1008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>
                <a:solidFill>
                  <a:srgbClr val="606262"/>
                </a:solidFill>
                <a:latin typeface="NanumGothic"/>
                <a:ea typeface="NanumGothic"/>
              </a:rPr>
              <a:t>448.20kW</a:t>
            </a:r>
          </a:p>
        </p:txBody>
      </p:sp>
      <p:sp>
        <p:nvSpPr>
          <p:cNvPr id="104" name="t93"/>
          <p:cNvSpPr txBox="1"/>
          <p:nvPr/>
        </p:nvSpPr>
        <p:spPr>
          <a:xfrm>
            <a:off x="3177610" y="9277799"/>
            <a:ext cx="1009567" cy="1091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60" b="0">
                <a:solidFill>
                  <a:srgbClr val="5C5E5E"/>
                </a:solidFill>
                <a:latin typeface="NanumGothic"/>
                <a:ea typeface="NanumGothic"/>
              </a:rPr>
              <a:t>중앙선 (337.71~337.90k)</a:t>
            </a:r>
          </a:p>
        </p:txBody>
      </p:sp>
      <p:sp>
        <p:nvSpPr>
          <p:cNvPr id="105" name="t94"/>
          <p:cNvSpPr txBox="1"/>
          <p:nvPr/>
        </p:nvSpPr>
        <p:spPr>
          <a:xfrm>
            <a:off x="4298125" y="9287985"/>
            <a:ext cx="433566" cy="1008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>
                <a:solidFill>
                  <a:srgbClr val="626364"/>
                </a:solidFill>
                <a:latin typeface="NanumGothic"/>
                <a:ea typeface="NanumGothic"/>
              </a:rPr>
              <a:t>811.20kW</a:t>
            </a:r>
          </a:p>
        </p:txBody>
      </p:sp>
      <p:sp>
        <p:nvSpPr>
          <p:cNvPr id="106" name="t96"/>
          <p:cNvSpPr txBox="1"/>
          <p:nvPr/>
        </p:nvSpPr>
        <p:spPr>
          <a:xfrm>
            <a:off x="1234436" y="9337029"/>
            <a:ext cx="1079039" cy="11083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0" b="0">
                <a:solidFill>
                  <a:srgbClr val="595B5A"/>
                </a:solidFill>
                <a:latin typeface="NanumGothic"/>
                <a:ea typeface="NanumGothic"/>
              </a:rPr>
              <a:t>서산영덕선 (14.67~15.23k)</a:t>
            </a:r>
          </a:p>
        </p:txBody>
      </p:sp>
      <p:sp>
        <p:nvSpPr>
          <p:cNvPr id="107" name="t97"/>
          <p:cNvSpPr txBox="1"/>
          <p:nvPr/>
        </p:nvSpPr>
        <p:spPr>
          <a:xfrm>
            <a:off x="2359597" y="9342849"/>
            <a:ext cx="433566" cy="1008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>
                <a:solidFill>
                  <a:srgbClr val="626463"/>
                </a:solidFill>
                <a:latin typeface="NanumGothic"/>
                <a:ea typeface="NanumGothic"/>
              </a:rPr>
              <a:t>844.80kW</a:t>
            </a:r>
          </a:p>
        </p:txBody>
      </p:sp>
      <p:sp>
        <p:nvSpPr>
          <p:cNvPr id="108" name="t98"/>
          <p:cNvSpPr txBox="1"/>
          <p:nvPr/>
        </p:nvSpPr>
        <p:spPr>
          <a:xfrm>
            <a:off x="6447395" y="9421516"/>
            <a:ext cx="506528" cy="2293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540" b="0">
                <a:solidFill>
                  <a:srgbClr val="525555"/>
                </a:solidFill>
                <a:latin typeface="NanumGothic"/>
                <a:ea typeface="NanumGothic"/>
              </a:rPr>
              <a:t>경부선</a:t>
            </a:r>
          </a:p>
          <a:p>
            <a:pPr algn="l">
              <a:lnSpc>
                <a:spcPct val="134000"/>
              </a:lnSpc>
            </a:pPr>
            <a:r>
              <a:rPr sz="540" b="0">
                <a:solidFill>
                  <a:srgbClr val="525555"/>
                </a:solidFill>
                <a:latin typeface="NanumGothic"/>
                <a:ea typeface="NanumGothic"/>
              </a:rPr>
              <a:t>1,863.00kW</a:t>
            </a:r>
          </a:p>
        </p:txBody>
      </p:sp>
      <p:sp>
        <p:nvSpPr>
          <p:cNvPr id="109" name="t99"/>
          <p:cNvSpPr txBox="1"/>
          <p:nvPr/>
        </p:nvSpPr>
        <p:spPr>
          <a:xfrm>
            <a:off x="4897444" y="9422070"/>
            <a:ext cx="512035" cy="2468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3000"/>
              </a:lnSpc>
            </a:pPr>
            <a:r>
              <a:rPr sz="550" b="0">
                <a:solidFill>
                  <a:srgbClr val="5A5C5C"/>
                </a:solidFill>
                <a:latin typeface="NanumGothic"/>
                <a:ea typeface="NanumGothic"/>
              </a:rPr>
              <a:t>당진 청주선</a:t>
            </a:r>
          </a:p>
          <a:p>
            <a:pPr algn="l">
              <a:lnSpc>
                <a:spcPct val="143000"/>
              </a:lnSpc>
            </a:pPr>
            <a:r>
              <a:rPr sz="550" b="0">
                <a:solidFill>
                  <a:srgbClr val="5A5C5C"/>
                </a:solidFill>
                <a:latin typeface="NanumGothic"/>
                <a:ea typeface="NanumGothic"/>
              </a:rPr>
              <a:t>1,831.20kW</a:t>
            </a:r>
          </a:p>
        </p:txBody>
      </p:sp>
      <p:sp>
        <p:nvSpPr>
          <p:cNvPr id="110" name="t101"/>
          <p:cNvSpPr txBox="1"/>
          <p:nvPr/>
        </p:nvSpPr>
        <p:spPr>
          <a:xfrm>
            <a:off x="4298125" y="9553161"/>
            <a:ext cx="433566" cy="1008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>
                <a:solidFill>
                  <a:srgbClr val="5F605F"/>
                </a:solidFill>
                <a:latin typeface="NanumGothic"/>
                <a:ea typeface="NanumGothic"/>
              </a:rPr>
              <a:t>999.60kW</a:t>
            </a:r>
          </a:p>
        </p:txBody>
      </p:sp>
      <p:sp>
        <p:nvSpPr>
          <p:cNvPr id="111" name="t102"/>
          <p:cNvSpPr txBox="1"/>
          <p:nvPr/>
        </p:nvSpPr>
        <p:spPr>
          <a:xfrm>
            <a:off x="3182302" y="9557025"/>
            <a:ext cx="957832" cy="1065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" b="0">
                <a:solidFill>
                  <a:srgbClr val="5E6060"/>
                </a:solidFill>
                <a:latin typeface="NanumGothic"/>
                <a:ea typeface="NanumGothic"/>
              </a:rPr>
              <a:t>중앙선 (348.91 ~349.2k)</a:t>
            </a:r>
          </a:p>
        </p:txBody>
      </p:sp>
      <p:sp>
        <p:nvSpPr>
          <p:cNvPr id="112" name="t103"/>
          <p:cNvSpPr txBox="1"/>
          <p:nvPr/>
        </p:nvSpPr>
        <p:spPr>
          <a:xfrm>
            <a:off x="1234436" y="9574773"/>
            <a:ext cx="1079039" cy="11083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70" b="0">
                <a:solidFill>
                  <a:srgbClr val="515353"/>
                </a:solidFill>
                <a:latin typeface="NanumGothic"/>
                <a:ea typeface="NanumGothic"/>
              </a:rPr>
              <a:t>서산영덕선 (31.28~31.47k)</a:t>
            </a:r>
          </a:p>
        </p:txBody>
      </p:sp>
      <p:sp>
        <p:nvSpPr>
          <p:cNvPr id="113" name="t104"/>
          <p:cNvSpPr txBox="1"/>
          <p:nvPr/>
        </p:nvSpPr>
        <p:spPr>
          <a:xfrm>
            <a:off x="2359597" y="9580593"/>
            <a:ext cx="433566" cy="1008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" b="0">
                <a:solidFill>
                  <a:srgbClr val="5B5C5C"/>
                </a:solidFill>
                <a:latin typeface="NanumGothic"/>
                <a:ea typeface="NanumGothic"/>
              </a:rPr>
              <a:t>759.60kW</a:t>
            </a:r>
          </a:p>
        </p:txBody>
      </p:sp>
      <p:sp>
        <p:nvSpPr>
          <p:cNvPr id="114" name="t105"/>
          <p:cNvSpPr txBox="1"/>
          <p:nvPr/>
        </p:nvSpPr>
        <p:spPr>
          <a:xfrm>
            <a:off x="812078" y="10072878"/>
            <a:ext cx="240304" cy="149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>
                <a:solidFill>
                  <a:srgbClr val="262827"/>
                </a:solidFill>
                <a:latin typeface="NanumGothic"/>
                <a:ea typeface="NanumGothic"/>
              </a:rPr>
              <a:t>36</a:t>
            </a:r>
          </a:p>
        </p:txBody>
      </p:sp>
      <p:sp>
        <p:nvSpPr>
          <p:cNvPr id="115" name="chapter-number"/>
          <p:cNvSpPr txBox="1"/>
          <p:nvPr/>
        </p:nvSpPr>
        <p:spPr>
          <a:xfrm>
            <a:off x="694944" y="33527"/>
            <a:ext cx="1014984" cy="618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BFDDF0"/>
                </a:solidFill>
                <a:latin typeface="NanumGothic"/>
                <a:ea typeface="NanumGothic"/>
              </a:rPr>
              <a:t>0</a:t>
            </a:r>
            <a:r>
              <a:rPr sz="4000" b="1">
                <a:solidFill>
                  <a:srgbClr val="4A9BD5"/>
                </a:solidFill>
                <a:latin typeface="NanumGothic"/>
                <a:ea typeface="NanumGothic"/>
              </a:rPr>
              <a:t>2</a:t>
            </a:r>
          </a:p>
        </p:txBody>
      </p:sp>
      <p:sp>
        <p:nvSpPr>
          <p:cNvPr id="116" name="page-number"/>
          <p:cNvSpPr txBox="1"/>
          <p:nvPr/>
        </p:nvSpPr>
        <p:spPr>
          <a:xfrm>
            <a:off x="796442" y="10035540"/>
            <a:ext cx="313639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A3C3C"/>
                </a:solidFill>
                <a:latin typeface="NanumGothic"/>
                <a:ea typeface="NanumGothic"/>
              </a:rPr>
              <a:t>36</a:t>
            </a:r>
          </a:p>
        </p:txBody>
      </p:sp>
      <p:sp>
        <p:nvSpPr>
          <p:cNvPr id="117" name="a10"/>
          <p:cNvSpPr txBox="1"/>
          <p:nvPr/>
        </p:nvSpPr>
        <p:spPr>
          <a:xfrm>
            <a:off x="811392" y="1205865"/>
            <a:ext cx="650869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2B2F2F"/>
                </a:solidFill>
                <a:latin typeface="NanumGothic"/>
                <a:ea typeface="NanumGothic"/>
              </a:rPr>
              <a:t>권역번호</a:t>
            </a:r>
          </a:p>
        </p:txBody>
      </p:sp>
      <p:sp>
        <p:nvSpPr>
          <p:cNvPr id="118" name="a11"/>
          <p:cNvSpPr txBox="1"/>
          <p:nvPr/>
        </p:nvSpPr>
        <p:spPr>
          <a:xfrm>
            <a:off x="1433184" y="1205865"/>
            <a:ext cx="609721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19" b="1">
                <a:solidFill>
                  <a:srgbClr val="2B2F2F"/>
                </a:solidFill>
                <a:latin typeface="NanumGothic"/>
                <a:ea typeface="NanumGothic"/>
              </a:rPr>
              <a:t>사업규모</a:t>
            </a:r>
          </a:p>
        </p:txBody>
      </p:sp>
      <p:sp>
        <p:nvSpPr>
          <p:cNvPr id="119" name="a12"/>
          <p:cNvSpPr txBox="1"/>
          <p:nvPr/>
        </p:nvSpPr>
        <p:spPr>
          <a:xfrm>
            <a:off x="1433685" y="1435856"/>
            <a:ext cx="663145" cy="1534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454747"/>
                </a:solidFill>
                <a:latin typeface="NanumGothic"/>
                <a:ea typeface="NanumGothic"/>
              </a:rPr>
              <a:t>10,062.60</a:t>
            </a:r>
          </a:p>
        </p:txBody>
      </p:sp>
      <p:sp>
        <p:nvSpPr>
          <p:cNvPr id="120" name="a13"/>
          <p:cNvSpPr txBox="1"/>
          <p:nvPr/>
        </p:nvSpPr>
        <p:spPr>
          <a:xfrm>
            <a:off x="2686050" y="3295650"/>
            <a:ext cx="429768" cy="161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65455"/>
                </a:solidFill>
                <a:latin typeface="NanumGothic"/>
                <a:ea typeface="NanumGothic"/>
              </a:rPr>
              <a:t>서울</a:t>
            </a:r>
          </a:p>
        </p:txBody>
      </p:sp>
      <p:sp>
        <p:nvSpPr>
          <p:cNvPr id="121" name="a14"/>
          <p:cNvSpPr txBox="1"/>
          <p:nvPr/>
        </p:nvSpPr>
        <p:spPr>
          <a:xfrm>
            <a:off x="2265426" y="3547110"/>
            <a:ext cx="420624" cy="161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65455"/>
                </a:solidFill>
                <a:latin typeface="NanumGothic"/>
                <a:ea typeface="NanumGothic"/>
              </a:rPr>
              <a:t>인천</a:t>
            </a:r>
          </a:p>
        </p:txBody>
      </p:sp>
      <p:sp>
        <p:nvSpPr>
          <p:cNvPr id="122" name="a15"/>
          <p:cNvSpPr txBox="1"/>
          <p:nvPr/>
        </p:nvSpPr>
        <p:spPr>
          <a:xfrm>
            <a:off x="2942082" y="3707130"/>
            <a:ext cx="475488" cy="161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65455"/>
                </a:solidFill>
                <a:latin typeface="NanumGothic"/>
                <a:ea typeface="NanumGothic"/>
              </a:rPr>
              <a:t>경기도</a:t>
            </a:r>
          </a:p>
        </p:txBody>
      </p:sp>
      <p:sp>
        <p:nvSpPr>
          <p:cNvPr id="123" name="a16"/>
          <p:cNvSpPr txBox="1"/>
          <p:nvPr/>
        </p:nvSpPr>
        <p:spPr>
          <a:xfrm>
            <a:off x="6142482" y="6916674"/>
            <a:ext cx="365760" cy="161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565455"/>
                </a:solidFill>
                <a:latin typeface="NanumGothic"/>
                <a:ea typeface="NanumGothic"/>
              </a:rPr>
              <a:t>울산</a:t>
            </a:r>
          </a:p>
        </p:txBody>
      </p:sp>
      <p:sp>
        <p:nvSpPr>
          <p:cNvPr id="124" name="a17"/>
          <p:cNvSpPr txBox="1"/>
          <p:nvPr/>
        </p:nvSpPr>
        <p:spPr>
          <a:xfrm>
            <a:off x="4891125" y="8662416"/>
            <a:ext cx="358444" cy="13106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>
                <a:solidFill>
                  <a:srgbClr val="565859"/>
                </a:solidFill>
                <a:latin typeface="NanumGothic"/>
                <a:ea typeface="NanumGothic"/>
              </a:rPr>
              <a:t>영동선</a:t>
            </a:r>
          </a:p>
        </p:txBody>
      </p:sp>
      <p:sp>
        <p:nvSpPr>
          <p:cNvPr id="125" name="a18"/>
          <p:cNvSpPr txBox="1"/>
          <p:nvPr/>
        </p:nvSpPr>
        <p:spPr>
          <a:xfrm>
            <a:off x="6431889" y="8890101"/>
            <a:ext cx="564184" cy="2017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79000"/>
              </a:lnSpc>
            </a:pPr>
            <a:r>
              <a:rPr sz="800" b="0">
                <a:solidFill>
                  <a:srgbClr val="595B5C"/>
                </a:solidFill>
                <a:latin typeface="NanumGothic"/>
                <a:ea typeface="NanumGothic"/>
              </a:rPr>
              <a:t>중앙선</a:t>
            </a:r>
          </a:p>
          <a:p>
            <a:pPr algn="l">
              <a:lnSpc>
                <a:spcPct val="79000"/>
              </a:lnSpc>
            </a:pPr>
            <a:r>
              <a:rPr sz="800" b="0">
                <a:solidFill>
                  <a:srgbClr val="595B5C"/>
                </a:solidFill>
                <a:latin typeface="NanumGothic"/>
                <a:ea typeface="NanumGothic"/>
              </a:rPr>
              <a:t>2,490.00kW</a:t>
            </a:r>
          </a:p>
        </p:txBody>
      </p:sp>
      <p:sp>
        <p:nvSpPr>
          <p:cNvPr id="126" name="a19"/>
          <p:cNvSpPr txBox="1"/>
          <p:nvPr/>
        </p:nvSpPr>
        <p:spPr>
          <a:xfrm>
            <a:off x="3500894" y="8739187"/>
            <a:ext cx="531723" cy="1386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404143"/>
                </a:solidFill>
                <a:latin typeface="NanumGothic"/>
                <a:ea typeface="NanumGothic"/>
              </a:rPr>
              <a:t>합    계</a:t>
            </a:r>
          </a:p>
        </p:txBody>
      </p:sp>
      <p:sp>
        <p:nvSpPr>
          <p:cNvPr id="127" name="a20"/>
          <p:cNvSpPr txBox="1"/>
          <p:nvPr/>
        </p:nvSpPr>
        <p:spPr>
          <a:xfrm>
            <a:off x="5065684" y="8061198"/>
            <a:ext cx="403433" cy="112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80" b="1">
                <a:solidFill>
                  <a:srgbClr val="404143"/>
                </a:solidFill>
                <a:latin typeface="NanumGothic"/>
                <a:ea typeface="NanumGothic"/>
              </a:rPr>
              <a:t>총 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1"/>
          <p:cNvSpPr/>
          <p:nvPr/>
        </p:nvSpPr>
        <p:spPr>
          <a:xfrm>
            <a:off x="3694176" y="1623060"/>
            <a:ext cx="3040380" cy="260604"/>
          </a:xfrm>
          <a:prstGeom prst="rect">
            <a:avLst/>
          </a:prstGeom>
          <a:solidFill>
            <a:srgbClr val="D2D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2"/>
          <p:cNvSpPr/>
          <p:nvPr/>
        </p:nvSpPr>
        <p:spPr>
          <a:xfrm>
            <a:off x="3680460" y="5138928"/>
            <a:ext cx="3031236" cy="260604"/>
          </a:xfrm>
          <a:prstGeom prst="rect">
            <a:avLst/>
          </a:prstGeom>
          <a:solidFill>
            <a:srgbClr val="D1D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s-frame"/>
          <p:cNvSpPr/>
          <p:nvPr/>
        </p:nvSpPr>
        <p:spPr>
          <a:xfrm>
            <a:off x="3680460" y="5106924"/>
            <a:ext cx="3040380" cy="2253996"/>
          </a:xfrm>
          <a:prstGeom prst="rect">
            <a:avLst/>
          </a:prstGeom>
          <a:noFill/>
          <a:ln w="9144">
            <a:solidFill>
              <a:srgbClr val="C8C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27"/>
          <p:cNvSpPr/>
          <p:nvPr/>
        </p:nvSpPr>
        <p:spPr>
          <a:xfrm>
            <a:off x="3712464" y="5632704"/>
            <a:ext cx="2985516" cy="146304"/>
          </a:xfrm>
          <a:prstGeom prst="rect">
            <a:avLst/>
          </a:prstGeom>
          <a:solidFill>
            <a:srgbClr val="EE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28"/>
          <p:cNvSpPr/>
          <p:nvPr/>
        </p:nvSpPr>
        <p:spPr>
          <a:xfrm>
            <a:off x="3712464" y="6227064"/>
            <a:ext cx="2985516" cy="146304"/>
          </a:xfrm>
          <a:prstGeom prst="rect">
            <a:avLst/>
          </a:prstGeom>
          <a:solidFill>
            <a:srgbClr val="EE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29"/>
          <p:cNvSpPr/>
          <p:nvPr/>
        </p:nvSpPr>
        <p:spPr>
          <a:xfrm>
            <a:off x="3712464" y="6803136"/>
            <a:ext cx="2985516" cy="146304"/>
          </a:xfrm>
          <a:prstGeom prst="rect">
            <a:avLst/>
          </a:prstGeom>
          <a:solidFill>
            <a:srgbClr val="EE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collapse-photo" descr="p3_i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7795260"/>
            <a:ext cx="2162556" cy="1975104"/>
          </a:xfrm>
          <a:prstGeom prst="rect">
            <a:avLst/>
          </a:prstGeom>
        </p:spPr>
      </p:pic>
      <p:pic>
        <p:nvPicPr>
          <p:cNvPr id="9" name="i4" descr="p3_i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5584" y="210312"/>
            <a:ext cx="964692" cy="429768"/>
          </a:xfrm>
          <a:prstGeom prst="rect">
            <a:avLst/>
          </a:prstGeom>
        </p:spPr>
      </p:pic>
      <p:pic>
        <p:nvPicPr>
          <p:cNvPr id="10" name="disaster-photo-252-0" descr="p3_a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2144" y="1929384"/>
            <a:ext cx="1211580" cy="850392"/>
          </a:xfrm>
          <a:prstGeom prst="rect">
            <a:avLst/>
          </a:prstGeom>
        </p:spPr>
      </p:pic>
      <p:pic>
        <p:nvPicPr>
          <p:cNvPr id="11" name="disaster-photo-252-1" descr="p3_a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144" y="2843784"/>
            <a:ext cx="1211580" cy="859536"/>
          </a:xfrm>
          <a:prstGeom prst="rect">
            <a:avLst/>
          </a:prstGeom>
        </p:spPr>
      </p:pic>
      <p:pic>
        <p:nvPicPr>
          <p:cNvPr id="12" name="disaster-photo-252-2" descr="p3_a4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2144" y="3767328"/>
            <a:ext cx="1211580" cy="891540"/>
          </a:xfrm>
          <a:prstGeom prst="rect">
            <a:avLst/>
          </a:prstGeom>
        </p:spPr>
      </p:pic>
      <p:pic>
        <p:nvPicPr>
          <p:cNvPr id="13" name="disaster-photo-926-0" descr="p3_a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3672" y="1920240"/>
            <a:ext cx="1207008" cy="886968"/>
          </a:xfrm>
          <a:prstGeom prst="rect">
            <a:avLst/>
          </a:prstGeom>
        </p:spPr>
      </p:pic>
      <p:pic>
        <p:nvPicPr>
          <p:cNvPr id="14" name="disaster-photo-926-1" descr="p3_a6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33672" y="2852928"/>
            <a:ext cx="1207008" cy="882396"/>
          </a:xfrm>
          <a:prstGeom prst="rect">
            <a:avLst/>
          </a:prstGeom>
        </p:spPr>
      </p:pic>
      <p:pic>
        <p:nvPicPr>
          <p:cNvPr id="15" name="disaster-photo-926-2" descr="p3_a7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33672" y="3776472"/>
            <a:ext cx="1207008" cy="896112"/>
          </a:xfrm>
          <a:prstGeom prst="rect">
            <a:avLst/>
          </a:prstGeom>
        </p:spPr>
      </p:pic>
      <p:pic>
        <p:nvPicPr>
          <p:cNvPr id="16" name="accident-chart" descr="p3_a2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8932" y="5106924"/>
            <a:ext cx="3044952" cy="2253996"/>
          </a:xfrm>
          <a:prstGeom prst="rect">
            <a:avLst/>
          </a:prstGeom>
        </p:spPr>
      </p:pic>
      <p:cxnSp>
        <p:nvCxnSpPr>
          <p:cNvPr id="17" name="l12"/>
          <p:cNvCxnSpPr/>
          <p:nvPr/>
        </p:nvCxnSpPr>
        <p:spPr>
          <a:xfrm>
            <a:off x="2852928" y="7779258"/>
            <a:ext cx="3854196" cy="0"/>
          </a:xfrm>
          <a:prstGeom prst="line">
            <a:avLst/>
          </a:prstGeom>
          <a:ln w="27432">
            <a:solidFill>
              <a:srgbClr val="A8A9A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13"/>
          <p:cNvCxnSpPr/>
          <p:nvPr/>
        </p:nvCxnSpPr>
        <p:spPr>
          <a:xfrm>
            <a:off x="2852928" y="8650224"/>
            <a:ext cx="3854196" cy="0"/>
          </a:xfrm>
          <a:prstGeom prst="line">
            <a:avLst/>
          </a:prstGeom>
          <a:ln w="9144">
            <a:solidFill>
              <a:srgbClr val="B8BC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l14"/>
          <p:cNvCxnSpPr/>
          <p:nvPr/>
        </p:nvCxnSpPr>
        <p:spPr>
          <a:xfrm>
            <a:off x="2848356" y="9061704"/>
            <a:ext cx="3858768" cy="0"/>
          </a:xfrm>
          <a:prstGeom prst="line">
            <a:avLst/>
          </a:prstGeom>
          <a:ln w="9144">
            <a:solidFill>
              <a:srgbClr val="B7BA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15"/>
          <p:cNvCxnSpPr/>
          <p:nvPr/>
        </p:nvCxnSpPr>
        <p:spPr>
          <a:xfrm>
            <a:off x="2843784" y="9825228"/>
            <a:ext cx="3849624" cy="0"/>
          </a:xfrm>
          <a:prstGeom prst="line">
            <a:avLst/>
          </a:prstGeom>
          <a:ln w="27432">
            <a:solidFill>
              <a:srgbClr val="ADAE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page-bar"/>
          <p:cNvCxnSpPr/>
          <p:nvPr/>
        </p:nvCxnSpPr>
        <p:spPr>
          <a:xfrm>
            <a:off x="6441948" y="10035540"/>
            <a:ext cx="0" cy="114300"/>
          </a:xfrm>
          <a:prstGeom prst="line">
            <a:avLst/>
          </a:prstGeom>
          <a:ln w="9144">
            <a:solidFill>
              <a:srgbClr val="3A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a15"/>
          <p:cNvCxnSpPr/>
          <p:nvPr/>
        </p:nvCxnSpPr>
        <p:spPr>
          <a:xfrm>
            <a:off x="621792" y="2798064"/>
            <a:ext cx="3035808" cy="0"/>
          </a:xfrm>
          <a:prstGeom prst="line">
            <a:avLst/>
          </a:prstGeom>
          <a:ln w="9144">
            <a:solidFill>
              <a:srgbClr val="C8C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a16"/>
          <p:cNvCxnSpPr/>
          <p:nvPr/>
        </p:nvCxnSpPr>
        <p:spPr>
          <a:xfrm>
            <a:off x="621792" y="3726180"/>
            <a:ext cx="3035808" cy="0"/>
          </a:xfrm>
          <a:prstGeom prst="line">
            <a:avLst/>
          </a:prstGeom>
          <a:ln w="9144">
            <a:solidFill>
              <a:srgbClr val="C8C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a17"/>
          <p:cNvCxnSpPr/>
          <p:nvPr/>
        </p:nvCxnSpPr>
        <p:spPr>
          <a:xfrm>
            <a:off x="621792" y="4668012"/>
            <a:ext cx="3035808" cy="0"/>
          </a:xfrm>
          <a:prstGeom prst="line">
            <a:avLst/>
          </a:prstGeom>
          <a:ln w="9144">
            <a:solidFill>
              <a:srgbClr val="C8C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a18"/>
          <p:cNvCxnSpPr/>
          <p:nvPr/>
        </p:nvCxnSpPr>
        <p:spPr>
          <a:xfrm>
            <a:off x="626364" y="1865376"/>
            <a:ext cx="0" cy="2807208"/>
          </a:xfrm>
          <a:prstGeom prst="line">
            <a:avLst/>
          </a:prstGeom>
          <a:ln w="9144">
            <a:solidFill>
              <a:srgbClr val="C8C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a19"/>
          <p:cNvCxnSpPr/>
          <p:nvPr/>
        </p:nvCxnSpPr>
        <p:spPr>
          <a:xfrm>
            <a:off x="3653028" y="1865376"/>
            <a:ext cx="0" cy="2807208"/>
          </a:xfrm>
          <a:prstGeom prst="line">
            <a:avLst/>
          </a:prstGeom>
          <a:ln w="9144">
            <a:solidFill>
              <a:srgbClr val="C8C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a20"/>
          <p:cNvCxnSpPr/>
          <p:nvPr/>
        </p:nvCxnSpPr>
        <p:spPr>
          <a:xfrm>
            <a:off x="3694176" y="2825496"/>
            <a:ext cx="3040380" cy="0"/>
          </a:xfrm>
          <a:prstGeom prst="line">
            <a:avLst/>
          </a:prstGeom>
          <a:ln w="9144">
            <a:solidFill>
              <a:srgbClr val="C8C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a21"/>
          <p:cNvCxnSpPr/>
          <p:nvPr/>
        </p:nvCxnSpPr>
        <p:spPr>
          <a:xfrm>
            <a:off x="3694176" y="3753612"/>
            <a:ext cx="3040380" cy="0"/>
          </a:xfrm>
          <a:prstGeom prst="line">
            <a:avLst/>
          </a:prstGeom>
          <a:ln w="9144">
            <a:solidFill>
              <a:srgbClr val="C8C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a22"/>
          <p:cNvCxnSpPr/>
          <p:nvPr/>
        </p:nvCxnSpPr>
        <p:spPr>
          <a:xfrm>
            <a:off x="3694176" y="4686300"/>
            <a:ext cx="3040380" cy="0"/>
          </a:xfrm>
          <a:prstGeom prst="line">
            <a:avLst/>
          </a:prstGeom>
          <a:ln w="9144">
            <a:solidFill>
              <a:srgbClr val="C8C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a23"/>
          <p:cNvCxnSpPr/>
          <p:nvPr/>
        </p:nvCxnSpPr>
        <p:spPr>
          <a:xfrm>
            <a:off x="3698748" y="1883664"/>
            <a:ext cx="0" cy="2807208"/>
          </a:xfrm>
          <a:prstGeom prst="line">
            <a:avLst/>
          </a:prstGeom>
          <a:ln w="9144">
            <a:solidFill>
              <a:srgbClr val="C8C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a24"/>
          <p:cNvCxnSpPr/>
          <p:nvPr/>
        </p:nvCxnSpPr>
        <p:spPr>
          <a:xfrm>
            <a:off x="6729984" y="1883664"/>
            <a:ext cx="0" cy="2807208"/>
          </a:xfrm>
          <a:prstGeom prst="line">
            <a:avLst/>
          </a:prstGeom>
          <a:ln w="9144">
            <a:solidFill>
              <a:srgbClr val="C8C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a30"/>
          <p:cNvCxnSpPr/>
          <p:nvPr/>
        </p:nvCxnSpPr>
        <p:spPr>
          <a:xfrm>
            <a:off x="3712464" y="5781294"/>
            <a:ext cx="2985516" cy="0"/>
          </a:xfrm>
          <a:prstGeom prst="line">
            <a:avLst/>
          </a:prstGeom>
          <a:ln w="6350">
            <a:solidFill>
              <a:srgbClr val="C8C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a31"/>
          <p:cNvCxnSpPr/>
          <p:nvPr/>
        </p:nvCxnSpPr>
        <p:spPr>
          <a:xfrm>
            <a:off x="3712464" y="5955030"/>
            <a:ext cx="2985516" cy="0"/>
          </a:xfrm>
          <a:prstGeom prst="line">
            <a:avLst/>
          </a:prstGeom>
          <a:ln w="6350">
            <a:solidFill>
              <a:srgbClr val="C8C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a32"/>
          <p:cNvCxnSpPr/>
          <p:nvPr/>
        </p:nvCxnSpPr>
        <p:spPr>
          <a:xfrm>
            <a:off x="3712464" y="6375654"/>
            <a:ext cx="2985516" cy="0"/>
          </a:xfrm>
          <a:prstGeom prst="line">
            <a:avLst/>
          </a:prstGeom>
          <a:ln w="6350">
            <a:solidFill>
              <a:srgbClr val="C8C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a33"/>
          <p:cNvCxnSpPr/>
          <p:nvPr/>
        </p:nvCxnSpPr>
        <p:spPr>
          <a:xfrm>
            <a:off x="3712464" y="6540246"/>
            <a:ext cx="2985516" cy="0"/>
          </a:xfrm>
          <a:prstGeom prst="line">
            <a:avLst/>
          </a:prstGeom>
          <a:ln w="6350">
            <a:solidFill>
              <a:srgbClr val="C8C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a34"/>
          <p:cNvCxnSpPr/>
          <p:nvPr/>
        </p:nvCxnSpPr>
        <p:spPr>
          <a:xfrm>
            <a:off x="3712464" y="6951726"/>
            <a:ext cx="2985516" cy="0"/>
          </a:xfrm>
          <a:prstGeom prst="line">
            <a:avLst/>
          </a:prstGeom>
          <a:ln w="6350">
            <a:solidFill>
              <a:srgbClr val="C8C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a35"/>
          <p:cNvCxnSpPr/>
          <p:nvPr/>
        </p:nvCxnSpPr>
        <p:spPr>
          <a:xfrm>
            <a:off x="3712464" y="7120890"/>
            <a:ext cx="2985516" cy="0"/>
          </a:xfrm>
          <a:prstGeom prst="line">
            <a:avLst/>
          </a:prstGeom>
          <a:ln w="6350">
            <a:solidFill>
              <a:srgbClr val="C8C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a72"/>
          <p:cNvCxnSpPr/>
          <p:nvPr/>
        </p:nvCxnSpPr>
        <p:spPr>
          <a:xfrm>
            <a:off x="2852928" y="8035290"/>
            <a:ext cx="3854196" cy="0"/>
          </a:xfrm>
          <a:prstGeom prst="line">
            <a:avLst/>
          </a:prstGeom>
          <a:ln w="6350">
            <a:solidFill>
              <a:srgbClr val="C8CCCD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a73"/>
          <p:cNvCxnSpPr/>
          <p:nvPr/>
        </p:nvCxnSpPr>
        <p:spPr>
          <a:xfrm>
            <a:off x="2852928" y="8231886"/>
            <a:ext cx="3854196" cy="0"/>
          </a:xfrm>
          <a:prstGeom prst="line">
            <a:avLst/>
          </a:prstGeom>
          <a:ln w="6350">
            <a:solidFill>
              <a:srgbClr val="C8CCCD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a74"/>
          <p:cNvCxnSpPr/>
          <p:nvPr/>
        </p:nvCxnSpPr>
        <p:spPr>
          <a:xfrm>
            <a:off x="2852928" y="8428482"/>
            <a:ext cx="3854196" cy="0"/>
          </a:xfrm>
          <a:prstGeom prst="line">
            <a:avLst/>
          </a:prstGeom>
          <a:ln w="6350">
            <a:solidFill>
              <a:srgbClr val="C8CCCD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0"/>
          <p:cNvSpPr txBox="1"/>
          <p:nvPr/>
        </p:nvSpPr>
        <p:spPr>
          <a:xfrm>
            <a:off x="5242662" y="641720"/>
            <a:ext cx="1251495" cy="14232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69" b="1">
                <a:solidFill>
                  <a:srgbClr val="4A4C4B"/>
                </a:solidFill>
                <a:latin typeface="NanumGothic"/>
                <a:ea typeface="NanumGothic"/>
              </a:rPr>
              <a:t>고속도로 민간투자 태양광</a:t>
            </a:r>
          </a:p>
        </p:txBody>
      </p:sp>
      <p:sp>
        <p:nvSpPr>
          <p:cNvPr id="42" name="t1"/>
          <p:cNvSpPr txBox="1"/>
          <p:nvPr/>
        </p:nvSpPr>
        <p:spPr>
          <a:xfrm>
            <a:off x="6428529" y="664782"/>
            <a:ext cx="362190" cy="1041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" b="0">
                <a:solidFill>
                  <a:srgbClr val="ADB0B0"/>
                </a:solidFill>
                <a:latin typeface="NanumGothic"/>
                <a:ea typeface="NanumGothic"/>
              </a:rPr>
              <a:t>발전사업</a:t>
            </a:r>
          </a:p>
        </p:txBody>
      </p:sp>
      <p:sp>
        <p:nvSpPr>
          <p:cNvPr id="43" name="t3"/>
          <p:cNvSpPr txBox="1"/>
          <p:nvPr/>
        </p:nvSpPr>
        <p:spPr>
          <a:xfrm>
            <a:off x="1862295" y="1652094"/>
            <a:ext cx="626758" cy="1792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313535"/>
                </a:solidFill>
                <a:latin typeface="NanumGothic"/>
                <a:ea typeface="NanumGothic"/>
              </a:rPr>
              <a:t>자연재난</a:t>
            </a:r>
          </a:p>
        </p:txBody>
      </p:sp>
      <p:sp>
        <p:nvSpPr>
          <p:cNvPr id="44" name="t4"/>
          <p:cNvSpPr txBox="1"/>
          <p:nvPr/>
        </p:nvSpPr>
        <p:spPr>
          <a:xfrm>
            <a:off x="4930079" y="1674876"/>
            <a:ext cx="636239" cy="1798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2E3131"/>
                </a:solidFill>
                <a:latin typeface="NanumGothic"/>
                <a:ea typeface="NanumGothic"/>
              </a:rPr>
              <a:t>사회재난</a:t>
            </a:r>
          </a:p>
        </p:txBody>
      </p:sp>
      <p:sp>
        <p:nvSpPr>
          <p:cNvPr id="45" name="t5"/>
          <p:cNvSpPr txBox="1"/>
          <p:nvPr/>
        </p:nvSpPr>
        <p:spPr>
          <a:xfrm>
            <a:off x="5493982" y="2022643"/>
            <a:ext cx="1250505" cy="696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90" b="0">
                <a:solidFill>
                  <a:srgbClr val="484A4A"/>
                </a:solidFill>
                <a:latin typeface="NanumGothic"/>
                <a:ea typeface="NanumGothic"/>
              </a:rPr>
              <a:t>• 공사현장 화재 파급</a:t>
            </a:r>
          </a:p>
          <a:p>
            <a:pPr algn="l">
              <a:lnSpc>
                <a:spcPct val="126000"/>
              </a:lnSpc>
            </a:pPr>
            <a:r>
              <a:rPr sz="890" b="0">
                <a:solidFill>
                  <a:srgbClr val="484A4A"/>
                </a:solidFill>
                <a:latin typeface="NanumGothic"/>
                <a:ea typeface="NanumGothic"/>
              </a:rPr>
              <a:t>• 자재 및 시설물 손상</a:t>
            </a:r>
          </a:p>
          <a:p>
            <a:pPr algn="l">
              <a:lnSpc>
                <a:spcPct val="126000"/>
              </a:lnSpc>
            </a:pPr>
            <a:r>
              <a:rPr sz="890" b="0">
                <a:solidFill>
                  <a:srgbClr val="484A4A"/>
                </a:solidFill>
                <a:latin typeface="NanumGothic"/>
                <a:ea typeface="NanumGothic"/>
              </a:rPr>
              <a:t>• 근로자 안전사고</a:t>
            </a:r>
          </a:p>
          <a:p>
            <a:pPr algn="l">
              <a:lnSpc>
                <a:spcPct val="126000"/>
              </a:lnSpc>
            </a:pPr>
            <a:r>
              <a:rPr sz="890" b="0">
                <a:solidFill>
                  <a:srgbClr val="484A4A"/>
                </a:solidFill>
                <a:latin typeface="NanumGothic"/>
                <a:ea typeface="NanumGothic"/>
              </a:rPr>
              <a:t>• 감전사고 유발</a:t>
            </a:r>
          </a:p>
        </p:txBody>
      </p:sp>
      <p:sp>
        <p:nvSpPr>
          <p:cNvPr id="46" name="t6"/>
          <p:cNvSpPr txBox="1"/>
          <p:nvPr/>
        </p:nvSpPr>
        <p:spPr>
          <a:xfrm>
            <a:off x="678393" y="2162830"/>
            <a:ext cx="583570" cy="364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80" b="1">
                <a:solidFill>
                  <a:srgbClr val="373A39"/>
                </a:solidFill>
                <a:latin typeface="NanumGothic"/>
                <a:ea typeface="NanumGothic"/>
              </a:rPr>
              <a:t>풍수해</a:t>
            </a:r>
          </a:p>
          <a:p>
            <a:pPr algn="l">
              <a:lnSpc>
                <a:spcPct val="108000"/>
              </a:lnSpc>
            </a:pPr>
            <a:r>
              <a:rPr sz="1080" b="1">
                <a:solidFill>
                  <a:srgbClr val="373A39"/>
                </a:solidFill>
                <a:latin typeface="NanumGothic"/>
                <a:ea typeface="NanumGothic"/>
              </a:rPr>
              <a:t>산사태</a:t>
            </a:r>
          </a:p>
        </p:txBody>
      </p:sp>
      <p:sp>
        <p:nvSpPr>
          <p:cNvPr id="47" name="t7"/>
          <p:cNvSpPr txBox="1"/>
          <p:nvPr/>
        </p:nvSpPr>
        <p:spPr>
          <a:xfrm>
            <a:off x="2412464" y="2931845"/>
            <a:ext cx="1323447" cy="7004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000"/>
              </a:lnSpc>
            </a:pPr>
            <a:r>
              <a:rPr sz="890" b="0">
                <a:solidFill>
                  <a:srgbClr val="4A4C4B"/>
                </a:solidFill>
                <a:latin typeface="NanumGothic"/>
                <a:ea typeface="NanumGothic"/>
              </a:rPr>
              <a:t>• 구조물 피로 증대</a:t>
            </a:r>
          </a:p>
          <a:p>
            <a:pPr algn="l">
              <a:lnSpc>
                <a:spcPct val="127000"/>
              </a:lnSpc>
            </a:pPr>
            <a:r>
              <a:rPr sz="890" b="0">
                <a:solidFill>
                  <a:srgbClr val="4A4C4B"/>
                </a:solidFill>
                <a:latin typeface="NanumGothic"/>
                <a:ea typeface="NanumGothic"/>
              </a:rPr>
              <a:t>• 감전사고 유발</a:t>
            </a:r>
          </a:p>
          <a:p>
            <a:pPr algn="l">
              <a:lnSpc>
                <a:spcPct val="127000"/>
              </a:lnSpc>
            </a:pPr>
            <a:r>
              <a:rPr sz="890" b="0">
                <a:solidFill>
                  <a:srgbClr val="4A4C4B"/>
                </a:solidFill>
                <a:latin typeface="NanumGothic"/>
                <a:ea typeface="NanumGothic"/>
              </a:rPr>
              <a:t>• 각종 시설물 손상</a:t>
            </a:r>
          </a:p>
          <a:p>
            <a:pPr algn="l">
              <a:lnSpc>
                <a:spcPct val="127000"/>
              </a:lnSpc>
            </a:pPr>
            <a:r>
              <a:rPr sz="890" b="0">
                <a:solidFill>
                  <a:srgbClr val="4A4C4B"/>
                </a:solidFill>
                <a:latin typeface="NanumGothic"/>
                <a:ea typeface="NanumGothic"/>
              </a:rPr>
              <a:t>• 전기자재 절연력 약화</a:t>
            </a:r>
          </a:p>
        </p:txBody>
      </p:sp>
      <p:sp>
        <p:nvSpPr>
          <p:cNvPr id="48" name="t8"/>
          <p:cNvSpPr txBox="1"/>
          <p:nvPr/>
        </p:nvSpPr>
        <p:spPr>
          <a:xfrm>
            <a:off x="5489460" y="2950366"/>
            <a:ext cx="1103103" cy="6959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000"/>
              </a:lnSpc>
            </a:pPr>
            <a:r>
              <a:rPr sz="890" b="0">
                <a:solidFill>
                  <a:srgbClr val="444646"/>
                </a:solidFill>
                <a:latin typeface="NanumGothic"/>
                <a:ea typeface="NanumGothic"/>
              </a:rPr>
              <a:t>• 현장 접근성 악화</a:t>
            </a:r>
          </a:p>
          <a:p>
            <a:pPr algn="l">
              <a:lnSpc>
                <a:spcPct val="127000"/>
              </a:lnSpc>
            </a:pPr>
            <a:r>
              <a:rPr sz="890" b="0">
                <a:solidFill>
                  <a:srgbClr val="444646"/>
                </a:solidFill>
                <a:latin typeface="NanumGothic"/>
                <a:ea typeface="NanumGothic"/>
              </a:rPr>
              <a:t>• 자재 수급 지연</a:t>
            </a:r>
          </a:p>
          <a:p>
            <a:pPr algn="l">
              <a:lnSpc>
                <a:spcPct val="127000"/>
              </a:lnSpc>
            </a:pPr>
            <a:r>
              <a:rPr sz="890" b="0">
                <a:solidFill>
                  <a:srgbClr val="444646"/>
                </a:solidFill>
                <a:latin typeface="NanumGothic"/>
                <a:ea typeface="NanumGothic"/>
              </a:rPr>
              <a:t>• 교통 우회로 확보</a:t>
            </a:r>
          </a:p>
          <a:p>
            <a:pPr algn="l">
              <a:lnSpc>
                <a:spcPct val="127000"/>
              </a:lnSpc>
            </a:pPr>
            <a:r>
              <a:rPr sz="890" b="0">
                <a:solidFill>
                  <a:srgbClr val="444646"/>
                </a:solidFill>
                <a:latin typeface="NanumGothic"/>
                <a:ea typeface="NanumGothic"/>
              </a:rPr>
              <a:t>• 공사 중지 발생</a:t>
            </a:r>
          </a:p>
        </p:txBody>
      </p:sp>
      <p:sp>
        <p:nvSpPr>
          <p:cNvPr id="49" name="t9"/>
          <p:cNvSpPr txBox="1"/>
          <p:nvPr/>
        </p:nvSpPr>
        <p:spPr>
          <a:xfrm>
            <a:off x="674150" y="3088221"/>
            <a:ext cx="576328" cy="3645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030" b="1">
                <a:solidFill>
                  <a:srgbClr val="373A39"/>
                </a:solidFill>
                <a:latin typeface="NanumGothic"/>
                <a:ea typeface="NanumGothic"/>
              </a:rPr>
              <a:t>폭    염</a:t>
            </a:r>
          </a:p>
          <a:p>
            <a:pPr algn="l">
              <a:lnSpc>
                <a:spcPct val="113000"/>
              </a:lnSpc>
            </a:pPr>
            <a:r>
              <a:rPr sz="1030" b="1">
                <a:solidFill>
                  <a:srgbClr val="373A39"/>
                </a:solidFill>
                <a:latin typeface="NanumGothic"/>
                <a:ea typeface="NanumGothic"/>
              </a:rPr>
              <a:t>대    설</a:t>
            </a:r>
          </a:p>
        </p:txBody>
      </p:sp>
      <p:sp>
        <p:nvSpPr>
          <p:cNvPr id="50" name="t13"/>
          <p:cNvSpPr txBox="1"/>
          <p:nvPr/>
        </p:nvSpPr>
        <p:spPr>
          <a:xfrm>
            <a:off x="2407932" y="3860194"/>
            <a:ext cx="1103103" cy="6959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000"/>
              </a:lnSpc>
            </a:pPr>
            <a:r>
              <a:rPr sz="890" b="0">
                <a:solidFill>
                  <a:srgbClr val="4E504F"/>
                </a:solidFill>
                <a:latin typeface="NanumGothic"/>
                <a:ea typeface="NanumGothic"/>
              </a:rPr>
              <a:t>• 화재사고 유발</a:t>
            </a:r>
          </a:p>
          <a:p>
            <a:pPr algn="l">
              <a:lnSpc>
                <a:spcPct val="127000"/>
              </a:lnSpc>
            </a:pPr>
            <a:r>
              <a:rPr sz="890" b="0">
                <a:solidFill>
                  <a:srgbClr val="4E504F"/>
                </a:solidFill>
                <a:latin typeface="NanumGothic"/>
                <a:ea typeface="NanumGothic"/>
              </a:rPr>
              <a:t>• 근로자 안전사고</a:t>
            </a:r>
          </a:p>
          <a:p>
            <a:pPr algn="l">
              <a:lnSpc>
                <a:spcPct val="127000"/>
              </a:lnSpc>
            </a:pPr>
            <a:r>
              <a:rPr sz="890" b="0">
                <a:solidFill>
                  <a:srgbClr val="4E504F"/>
                </a:solidFill>
                <a:latin typeface="NanumGothic"/>
                <a:ea typeface="NanumGothic"/>
              </a:rPr>
              <a:t>• 구조물 변형 불량</a:t>
            </a:r>
          </a:p>
          <a:p>
            <a:pPr algn="l">
              <a:lnSpc>
                <a:spcPct val="127000"/>
              </a:lnSpc>
            </a:pPr>
            <a:r>
              <a:rPr sz="890" b="0">
                <a:solidFill>
                  <a:srgbClr val="4E504F"/>
                </a:solidFill>
                <a:latin typeface="NanumGothic"/>
                <a:ea typeface="NanumGothic"/>
              </a:rPr>
              <a:t>• 각종 시설물 손상</a:t>
            </a:r>
          </a:p>
        </p:txBody>
      </p:sp>
      <p:sp>
        <p:nvSpPr>
          <p:cNvPr id="51" name="t14"/>
          <p:cNvSpPr txBox="1"/>
          <p:nvPr/>
        </p:nvSpPr>
        <p:spPr>
          <a:xfrm>
            <a:off x="5484950" y="3876832"/>
            <a:ext cx="1165748" cy="70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80" b="0">
                <a:solidFill>
                  <a:srgbClr val="4F5151"/>
                </a:solidFill>
                <a:latin typeface="NanumGothic"/>
                <a:ea typeface="NanumGothic"/>
              </a:rPr>
              <a:t>• 근로자 추락사고</a:t>
            </a:r>
          </a:p>
          <a:p>
            <a:pPr algn="l">
              <a:lnSpc>
                <a:spcPct val="130000"/>
              </a:lnSpc>
            </a:pPr>
            <a:r>
              <a:rPr sz="880" b="0">
                <a:solidFill>
                  <a:srgbClr val="4F5151"/>
                </a:solidFill>
                <a:latin typeface="NanumGothic"/>
                <a:ea typeface="NanumGothic"/>
              </a:rPr>
              <a:t>• 공사장 낙하물사고</a:t>
            </a:r>
          </a:p>
          <a:p>
            <a:pPr algn="l">
              <a:lnSpc>
                <a:spcPct val="130000"/>
              </a:lnSpc>
            </a:pPr>
            <a:r>
              <a:rPr sz="880" b="0">
                <a:solidFill>
                  <a:srgbClr val="4F5151"/>
                </a:solidFill>
                <a:latin typeface="NanumGothic"/>
                <a:ea typeface="NanumGothic"/>
              </a:rPr>
              <a:t>• 구조물 변형 불량</a:t>
            </a:r>
          </a:p>
          <a:p>
            <a:pPr algn="l">
              <a:lnSpc>
                <a:spcPct val="130000"/>
              </a:lnSpc>
            </a:pPr>
            <a:r>
              <a:rPr sz="880" b="0">
                <a:solidFill>
                  <a:srgbClr val="4F5151"/>
                </a:solidFill>
                <a:latin typeface="NanumGothic"/>
                <a:ea typeface="NanumGothic"/>
              </a:rPr>
              <a:t>• 기자재 파손</a:t>
            </a:r>
          </a:p>
        </p:txBody>
      </p:sp>
      <p:sp>
        <p:nvSpPr>
          <p:cNvPr id="52" name="t15"/>
          <p:cNvSpPr txBox="1"/>
          <p:nvPr/>
        </p:nvSpPr>
        <p:spPr>
          <a:xfrm>
            <a:off x="674150" y="4016337"/>
            <a:ext cx="576328" cy="3645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sz="1030" b="1">
                <a:solidFill>
                  <a:srgbClr val="373A39"/>
                </a:solidFill>
                <a:latin typeface="NanumGothic"/>
                <a:ea typeface="NanumGothic"/>
              </a:rPr>
              <a:t>낙    뢰</a:t>
            </a:r>
          </a:p>
          <a:p>
            <a:pPr algn="l">
              <a:lnSpc>
                <a:spcPct val="113000"/>
              </a:lnSpc>
            </a:pPr>
            <a:r>
              <a:rPr sz="1030" b="1">
                <a:solidFill>
                  <a:srgbClr val="373A39"/>
                </a:solidFill>
                <a:latin typeface="NanumGothic"/>
                <a:ea typeface="NanumGothic"/>
              </a:rPr>
              <a:t>지    진</a:t>
            </a:r>
          </a:p>
        </p:txBody>
      </p:sp>
      <p:sp>
        <p:nvSpPr>
          <p:cNvPr id="53" name="t17"/>
          <p:cNvSpPr txBox="1"/>
          <p:nvPr/>
        </p:nvSpPr>
        <p:spPr>
          <a:xfrm>
            <a:off x="581935" y="4851939"/>
            <a:ext cx="1593846" cy="18364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383B3A"/>
                </a:solidFill>
                <a:latin typeface="NanumGothic"/>
                <a:ea typeface="NanumGothic"/>
              </a:rPr>
              <a:t>(2) 태양광 공사현장 사고</a:t>
            </a:r>
          </a:p>
        </p:txBody>
      </p:sp>
      <p:sp>
        <p:nvSpPr>
          <p:cNvPr id="54" name="t18"/>
          <p:cNvSpPr txBox="1"/>
          <p:nvPr/>
        </p:nvSpPr>
        <p:spPr>
          <a:xfrm>
            <a:off x="4788671" y="5191645"/>
            <a:ext cx="883807" cy="1726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70" b="1">
                <a:solidFill>
                  <a:srgbClr val="343839"/>
                </a:solidFill>
                <a:latin typeface="NanumGothic"/>
                <a:ea typeface="NanumGothic"/>
              </a:rPr>
              <a:t>사망사고 현황</a:t>
            </a:r>
          </a:p>
        </p:txBody>
      </p:sp>
      <p:sp>
        <p:nvSpPr>
          <p:cNvPr id="55" name="t19"/>
          <p:cNvSpPr txBox="1"/>
          <p:nvPr/>
        </p:nvSpPr>
        <p:spPr>
          <a:xfrm>
            <a:off x="2523184" y="5220684"/>
            <a:ext cx="1067422" cy="12318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>
                <a:solidFill>
                  <a:srgbClr val="909594"/>
                </a:solidFill>
                <a:latin typeface="NanumGothic"/>
                <a:ea typeface="NanumGothic"/>
              </a:rPr>
              <a:t>*기타:익사. 끼임. 감전 등</a:t>
            </a:r>
          </a:p>
        </p:txBody>
      </p:sp>
      <p:sp>
        <p:nvSpPr>
          <p:cNvPr id="56" name="t20"/>
          <p:cNvSpPr txBox="1"/>
          <p:nvPr/>
        </p:nvSpPr>
        <p:spPr>
          <a:xfrm>
            <a:off x="1205619" y="5213423"/>
            <a:ext cx="739217" cy="3853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869" b="0">
                <a:solidFill>
                  <a:srgbClr val="3E4041"/>
                </a:solidFill>
                <a:latin typeface="NanumGothic"/>
                <a:ea typeface="NanumGothic"/>
              </a:rPr>
              <a:t>추락사 26명</a:t>
            </a:r>
          </a:p>
          <a:p>
            <a:pPr algn="l">
              <a:lnSpc>
                <a:spcPct val="142000"/>
              </a:lnSpc>
            </a:pPr>
            <a:r>
              <a:rPr sz="869" b="0">
                <a:solidFill>
                  <a:srgbClr val="3E4041"/>
                </a:solidFill>
                <a:latin typeface="NanumGothic"/>
                <a:ea typeface="NanumGothic"/>
              </a:rPr>
              <a:t>기타 4명</a:t>
            </a:r>
          </a:p>
        </p:txBody>
      </p:sp>
      <p:sp>
        <p:nvSpPr>
          <p:cNvPr id="57" name="t21"/>
          <p:cNvSpPr txBox="1"/>
          <p:nvPr/>
        </p:nvSpPr>
        <p:spPr>
          <a:xfrm>
            <a:off x="694303" y="5261610"/>
            <a:ext cx="185988" cy="1249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0">
                <a:solidFill>
                  <a:srgbClr val="4F5958"/>
                </a:solidFill>
                <a:latin typeface="NanumGothic"/>
                <a:ea typeface="NanumGothic"/>
              </a:rPr>
              <a:t>15</a:t>
            </a:r>
          </a:p>
        </p:txBody>
      </p:sp>
      <p:sp>
        <p:nvSpPr>
          <p:cNvPr id="58" name="t41"/>
          <p:cNvSpPr txBox="1"/>
          <p:nvPr/>
        </p:nvSpPr>
        <p:spPr>
          <a:xfrm>
            <a:off x="1000315" y="6760357"/>
            <a:ext cx="331471" cy="1319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10" b="1">
                <a:solidFill>
                  <a:srgbClr val="424546"/>
                </a:solidFill>
                <a:latin typeface="NanumGothic"/>
                <a:ea typeface="NanumGothic"/>
              </a:rPr>
              <a:t>2017</a:t>
            </a:r>
          </a:p>
        </p:txBody>
      </p:sp>
      <p:sp>
        <p:nvSpPr>
          <p:cNvPr id="59" name="t42"/>
          <p:cNvSpPr txBox="1"/>
          <p:nvPr/>
        </p:nvSpPr>
        <p:spPr>
          <a:xfrm>
            <a:off x="1535345" y="6765224"/>
            <a:ext cx="325624" cy="1295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1">
                <a:solidFill>
                  <a:srgbClr val="3F4242"/>
                </a:solidFill>
                <a:latin typeface="NanumGothic"/>
                <a:ea typeface="NanumGothic"/>
              </a:rPr>
              <a:t>2018</a:t>
            </a:r>
          </a:p>
        </p:txBody>
      </p:sp>
      <p:sp>
        <p:nvSpPr>
          <p:cNvPr id="60" name="t43"/>
          <p:cNvSpPr txBox="1"/>
          <p:nvPr/>
        </p:nvSpPr>
        <p:spPr>
          <a:xfrm>
            <a:off x="2070269" y="6769796"/>
            <a:ext cx="325624" cy="1295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1">
                <a:solidFill>
                  <a:srgbClr val="404444"/>
                </a:solidFill>
                <a:latin typeface="NanumGothic"/>
                <a:ea typeface="NanumGothic"/>
              </a:rPr>
              <a:t>2019</a:t>
            </a:r>
          </a:p>
        </p:txBody>
      </p:sp>
      <p:sp>
        <p:nvSpPr>
          <p:cNvPr id="61" name="t44"/>
          <p:cNvSpPr txBox="1"/>
          <p:nvPr/>
        </p:nvSpPr>
        <p:spPr>
          <a:xfrm>
            <a:off x="2605193" y="6774368"/>
            <a:ext cx="325624" cy="1295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90" b="1">
                <a:solidFill>
                  <a:srgbClr val="4A4C4C"/>
                </a:solidFill>
                <a:latin typeface="NanumGothic"/>
                <a:ea typeface="NanumGothic"/>
              </a:rPr>
              <a:t>2020</a:t>
            </a:r>
          </a:p>
        </p:txBody>
      </p:sp>
      <p:sp>
        <p:nvSpPr>
          <p:cNvPr id="62" name="t45"/>
          <p:cNvSpPr txBox="1"/>
          <p:nvPr/>
        </p:nvSpPr>
        <p:spPr>
          <a:xfrm>
            <a:off x="3140330" y="6779531"/>
            <a:ext cx="313930" cy="12483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474949"/>
                </a:solidFill>
                <a:latin typeface="NanumGothic"/>
                <a:ea typeface="NanumGothic"/>
              </a:rPr>
              <a:t>2021</a:t>
            </a:r>
          </a:p>
        </p:txBody>
      </p:sp>
      <p:sp>
        <p:nvSpPr>
          <p:cNvPr id="63" name="t49"/>
          <p:cNvSpPr txBox="1"/>
          <p:nvPr/>
        </p:nvSpPr>
        <p:spPr>
          <a:xfrm>
            <a:off x="848791" y="6927494"/>
            <a:ext cx="2732684" cy="3575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000"/>
              </a:lnSpc>
            </a:pPr>
            <a:r>
              <a:rPr sz="900" b="1">
                <a:solidFill>
                  <a:srgbClr val="454748"/>
                </a:solidFill>
                <a:latin typeface="NanumGothic"/>
                <a:ea typeface="NanumGothic"/>
              </a:rPr>
              <a:t>➜ 태양광 공사현장 사망사고의 86.7%는 추락사로서</a:t>
            </a:r>
          </a:p>
          <a:p>
            <a:pPr algn="l">
              <a:lnSpc>
                <a:spcPct val="127000"/>
              </a:lnSpc>
            </a:pPr>
            <a:r>
              <a:rPr sz="900" b="1">
                <a:solidFill>
                  <a:srgbClr val="454748"/>
                </a:solidFill>
                <a:latin typeface="NanumGothic"/>
                <a:ea typeface="NanumGothic"/>
              </a:rPr>
              <a:t>   이에 대한 안전계획을 수립함</a:t>
            </a:r>
          </a:p>
        </p:txBody>
      </p:sp>
      <p:sp>
        <p:nvSpPr>
          <p:cNvPr id="64" name="t52"/>
          <p:cNvSpPr txBox="1"/>
          <p:nvPr/>
        </p:nvSpPr>
        <p:spPr>
          <a:xfrm>
            <a:off x="5626635" y="7170327"/>
            <a:ext cx="1092375" cy="1439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0">
                <a:solidFill>
                  <a:srgbClr val="5C605E"/>
                </a:solidFill>
                <a:latin typeface="NanumGothic"/>
                <a:ea typeface="NanumGothic"/>
              </a:rPr>
              <a:t>* 출처 : 안전보건공단</a:t>
            </a:r>
          </a:p>
        </p:txBody>
      </p:sp>
      <p:sp>
        <p:nvSpPr>
          <p:cNvPr id="65" name="t53"/>
          <p:cNvSpPr txBox="1"/>
          <p:nvPr/>
        </p:nvSpPr>
        <p:spPr>
          <a:xfrm>
            <a:off x="568221" y="7494561"/>
            <a:ext cx="4190714" cy="183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0">
                <a:solidFill>
                  <a:srgbClr val="393B3A"/>
                </a:solidFill>
                <a:latin typeface="NanumGothic"/>
                <a:ea typeface="NanumGothic"/>
              </a:rPr>
              <a:t>(3) 최근 발생한 대형 건설사고(검단신도시 아파트 건설현장 붕괴사고)</a:t>
            </a:r>
          </a:p>
        </p:txBody>
      </p:sp>
      <p:sp>
        <p:nvSpPr>
          <p:cNvPr id="66" name="t54"/>
          <p:cNvSpPr txBox="1"/>
          <p:nvPr/>
        </p:nvSpPr>
        <p:spPr>
          <a:xfrm>
            <a:off x="2882204" y="7784796"/>
            <a:ext cx="809808" cy="8720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3000"/>
              </a:lnSpc>
            </a:pPr>
            <a:r>
              <a:rPr sz="1060" b="1">
                <a:solidFill>
                  <a:srgbClr val="3D3F40"/>
                </a:solidFill>
                <a:latin typeface="NanumGothic"/>
                <a:ea typeface="NanumGothic"/>
              </a:rPr>
              <a:t>발 생 일 시</a:t>
            </a:r>
          </a:p>
          <a:p>
            <a:pPr algn="l">
              <a:lnSpc>
                <a:spcPct val="133000"/>
              </a:lnSpc>
            </a:pPr>
            <a:r>
              <a:rPr sz="1060" b="1">
                <a:solidFill>
                  <a:srgbClr val="3D3F40"/>
                </a:solidFill>
                <a:latin typeface="NanumGothic"/>
                <a:ea typeface="NanumGothic"/>
              </a:rPr>
              <a:t>발 생 위 치</a:t>
            </a:r>
          </a:p>
          <a:p>
            <a:pPr algn="l">
              <a:lnSpc>
                <a:spcPct val="133000"/>
              </a:lnSpc>
            </a:pPr>
            <a:r>
              <a:rPr sz="1060" b="1">
                <a:solidFill>
                  <a:srgbClr val="3D3F40"/>
                </a:solidFill>
                <a:latin typeface="NanumGothic"/>
                <a:ea typeface="NanumGothic"/>
              </a:rPr>
              <a:t>피 해 규 모</a:t>
            </a:r>
          </a:p>
          <a:p>
            <a:pPr algn="l">
              <a:lnSpc>
                <a:spcPct val="133000"/>
              </a:lnSpc>
            </a:pPr>
            <a:r>
              <a:rPr sz="1060" b="1">
                <a:solidFill>
                  <a:srgbClr val="3D3F40"/>
                </a:solidFill>
                <a:latin typeface="NanumGothic"/>
                <a:ea typeface="NanumGothic"/>
              </a:rPr>
              <a:t>관 할 기 관</a:t>
            </a:r>
          </a:p>
        </p:txBody>
      </p:sp>
      <p:sp>
        <p:nvSpPr>
          <p:cNvPr id="67" name="t55"/>
          <p:cNvSpPr txBox="1"/>
          <p:nvPr/>
        </p:nvSpPr>
        <p:spPr>
          <a:xfrm>
            <a:off x="3623797" y="7780484"/>
            <a:ext cx="3171397" cy="881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4000"/>
              </a:lnSpc>
            </a:pPr>
            <a:r>
              <a:rPr sz="930" b="0">
                <a:solidFill>
                  <a:srgbClr val="505251"/>
                </a:solidFill>
                <a:latin typeface="NanumGothic"/>
                <a:ea typeface="NanumGothic"/>
              </a:rPr>
              <a:t>2023년 4월 29일 밤 11시 30분경</a:t>
            </a:r>
          </a:p>
          <a:p>
            <a:pPr algn="l">
              <a:lnSpc>
                <a:spcPct val="154000"/>
              </a:lnSpc>
            </a:pPr>
            <a:r>
              <a:rPr sz="930" b="0">
                <a:solidFill>
                  <a:srgbClr val="505251"/>
                </a:solidFill>
                <a:latin typeface="NanumGothic"/>
                <a:ea typeface="NanumGothic"/>
              </a:rPr>
              <a:t>인천광역시 서구 원당동 검단신도시 안단테 아파트 신축 현장</a:t>
            </a:r>
          </a:p>
          <a:p>
            <a:pPr algn="l">
              <a:lnSpc>
                <a:spcPct val="154000"/>
              </a:lnSpc>
            </a:pPr>
            <a:r>
              <a:rPr sz="930" b="0">
                <a:solidFill>
                  <a:srgbClr val="505251"/>
                </a:solidFill>
                <a:latin typeface="NanumGothic"/>
                <a:ea typeface="NanumGothic"/>
              </a:rPr>
              <a:t>지하주차장 2개층 지붕 구조물 총 970㎡ 파손</a:t>
            </a:r>
          </a:p>
          <a:p>
            <a:pPr algn="l">
              <a:lnSpc>
                <a:spcPct val="154000"/>
              </a:lnSpc>
            </a:pPr>
            <a:r>
              <a:rPr sz="930" b="0">
                <a:solidFill>
                  <a:srgbClr val="505251"/>
                </a:solidFill>
                <a:latin typeface="NanumGothic"/>
                <a:ea typeface="NanumGothic"/>
              </a:rPr>
              <a:t>인천광역시 서구청, 인천경찰청</a:t>
            </a:r>
          </a:p>
        </p:txBody>
      </p:sp>
      <p:sp>
        <p:nvSpPr>
          <p:cNvPr id="68" name="t56"/>
          <p:cNvSpPr txBox="1"/>
          <p:nvPr/>
        </p:nvSpPr>
        <p:spPr>
          <a:xfrm>
            <a:off x="3619273" y="8687190"/>
            <a:ext cx="2713133" cy="3463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19" b="0">
                <a:solidFill>
                  <a:srgbClr val="484A49"/>
                </a:solidFill>
                <a:latin typeface="NanumGothic"/>
                <a:ea typeface="NanumGothic"/>
              </a:rPr>
              <a:t>지하주차장 1층 지붕층인 어린이 놀이터 예정</a:t>
            </a:r>
          </a:p>
          <a:p>
            <a:pPr algn="l">
              <a:lnSpc>
                <a:spcPct val="120000"/>
              </a:lnSpc>
            </a:pPr>
            <a:r>
              <a:rPr sz="919" b="0">
                <a:solidFill>
                  <a:srgbClr val="484A49"/>
                </a:solidFill>
                <a:latin typeface="NanumGothic"/>
                <a:ea typeface="NanumGothic"/>
              </a:rPr>
              <a:t>지점과 지하주차장 2층의 지붕층이 연쇄적으로 붕괴</a:t>
            </a:r>
          </a:p>
        </p:txBody>
      </p:sp>
      <p:sp>
        <p:nvSpPr>
          <p:cNvPr id="69" name="t57"/>
          <p:cNvSpPr txBox="1"/>
          <p:nvPr/>
        </p:nvSpPr>
        <p:spPr>
          <a:xfrm>
            <a:off x="2886468" y="8775394"/>
            <a:ext cx="735946" cy="1782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10" b="1">
                <a:solidFill>
                  <a:srgbClr val="3D3F40"/>
                </a:solidFill>
                <a:latin typeface="NanumGothic"/>
                <a:ea typeface="NanumGothic"/>
              </a:rPr>
              <a:t>발 생 상 황</a:t>
            </a:r>
          </a:p>
        </p:txBody>
      </p:sp>
      <p:sp>
        <p:nvSpPr>
          <p:cNvPr id="70" name="t58"/>
          <p:cNvSpPr txBox="1"/>
          <p:nvPr/>
        </p:nvSpPr>
        <p:spPr>
          <a:xfrm>
            <a:off x="3605813" y="9093882"/>
            <a:ext cx="3192141" cy="7048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9000"/>
              </a:lnSpc>
            </a:pPr>
            <a:r>
              <a:rPr sz="880" b="0">
                <a:solidFill>
                  <a:srgbClr val="4B4D4C"/>
                </a:solidFill>
                <a:latin typeface="NanumGothic"/>
                <a:ea typeface="NanumGothic"/>
              </a:rPr>
              <a:t>• 설계·감리·시공 등 총체적 부실로 인한 전단보강철근의 미설치</a:t>
            </a:r>
          </a:p>
          <a:p>
            <a:pPr algn="l">
              <a:lnSpc>
                <a:spcPct val="129000"/>
              </a:lnSpc>
            </a:pPr>
            <a:r>
              <a:rPr sz="880" b="0">
                <a:solidFill>
                  <a:srgbClr val="4B4D4C"/>
                </a:solidFill>
                <a:latin typeface="NanumGothic"/>
                <a:ea typeface="NanumGothic"/>
              </a:rPr>
              <a:t>• 붕괴구간 콘크리트 강도부족 등 품질관리 미흡</a:t>
            </a:r>
          </a:p>
          <a:p>
            <a:pPr algn="l">
              <a:lnSpc>
                <a:spcPct val="129000"/>
              </a:lnSpc>
            </a:pPr>
            <a:r>
              <a:rPr sz="880" b="0">
                <a:solidFill>
                  <a:srgbClr val="4B4D4C"/>
                </a:solidFill>
                <a:latin typeface="NanumGothic"/>
                <a:ea typeface="NanumGothic"/>
              </a:rPr>
              <a:t>• 공사과정에서 추가되는 하중을 적게 고려</a:t>
            </a:r>
          </a:p>
          <a:p>
            <a:pPr algn="l">
              <a:lnSpc>
                <a:spcPct val="129000"/>
              </a:lnSpc>
            </a:pPr>
            <a:r>
              <a:rPr sz="880" b="0">
                <a:solidFill>
                  <a:srgbClr val="4B4D4C"/>
                </a:solidFill>
                <a:latin typeface="NanumGothic"/>
                <a:ea typeface="NanumGothic"/>
              </a:rPr>
              <a:t>• 골조가 완료될 때까지 지하주차장 정기안전점검을 미실시</a:t>
            </a:r>
          </a:p>
        </p:txBody>
      </p:sp>
      <p:sp>
        <p:nvSpPr>
          <p:cNvPr id="71" name="t59"/>
          <p:cNvSpPr txBox="1"/>
          <p:nvPr/>
        </p:nvSpPr>
        <p:spPr>
          <a:xfrm>
            <a:off x="2881952" y="9360767"/>
            <a:ext cx="730698" cy="1769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3F40"/>
                </a:solidFill>
                <a:latin typeface="NanumGothic"/>
                <a:ea typeface="NanumGothic"/>
              </a:rPr>
              <a:t>발 생 원 인</a:t>
            </a:r>
          </a:p>
        </p:txBody>
      </p:sp>
      <p:sp>
        <p:nvSpPr>
          <p:cNvPr id="72" name="page-number"/>
          <p:cNvSpPr txBox="1"/>
          <p:nvPr/>
        </p:nvSpPr>
        <p:spPr>
          <a:xfrm>
            <a:off x="6497726" y="9989820"/>
            <a:ext cx="327355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A3C3C"/>
                </a:solidFill>
                <a:latin typeface="NanumGothic"/>
                <a:ea typeface="NanumGothic"/>
              </a:rPr>
              <a:t>37</a:t>
            </a:r>
          </a:p>
        </p:txBody>
      </p:sp>
      <p:sp>
        <p:nvSpPr>
          <p:cNvPr id="73" name="a8"/>
          <p:cNvSpPr txBox="1"/>
          <p:nvPr/>
        </p:nvSpPr>
        <p:spPr>
          <a:xfrm>
            <a:off x="599681" y="845362"/>
            <a:ext cx="1335170" cy="1956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1">
                <a:solidFill>
                  <a:srgbClr val="2F3131"/>
                </a:solidFill>
                <a:latin typeface="NanumGothic"/>
                <a:ea typeface="NanumGothic"/>
              </a:rPr>
              <a:t>1. 건설안전 관리</a:t>
            </a:r>
          </a:p>
        </p:txBody>
      </p:sp>
      <p:sp>
        <p:nvSpPr>
          <p:cNvPr id="74" name="a9"/>
          <p:cNvSpPr txBox="1"/>
          <p:nvPr/>
        </p:nvSpPr>
        <p:spPr>
          <a:xfrm>
            <a:off x="599948" y="1102134"/>
            <a:ext cx="3576827" cy="1897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90" b="1">
                <a:solidFill>
                  <a:srgbClr val="2F3131"/>
                </a:solidFill>
                <a:latin typeface="NanumGothic"/>
                <a:ea typeface="NanumGothic"/>
              </a:rPr>
              <a:t>1.1 건설 중 발생 가능한 각종 재난,사고 등 위험요소 분석</a:t>
            </a:r>
          </a:p>
        </p:txBody>
      </p:sp>
      <p:sp>
        <p:nvSpPr>
          <p:cNvPr id="75" name="a10"/>
          <p:cNvSpPr txBox="1"/>
          <p:nvPr/>
        </p:nvSpPr>
        <p:spPr>
          <a:xfrm>
            <a:off x="599681" y="1339138"/>
            <a:ext cx="2341010" cy="1956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20" b="0">
                <a:solidFill>
                  <a:srgbClr val="2F3131"/>
                </a:solidFill>
                <a:latin typeface="NanumGothic"/>
                <a:ea typeface="NanumGothic"/>
              </a:rPr>
              <a:t>(1) 건설 중 발생 가능한 각종 재난</a:t>
            </a:r>
          </a:p>
        </p:txBody>
      </p:sp>
      <p:sp>
        <p:nvSpPr>
          <p:cNvPr id="76" name="a11"/>
          <p:cNvSpPr txBox="1"/>
          <p:nvPr/>
        </p:nvSpPr>
        <p:spPr>
          <a:xfrm>
            <a:off x="2412815" y="2007040"/>
            <a:ext cx="1311151" cy="650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840" b="0">
                <a:solidFill>
                  <a:srgbClr val="454747"/>
                </a:solidFill>
                <a:latin typeface="NanumGothic"/>
                <a:ea typeface="NanumGothic"/>
              </a:rPr>
              <a:t>• 성토 구조물, 패널 유실</a:t>
            </a:r>
          </a:p>
          <a:p>
            <a:pPr algn="l">
              <a:lnSpc>
                <a:spcPct val="125000"/>
              </a:lnSpc>
            </a:pPr>
            <a:r>
              <a:rPr sz="840" b="0">
                <a:solidFill>
                  <a:srgbClr val="454747"/>
                </a:solidFill>
                <a:latin typeface="NanumGothic"/>
                <a:ea typeface="NanumGothic"/>
              </a:rPr>
              <a:t>• 설비 불량 발생</a:t>
            </a:r>
          </a:p>
          <a:p>
            <a:pPr algn="l">
              <a:lnSpc>
                <a:spcPct val="125000"/>
              </a:lnSpc>
            </a:pPr>
            <a:r>
              <a:rPr sz="840" b="0">
                <a:solidFill>
                  <a:srgbClr val="454747"/>
                </a:solidFill>
                <a:latin typeface="NanumGothic"/>
                <a:ea typeface="NanumGothic"/>
              </a:rPr>
              <a:t>• 근로자 안전사고</a:t>
            </a:r>
          </a:p>
          <a:p>
            <a:pPr algn="l">
              <a:lnSpc>
                <a:spcPct val="125000"/>
              </a:lnSpc>
            </a:pPr>
            <a:r>
              <a:rPr sz="840" b="0">
                <a:solidFill>
                  <a:srgbClr val="454747"/>
                </a:solidFill>
                <a:latin typeface="NanumGothic"/>
                <a:ea typeface="NanumGothic"/>
              </a:rPr>
              <a:t>• 감전사고 유발</a:t>
            </a:r>
          </a:p>
        </p:txBody>
      </p:sp>
      <p:sp>
        <p:nvSpPr>
          <p:cNvPr id="77" name="a12"/>
          <p:cNvSpPr txBox="1"/>
          <p:nvPr/>
        </p:nvSpPr>
        <p:spPr>
          <a:xfrm>
            <a:off x="3757143" y="2172519"/>
            <a:ext cx="553244" cy="37583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7000"/>
              </a:lnSpc>
            </a:pPr>
            <a:r>
              <a:rPr sz="819" b="1">
                <a:solidFill>
                  <a:srgbClr val="373A39"/>
                </a:solidFill>
                <a:latin typeface="NanumGothic"/>
                <a:ea typeface="NanumGothic"/>
              </a:rPr>
              <a:t>화    재</a:t>
            </a:r>
          </a:p>
          <a:p>
            <a:pPr algn="l">
              <a:lnSpc>
                <a:spcPct val="147000"/>
              </a:lnSpc>
            </a:pPr>
            <a:r>
              <a:rPr sz="819" b="1">
                <a:solidFill>
                  <a:srgbClr val="373A39"/>
                </a:solidFill>
                <a:latin typeface="NanumGothic"/>
                <a:ea typeface="NanumGothic"/>
              </a:rPr>
              <a:t>산    불</a:t>
            </a:r>
          </a:p>
        </p:txBody>
      </p:sp>
      <p:sp>
        <p:nvSpPr>
          <p:cNvPr id="78" name="a13"/>
          <p:cNvSpPr txBox="1"/>
          <p:nvPr/>
        </p:nvSpPr>
        <p:spPr>
          <a:xfrm>
            <a:off x="3757228" y="3100087"/>
            <a:ext cx="551374" cy="375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9000"/>
              </a:lnSpc>
            </a:pPr>
            <a:r>
              <a:rPr sz="810" b="1">
                <a:solidFill>
                  <a:srgbClr val="373A39"/>
                </a:solidFill>
                <a:latin typeface="NanumGothic"/>
                <a:ea typeface="NanumGothic"/>
              </a:rPr>
              <a:t>교    통</a:t>
            </a:r>
          </a:p>
          <a:p>
            <a:pPr algn="l">
              <a:lnSpc>
                <a:spcPct val="149000"/>
              </a:lnSpc>
            </a:pPr>
            <a:r>
              <a:rPr sz="810" b="1">
                <a:solidFill>
                  <a:srgbClr val="373A39"/>
                </a:solidFill>
                <a:latin typeface="NanumGothic"/>
                <a:ea typeface="NanumGothic"/>
              </a:rPr>
              <a:t>재    난</a:t>
            </a:r>
          </a:p>
        </p:txBody>
      </p:sp>
      <p:sp>
        <p:nvSpPr>
          <p:cNvPr id="79" name="a14"/>
          <p:cNvSpPr txBox="1"/>
          <p:nvPr/>
        </p:nvSpPr>
        <p:spPr>
          <a:xfrm>
            <a:off x="3752486" y="4025398"/>
            <a:ext cx="555115" cy="373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4000"/>
              </a:lnSpc>
            </a:pPr>
            <a:r>
              <a:rPr sz="830" b="1">
                <a:solidFill>
                  <a:srgbClr val="373A39"/>
                </a:solidFill>
                <a:latin typeface="NanumGothic"/>
                <a:ea typeface="NanumGothic"/>
              </a:rPr>
              <a:t>추    락</a:t>
            </a:r>
          </a:p>
          <a:p>
            <a:pPr algn="l">
              <a:lnSpc>
                <a:spcPct val="144000"/>
              </a:lnSpc>
            </a:pPr>
            <a:r>
              <a:rPr sz="830" b="1">
                <a:solidFill>
                  <a:srgbClr val="373A39"/>
                </a:solidFill>
                <a:latin typeface="NanumGothic"/>
                <a:ea typeface="NanumGothic"/>
              </a:rPr>
              <a:t>붕    괴</a:t>
            </a:r>
          </a:p>
        </p:txBody>
      </p:sp>
      <p:sp>
        <p:nvSpPr>
          <p:cNvPr id="80" name="a36"/>
          <p:cNvSpPr txBox="1"/>
          <p:nvPr/>
        </p:nvSpPr>
        <p:spPr>
          <a:xfrm>
            <a:off x="3756460" y="5436908"/>
            <a:ext cx="1524871" cy="1490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>
                <a:solidFill>
                  <a:srgbClr val="484A49"/>
                </a:solidFill>
                <a:latin typeface="NanumGothic"/>
                <a:ea typeface="NanumGothic"/>
              </a:rPr>
              <a:t>• 신재생에너지원별 생애주기</a:t>
            </a:r>
          </a:p>
        </p:txBody>
      </p:sp>
      <p:sp>
        <p:nvSpPr>
          <p:cNvPr id="81" name="a37"/>
          <p:cNvSpPr txBox="1"/>
          <p:nvPr/>
        </p:nvSpPr>
        <p:spPr>
          <a:xfrm>
            <a:off x="6175747" y="5452567"/>
            <a:ext cx="547213" cy="1335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0">
                <a:solidFill>
                  <a:srgbClr val="454747"/>
                </a:solidFill>
                <a:latin typeface="NanumGothic"/>
                <a:ea typeface="NanumGothic"/>
              </a:rPr>
              <a:t>(단위 : 명)</a:t>
            </a:r>
          </a:p>
        </p:txBody>
      </p:sp>
      <p:sp>
        <p:nvSpPr>
          <p:cNvPr id="82" name="a38"/>
          <p:cNvSpPr txBox="1"/>
          <p:nvPr/>
        </p:nvSpPr>
        <p:spPr>
          <a:xfrm>
            <a:off x="3751888" y="6017552"/>
            <a:ext cx="1529443" cy="1490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>
                <a:solidFill>
                  <a:srgbClr val="484A49"/>
                </a:solidFill>
                <a:latin typeface="NanumGothic"/>
                <a:ea typeface="NanumGothic"/>
              </a:rPr>
              <a:t>• 신재생에너지원별 발생형태</a:t>
            </a:r>
          </a:p>
        </p:txBody>
      </p:sp>
      <p:sp>
        <p:nvSpPr>
          <p:cNvPr id="83" name="a39"/>
          <p:cNvSpPr txBox="1"/>
          <p:nvPr/>
        </p:nvSpPr>
        <p:spPr>
          <a:xfrm>
            <a:off x="6171175" y="6033211"/>
            <a:ext cx="547213" cy="1335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19" b="0">
                <a:solidFill>
                  <a:srgbClr val="454747"/>
                </a:solidFill>
                <a:latin typeface="NanumGothic"/>
                <a:ea typeface="NanumGothic"/>
              </a:rPr>
              <a:t>(단위 : 명)</a:t>
            </a:r>
          </a:p>
        </p:txBody>
      </p:sp>
      <p:sp>
        <p:nvSpPr>
          <p:cNvPr id="84" name="a40"/>
          <p:cNvSpPr txBox="1"/>
          <p:nvPr/>
        </p:nvSpPr>
        <p:spPr>
          <a:xfrm>
            <a:off x="3751797" y="6597944"/>
            <a:ext cx="1649404" cy="15106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>
                <a:solidFill>
                  <a:srgbClr val="484A49"/>
                </a:solidFill>
                <a:latin typeface="NanumGothic"/>
                <a:ea typeface="NanumGothic"/>
              </a:rPr>
              <a:t>• 신재생에너지원별 기인물현황</a:t>
            </a:r>
          </a:p>
        </p:txBody>
      </p:sp>
      <p:sp>
        <p:nvSpPr>
          <p:cNvPr id="85" name="a41"/>
          <p:cNvSpPr txBox="1"/>
          <p:nvPr/>
        </p:nvSpPr>
        <p:spPr>
          <a:xfrm>
            <a:off x="6166308" y="6617606"/>
            <a:ext cx="555331" cy="1400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60" b="0">
                <a:solidFill>
                  <a:srgbClr val="454747"/>
                </a:solidFill>
                <a:latin typeface="NanumGothic"/>
                <a:ea typeface="NanumGothic"/>
              </a:rPr>
              <a:t>(단위 : 명)</a:t>
            </a:r>
          </a:p>
        </p:txBody>
      </p:sp>
      <p:sp>
        <p:nvSpPr>
          <p:cNvPr id="86" name="a42"/>
          <p:cNvSpPr txBox="1"/>
          <p:nvPr/>
        </p:nvSpPr>
        <p:spPr>
          <a:xfrm>
            <a:off x="3710973" y="5634151"/>
            <a:ext cx="653393" cy="1438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3D3F40"/>
                </a:solidFill>
                <a:latin typeface="NanumGothic"/>
                <a:ea typeface="NanumGothic"/>
              </a:rPr>
              <a:t>설치</a:t>
            </a:r>
          </a:p>
        </p:txBody>
      </p:sp>
      <p:sp>
        <p:nvSpPr>
          <p:cNvPr id="87" name="a43"/>
          <p:cNvSpPr txBox="1"/>
          <p:nvPr/>
        </p:nvSpPr>
        <p:spPr>
          <a:xfrm>
            <a:off x="4300761" y="5634151"/>
            <a:ext cx="671681" cy="1438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3D3F40"/>
                </a:solidFill>
                <a:latin typeface="NanumGothic"/>
                <a:ea typeface="NanumGothic"/>
              </a:rPr>
              <a:t>제조</a:t>
            </a:r>
          </a:p>
        </p:txBody>
      </p:sp>
      <p:sp>
        <p:nvSpPr>
          <p:cNvPr id="88" name="a44"/>
          <p:cNvSpPr txBox="1"/>
          <p:nvPr/>
        </p:nvSpPr>
        <p:spPr>
          <a:xfrm>
            <a:off x="4908837" y="5634151"/>
            <a:ext cx="639677" cy="1438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3D3F40"/>
                </a:solidFill>
                <a:latin typeface="NanumGothic"/>
                <a:ea typeface="NanumGothic"/>
              </a:rPr>
              <a:t>유지보수</a:t>
            </a:r>
          </a:p>
        </p:txBody>
      </p:sp>
      <p:sp>
        <p:nvSpPr>
          <p:cNvPr id="89" name="a45"/>
          <p:cNvSpPr txBox="1"/>
          <p:nvPr/>
        </p:nvSpPr>
        <p:spPr>
          <a:xfrm>
            <a:off x="5484909" y="5634151"/>
            <a:ext cx="657965" cy="1438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3D3F40"/>
                </a:solidFill>
                <a:latin typeface="NanumGothic"/>
                <a:ea typeface="NanumGothic"/>
              </a:rPr>
              <a:t>분류불능</a:t>
            </a:r>
          </a:p>
        </p:txBody>
      </p:sp>
      <p:sp>
        <p:nvSpPr>
          <p:cNvPr id="90" name="a46"/>
          <p:cNvSpPr txBox="1"/>
          <p:nvPr/>
        </p:nvSpPr>
        <p:spPr>
          <a:xfrm>
            <a:off x="6079269" y="5634151"/>
            <a:ext cx="680825" cy="1438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80" b="1">
                <a:solidFill>
                  <a:srgbClr val="3D3F40"/>
                </a:solidFill>
                <a:latin typeface="NanumGothic"/>
                <a:ea typeface="NanumGothic"/>
              </a:rPr>
              <a:t>합 계</a:t>
            </a:r>
          </a:p>
        </p:txBody>
      </p:sp>
      <p:sp>
        <p:nvSpPr>
          <p:cNvPr id="91" name="a47"/>
          <p:cNvSpPr txBox="1"/>
          <p:nvPr/>
        </p:nvSpPr>
        <p:spPr>
          <a:xfrm>
            <a:off x="3711439" y="5818327"/>
            <a:ext cx="647797" cy="1335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0">
                <a:solidFill>
                  <a:srgbClr val="3D3F40"/>
                </a:solidFill>
                <a:latin typeface="NanumGothic"/>
                <a:ea typeface="NanumGothic"/>
              </a:rPr>
              <a:t>23</a:t>
            </a:r>
          </a:p>
        </p:txBody>
      </p:sp>
      <p:sp>
        <p:nvSpPr>
          <p:cNvPr id="92" name="a48"/>
          <p:cNvSpPr txBox="1"/>
          <p:nvPr/>
        </p:nvSpPr>
        <p:spPr>
          <a:xfrm>
            <a:off x="4301227" y="5818327"/>
            <a:ext cx="666085" cy="1335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0">
                <a:solidFill>
                  <a:srgbClr val="3D3F40"/>
                </a:solidFill>
                <a:latin typeface="NanumGothic"/>
                <a:ea typeface="NanumGothic"/>
              </a:rPr>
              <a:t>1</a:t>
            </a:r>
          </a:p>
        </p:txBody>
      </p:sp>
      <p:sp>
        <p:nvSpPr>
          <p:cNvPr id="93" name="a49"/>
          <p:cNvSpPr txBox="1"/>
          <p:nvPr/>
        </p:nvSpPr>
        <p:spPr>
          <a:xfrm>
            <a:off x="4909303" y="5818327"/>
            <a:ext cx="634081" cy="1335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0">
                <a:solidFill>
                  <a:srgbClr val="3D3F40"/>
                </a:solidFill>
                <a:latin typeface="NanumGothic"/>
                <a:ea typeface="NanumGothic"/>
              </a:rPr>
              <a:t>5</a:t>
            </a:r>
          </a:p>
        </p:txBody>
      </p:sp>
      <p:sp>
        <p:nvSpPr>
          <p:cNvPr id="94" name="a50"/>
          <p:cNvSpPr txBox="1"/>
          <p:nvPr/>
        </p:nvSpPr>
        <p:spPr>
          <a:xfrm>
            <a:off x="5485375" y="5818327"/>
            <a:ext cx="652369" cy="1335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0">
                <a:solidFill>
                  <a:srgbClr val="3D3F40"/>
                </a:solidFill>
                <a:latin typeface="NanumGothic"/>
                <a:ea typeface="NanumGothic"/>
              </a:rPr>
              <a:t>1</a:t>
            </a:r>
          </a:p>
        </p:txBody>
      </p:sp>
      <p:sp>
        <p:nvSpPr>
          <p:cNvPr id="95" name="a51"/>
          <p:cNvSpPr txBox="1"/>
          <p:nvPr/>
        </p:nvSpPr>
        <p:spPr>
          <a:xfrm>
            <a:off x="6079735" y="5818327"/>
            <a:ext cx="675229" cy="1335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0">
                <a:solidFill>
                  <a:srgbClr val="3D3F40"/>
                </a:solidFill>
                <a:latin typeface="NanumGothic"/>
                <a:ea typeface="NanumGothic"/>
              </a:rPr>
              <a:t>30</a:t>
            </a:r>
          </a:p>
        </p:txBody>
      </p:sp>
      <p:sp>
        <p:nvSpPr>
          <p:cNvPr id="96" name="a52"/>
          <p:cNvSpPr txBox="1"/>
          <p:nvPr/>
        </p:nvSpPr>
        <p:spPr>
          <a:xfrm>
            <a:off x="3710740" y="6223292"/>
            <a:ext cx="656191" cy="1490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>
                <a:solidFill>
                  <a:srgbClr val="3D3F40"/>
                </a:solidFill>
                <a:latin typeface="NanumGothic"/>
                <a:ea typeface="NanumGothic"/>
              </a:rPr>
              <a:t>추락사</a:t>
            </a:r>
          </a:p>
        </p:txBody>
      </p:sp>
      <p:sp>
        <p:nvSpPr>
          <p:cNvPr id="97" name="a53"/>
          <p:cNvSpPr txBox="1"/>
          <p:nvPr/>
        </p:nvSpPr>
        <p:spPr>
          <a:xfrm>
            <a:off x="4300528" y="6223292"/>
            <a:ext cx="674479" cy="1490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>
                <a:solidFill>
                  <a:srgbClr val="3D3F40"/>
                </a:solidFill>
                <a:latin typeface="NanumGothic"/>
                <a:ea typeface="NanumGothic"/>
              </a:rPr>
              <a:t>익사</a:t>
            </a:r>
          </a:p>
        </p:txBody>
      </p:sp>
      <p:sp>
        <p:nvSpPr>
          <p:cNvPr id="98" name="a54"/>
          <p:cNvSpPr txBox="1"/>
          <p:nvPr/>
        </p:nvSpPr>
        <p:spPr>
          <a:xfrm>
            <a:off x="4908604" y="6223292"/>
            <a:ext cx="642475" cy="1490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>
                <a:solidFill>
                  <a:srgbClr val="3D3F40"/>
                </a:solidFill>
                <a:latin typeface="NanumGothic"/>
                <a:ea typeface="NanumGothic"/>
              </a:rPr>
              <a:t>끼임</a:t>
            </a:r>
          </a:p>
        </p:txBody>
      </p:sp>
      <p:sp>
        <p:nvSpPr>
          <p:cNvPr id="99" name="a55"/>
          <p:cNvSpPr txBox="1"/>
          <p:nvPr/>
        </p:nvSpPr>
        <p:spPr>
          <a:xfrm>
            <a:off x="5484676" y="6223292"/>
            <a:ext cx="660763" cy="1490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>
                <a:solidFill>
                  <a:srgbClr val="3D3F40"/>
                </a:solidFill>
                <a:latin typeface="NanumGothic"/>
                <a:ea typeface="NanumGothic"/>
              </a:rPr>
              <a:t>감전 등</a:t>
            </a:r>
          </a:p>
        </p:txBody>
      </p:sp>
      <p:sp>
        <p:nvSpPr>
          <p:cNvPr id="100" name="a56"/>
          <p:cNvSpPr txBox="1"/>
          <p:nvPr/>
        </p:nvSpPr>
        <p:spPr>
          <a:xfrm>
            <a:off x="6079036" y="6223292"/>
            <a:ext cx="683623" cy="1490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>
                <a:solidFill>
                  <a:srgbClr val="3D3F40"/>
                </a:solidFill>
                <a:latin typeface="NanumGothic"/>
                <a:ea typeface="NanumGothic"/>
              </a:rPr>
              <a:t>합 계</a:t>
            </a:r>
          </a:p>
        </p:txBody>
      </p:sp>
      <p:sp>
        <p:nvSpPr>
          <p:cNvPr id="101" name="a57"/>
          <p:cNvSpPr txBox="1"/>
          <p:nvPr/>
        </p:nvSpPr>
        <p:spPr>
          <a:xfrm>
            <a:off x="3711439" y="6403543"/>
            <a:ext cx="647797" cy="1335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0">
                <a:solidFill>
                  <a:srgbClr val="3D3F40"/>
                </a:solidFill>
                <a:latin typeface="NanumGothic"/>
                <a:ea typeface="NanumGothic"/>
              </a:rPr>
              <a:t>26</a:t>
            </a:r>
          </a:p>
        </p:txBody>
      </p:sp>
      <p:sp>
        <p:nvSpPr>
          <p:cNvPr id="102" name="a58"/>
          <p:cNvSpPr txBox="1"/>
          <p:nvPr/>
        </p:nvSpPr>
        <p:spPr>
          <a:xfrm>
            <a:off x="4301227" y="6403543"/>
            <a:ext cx="666085" cy="1335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0">
                <a:solidFill>
                  <a:srgbClr val="3D3F40"/>
                </a:solidFill>
                <a:latin typeface="NanumGothic"/>
                <a:ea typeface="NanumGothic"/>
              </a:rPr>
              <a:t>1</a:t>
            </a:r>
          </a:p>
        </p:txBody>
      </p:sp>
      <p:sp>
        <p:nvSpPr>
          <p:cNvPr id="103" name="a59"/>
          <p:cNvSpPr txBox="1"/>
          <p:nvPr/>
        </p:nvSpPr>
        <p:spPr>
          <a:xfrm>
            <a:off x="4909303" y="6403543"/>
            <a:ext cx="634081" cy="1335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0">
                <a:solidFill>
                  <a:srgbClr val="3D3F40"/>
                </a:solidFill>
                <a:latin typeface="NanumGothic"/>
                <a:ea typeface="NanumGothic"/>
              </a:rPr>
              <a:t>1</a:t>
            </a:r>
          </a:p>
        </p:txBody>
      </p:sp>
      <p:sp>
        <p:nvSpPr>
          <p:cNvPr id="104" name="a60"/>
          <p:cNvSpPr txBox="1"/>
          <p:nvPr/>
        </p:nvSpPr>
        <p:spPr>
          <a:xfrm>
            <a:off x="5485375" y="6403543"/>
            <a:ext cx="652369" cy="1335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0">
                <a:solidFill>
                  <a:srgbClr val="3D3F40"/>
                </a:solidFill>
                <a:latin typeface="NanumGothic"/>
                <a:ea typeface="NanumGothic"/>
              </a:rPr>
              <a:t>2</a:t>
            </a:r>
          </a:p>
        </p:txBody>
      </p:sp>
      <p:sp>
        <p:nvSpPr>
          <p:cNvPr id="105" name="a61"/>
          <p:cNvSpPr txBox="1"/>
          <p:nvPr/>
        </p:nvSpPr>
        <p:spPr>
          <a:xfrm>
            <a:off x="6079735" y="6403543"/>
            <a:ext cx="675229" cy="1335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0">
                <a:solidFill>
                  <a:srgbClr val="3D3F40"/>
                </a:solidFill>
                <a:latin typeface="NanumGothic"/>
                <a:ea typeface="NanumGothic"/>
              </a:rPr>
              <a:t>30</a:t>
            </a:r>
          </a:p>
        </p:txBody>
      </p:sp>
      <p:sp>
        <p:nvSpPr>
          <p:cNvPr id="106" name="a62"/>
          <p:cNvSpPr txBox="1"/>
          <p:nvPr/>
        </p:nvSpPr>
        <p:spPr>
          <a:xfrm>
            <a:off x="3710740" y="6799364"/>
            <a:ext cx="656191" cy="1490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>
                <a:solidFill>
                  <a:srgbClr val="3D3F40"/>
                </a:solidFill>
                <a:latin typeface="NanumGothic"/>
                <a:ea typeface="NanumGothic"/>
              </a:rPr>
              <a:t>지붕</a:t>
            </a:r>
          </a:p>
        </p:txBody>
      </p:sp>
      <p:sp>
        <p:nvSpPr>
          <p:cNvPr id="107" name="a63"/>
          <p:cNvSpPr txBox="1"/>
          <p:nvPr/>
        </p:nvSpPr>
        <p:spPr>
          <a:xfrm>
            <a:off x="4300528" y="6799364"/>
            <a:ext cx="674479" cy="1490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>
                <a:solidFill>
                  <a:srgbClr val="3D3F40"/>
                </a:solidFill>
                <a:latin typeface="NanumGothic"/>
                <a:ea typeface="NanumGothic"/>
              </a:rPr>
              <a:t>사다리</a:t>
            </a:r>
          </a:p>
        </p:txBody>
      </p:sp>
      <p:sp>
        <p:nvSpPr>
          <p:cNvPr id="108" name="a64"/>
          <p:cNvSpPr txBox="1"/>
          <p:nvPr/>
        </p:nvSpPr>
        <p:spPr>
          <a:xfrm>
            <a:off x="4908604" y="6799364"/>
            <a:ext cx="642475" cy="1490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>
                <a:solidFill>
                  <a:srgbClr val="3D3F40"/>
                </a:solidFill>
                <a:latin typeface="NanumGothic"/>
                <a:ea typeface="NanumGothic"/>
              </a:rPr>
              <a:t>전주</a:t>
            </a:r>
          </a:p>
        </p:txBody>
      </p:sp>
      <p:sp>
        <p:nvSpPr>
          <p:cNvPr id="109" name="a65"/>
          <p:cNvSpPr txBox="1"/>
          <p:nvPr/>
        </p:nvSpPr>
        <p:spPr>
          <a:xfrm>
            <a:off x="5485136" y="6800643"/>
            <a:ext cx="655237" cy="13881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>
                <a:solidFill>
                  <a:srgbClr val="3D3F40"/>
                </a:solidFill>
                <a:latin typeface="NanumGothic"/>
                <a:ea typeface="NanumGothic"/>
              </a:rPr>
              <a:t>기타(비계등)</a:t>
            </a:r>
          </a:p>
        </p:txBody>
      </p:sp>
      <p:sp>
        <p:nvSpPr>
          <p:cNvPr id="110" name="a66"/>
          <p:cNvSpPr txBox="1"/>
          <p:nvPr/>
        </p:nvSpPr>
        <p:spPr>
          <a:xfrm>
            <a:off x="6079036" y="6799364"/>
            <a:ext cx="683623" cy="14904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19" b="1">
                <a:solidFill>
                  <a:srgbClr val="3D3F40"/>
                </a:solidFill>
                <a:latin typeface="NanumGothic"/>
                <a:ea typeface="NanumGothic"/>
              </a:rPr>
              <a:t>합 계</a:t>
            </a:r>
          </a:p>
        </p:txBody>
      </p:sp>
      <p:sp>
        <p:nvSpPr>
          <p:cNvPr id="111" name="a67"/>
          <p:cNvSpPr txBox="1"/>
          <p:nvPr/>
        </p:nvSpPr>
        <p:spPr>
          <a:xfrm>
            <a:off x="3711439" y="6984187"/>
            <a:ext cx="647797" cy="1335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0">
                <a:solidFill>
                  <a:srgbClr val="3D3F40"/>
                </a:solidFill>
                <a:latin typeface="NanumGothic"/>
                <a:ea typeface="NanumGothic"/>
              </a:rPr>
              <a:t>20</a:t>
            </a:r>
          </a:p>
        </p:txBody>
      </p:sp>
      <p:sp>
        <p:nvSpPr>
          <p:cNvPr id="112" name="a68"/>
          <p:cNvSpPr txBox="1"/>
          <p:nvPr/>
        </p:nvSpPr>
        <p:spPr>
          <a:xfrm>
            <a:off x="4301227" y="6984187"/>
            <a:ext cx="666085" cy="1335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0">
                <a:solidFill>
                  <a:srgbClr val="3D3F40"/>
                </a:solidFill>
                <a:latin typeface="NanumGothic"/>
                <a:ea typeface="NanumGothic"/>
              </a:rPr>
              <a:t>2</a:t>
            </a:r>
          </a:p>
        </p:txBody>
      </p:sp>
      <p:sp>
        <p:nvSpPr>
          <p:cNvPr id="113" name="a69"/>
          <p:cNvSpPr txBox="1"/>
          <p:nvPr/>
        </p:nvSpPr>
        <p:spPr>
          <a:xfrm>
            <a:off x="4909303" y="6984187"/>
            <a:ext cx="634081" cy="1335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0">
                <a:solidFill>
                  <a:srgbClr val="3D3F40"/>
                </a:solidFill>
                <a:latin typeface="NanumGothic"/>
                <a:ea typeface="NanumGothic"/>
              </a:rPr>
              <a:t>2</a:t>
            </a:r>
          </a:p>
        </p:txBody>
      </p:sp>
      <p:sp>
        <p:nvSpPr>
          <p:cNvPr id="114" name="a70"/>
          <p:cNvSpPr txBox="1"/>
          <p:nvPr/>
        </p:nvSpPr>
        <p:spPr>
          <a:xfrm>
            <a:off x="5485375" y="6984187"/>
            <a:ext cx="652369" cy="1335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0">
                <a:solidFill>
                  <a:srgbClr val="3D3F40"/>
                </a:solidFill>
                <a:latin typeface="NanumGothic"/>
                <a:ea typeface="NanumGothic"/>
              </a:rPr>
              <a:t>6</a:t>
            </a:r>
          </a:p>
        </p:txBody>
      </p:sp>
      <p:sp>
        <p:nvSpPr>
          <p:cNvPr id="115" name="a71"/>
          <p:cNvSpPr txBox="1"/>
          <p:nvPr/>
        </p:nvSpPr>
        <p:spPr>
          <a:xfrm>
            <a:off x="6079735" y="6984187"/>
            <a:ext cx="675229" cy="13350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819" b="0">
                <a:solidFill>
                  <a:srgbClr val="3D3F40"/>
                </a:solidFill>
                <a:latin typeface="NanumGothic"/>
                <a:ea typeface="NanumGothic"/>
              </a:rPr>
              <a:t>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0"/>
          <p:cNvSpPr/>
          <p:nvPr/>
        </p:nvSpPr>
        <p:spPr>
          <a:xfrm>
            <a:off x="4078224" y="1376172"/>
            <a:ext cx="2807208" cy="274320"/>
          </a:xfrm>
          <a:prstGeom prst="rect">
            <a:avLst/>
          </a:prstGeom>
          <a:solidFill>
            <a:srgbClr val="D5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1"/>
          <p:cNvSpPr/>
          <p:nvPr/>
        </p:nvSpPr>
        <p:spPr>
          <a:xfrm>
            <a:off x="749808" y="1417320"/>
            <a:ext cx="1888236" cy="260604"/>
          </a:xfrm>
          <a:prstGeom prst="rect">
            <a:avLst/>
          </a:prstGeom>
          <a:solidFill>
            <a:srgbClr val="D8E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2"/>
          <p:cNvSpPr/>
          <p:nvPr/>
        </p:nvSpPr>
        <p:spPr>
          <a:xfrm>
            <a:off x="2656332" y="1399032"/>
            <a:ext cx="1408176" cy="265176"/>
          </a:xfrm>
          <a:prstGeom prst="rect">
            <a:avLst/>
          </a:prstGeom>
          <a:solidFill>
            <a:srgbClr val="D7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able2-header"/>
          <p:cNvSpPr/>
          <p:nvPr/>
        </p:nvSpPr>
        <p:spPr>
          <a:xfrm>
            <a:off x="749808" y="4988052"/>
            <a:ext cx="6163056" cy="288036"/>
          </a:xfrm>
          <a:prstGeom prst="rect">
            <a:avLst/>
          </a:prstGeom>
          <a:solidFill>
            <a:srgbClr val="D6E2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highlight-orange"/>
          <p:cNvSpPr/>
          <p:nvPr/>
        </p:nvSpPr>
        <p:spPr>
          <a:xfrm>
            <a:off x="758952" y="5216652"/>
            <a:ext cx="6163056" cy="758952"/>
          </a:xfrm>
          <a:prstGeom prst="rect">
            <a:avLst/>
          </a:prstGeom>
          <a:noFill/>
          <a:ln w="18288">
            <a:solidFill>
              <a:srgbClr val="F48C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note-frame"/>
          <p:cNvSpPr/>
          <p:nvPr/>
        </p:nvSpPr>
        <p:spPr>
          <a:xfrm>
            <a:off x="809244" y="8641080"/>
            <a:ext cx="2263140" cy="585216"/>
          </a:xfrm>
          <a:prstGeom prst="roundRect">
            <a:avLst>
              <a:gd name="adj" fmla="val 8000"/>
            </a:avLst>
          </a:prstGeom>
          <a:noFill/>
          <a:ln w="9144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note-frame"/>
          <p:cNvSpPr/>
          <p:nvPr/>
        </p:nvSpPr>
        <p:spPr>
          <a:xfrm>
            <a:off x="809244" y="9299448"/>
            <a:ext cx="2263140" cy="585216"/>
          </a:xfrm>
          <a:prstGeom prst="roundRect">
            <a:avLst>
              <a:gd name="adj" fmla="val 8000"/>
            </a:avLst>
          </a:prstGeom>
          <a:noFill/>
          <a:ln w="9144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note-frame"/>
          <p:cNvSpPr/>
          <p:nvPr/>
        </p:nvSpPr>
        <p:spPr>
          <a:xfrm>
            <a:off x="4677156" y="8618220"/>
            <a:ext cx="2235708" cy="571500"/>
          </a:xfrm>
          <a:prstGeom prst="roundRect">
            <a:avLst>
              <a:gd name="adj" fmla="val 8000"/>
            </a:avLst>
          </a:prstGeom>
          <a:noFill/>
          <a:ln w="9144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note-frame"/>
          <p:cNvSpPr/>
          <p:nvPr/>
        </p:nvSpPr>
        <p:spPr>
          <a:xfrm>
            <a:off x="4677156" y="9281160"/>
            <a:ext cx="2235708" cy="576072"/>
          </a:xfrm>
          <a:prstGeom prst="roundRect">
            <a:avLst>
              <a:gd name="adj" fmla="val 8000"/>
            </a:avLst>
          </a:prstGeom>
          <a:noFill/>
          <a:ln w="9144">
            <a:solidFill>
              <a:srgbClr val="D5DB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i1" descr="p4_i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04" y="2423160"/>
            <a:ext cx="1243584" cy="726948"/>
          </a:xfrm>
          <a:prstGeom prst="rect">
            <a:avLst/>
          </a:prstGeom>
        </p:spPr>
      </p:pic>
      <p:pic>
        <p:nvPicPr>
          <p:cNvPr id="12" name="i2" descr="p4_i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176" y="3264408"/>
            <a:ext cx="1243584" cy="608076"/>
          </a:xfrm>
          <a:prstGeom prst="rect">
            <a:avLst/>
          </a:prstGeom>
        </p:spPr>
      </p:pic>
      <p:pic>
        <p:nvPicPr>
          <p:cNvPr id="13" name="i3" descr="p4_i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2748" y="3881628"/>
            <a:ext cx="1248156" cy="740664"/>
          </a:xfrm>
          <a:prstGeom prst="rect">
            <a:avLst/>
          </a:prstGeom>
        </p:spPr>
      </p:pic>
      <p:pic>
        <p:nvPicPr>
          <p:cNvPr id="14" name="i9" descr="p4_i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0208" y="2313432"/>
            <a:ext cx="1110996" cy="164592"/>
          </a:xfrm>
          <a:prstGeom prst="rect">
            <a:avLst/>
          </a:prstGeom>
        </p:spPr>
      </p:pic>
      <p:pic>
        <p:nvPicPr>
          <p:cNvPr id="15" name="i10" descr="p4_i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3652" y="3049524"/>
            <a:ext cx="873252" cy="187452"/>
          </a:xfrm>
          <a:prstGeom prst="rect">
            <a:avLst/>
          </a:prstGeom>
        </p:spPr>
      </p:pic>
      <p:pic>
        <p:nvPicPr>
          <p:cNvPr id="16" name="management-circles" descr="p4_i2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55264" y="8618220"/>
            <a:ext cx="1234440" cy="1252728"/>
          </a:xfrm>
          <a:prstGeom prst="rect">
            <a:avLst/>
          </a:prstGeom>
        </p:spPr>
      </p:pic>
      <p:pic>
        <p:nvPicPr>
          <p:cNvPr id="17" name="i23" descr="p4_i2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63240" y="8837676"/>
            <a:ext cx="105156" cy="105156"/>
          </a:xfrm>
          <a:prstGeom prst="rect">
            <a:avLst/>
          </a:prstGeom>
        </p:spPr>
      </p:pic>
      <p:pic>
        <p:nvPicPr>
          <p:cNvPr id="18" name="site-photo-0" descr="p4_a4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5239512"/>
            <a:ext cx="1280160" cy="704088"/>
          </a:xfrm>
          <a:prstGeom prst="rect">
            <a:avLst/>
          </a:prstGeom>
        </p:spPr>
      </p:pic>
      <p:pic>
        <p:nvPicPr>
          <p:cNvPr id="19" name="site-photo-1" descr="p4_a5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6012180"/>
            <a:ext cx="1280160" cy="672084"/>
          </a:xfrm>
          <a:prstGeom prst="rect">
            <a:avLst/>
          </a:prstGeom>
        </p:spPr>
      </p:pic>
      <p:pic>
        <p:nvPicPr>
          <p:cNvPr id="20" name="site-photo-2" descr="p4_a6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240" y="6720840"/>
            <a:ext cx="1280160" cy="708660"/>
          </a:xfrm>
          <a:prstGeom prst="rect">
            <a:avLst/>
          </a:prstGeom>
        </p:spPr>
      </p:pic>
      <p:pic>
        <p:nvPicPr>
          <p:cNvPr id="21" name="site-photo-3" descr="p4_a7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77240" y="7484364"/>
            <a:ext cx="1280160" cy="736092"/>
          </a:xfrm>
          <a:prstGeom prst="rect">
            <a:avLst/>
          </a:prstGeom>
        </p:spPr>
      </p:pic>
      <p:cxnSp>
        <p:nvCxnSpPr>
          <p:cNvPr id="22" name="l0"/>
          <p:cNvCxnSpPr/>
          <p:nvPr/>
        </p:nvCxnSpPr>
        <p:spPr>
          <a:xfrm>
            <a:off x="5184648" y="2379726"/>
            <a:ext cx="297180" cy="0"/>
          </a:xfrm>
          <a:prstGeom prst="line">
            <a:avLst/>
          </a:prstGeom>
          <a:ln w="6350">
            <a:solidFill>
              <a:srgbClr val="C7CC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l1"/>
          <p:cNvCxnSpPr/>
          <p:nvPr/>
        </p:nvCxnSpPr>
        <p:spPr>
          <a:xfrm>
            <a:off x="5655564" y="3111246"/>
            <a:ext cx="365760" cy="0"/>
          </a:xfrm>
          <a:prstGeom prst="line">
            <a:avLst/>
          </a:prstGeom>
          <a:ln w="6350">
            <a:solidFill>
              <a:srgbClr val="BDC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l3"/>
          <p:cNvCxnSpPr/>
          <p:nvPr/>
        </p:nvCxnSpPr>
        <p:spPr>
          <a:xfrm>
            <a:off x="5838444" y="3842766"/>
            <a:ext cx="480060" cy="0"/>
          </a:xfrm>
          <a:prstGeom prst="line">
            <a:avLst/>
          </a:prstGeom>
          <a:ln w="6350">
            <a:solidFill>
              <a:srgbClr val="BEC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l6"/>
          <p:cNvCxnSpPr/>
          <p:nvPr/>
        </p:nvCxnSpPr>
        <p:spPr>
          <a:xfrm>
            <a:off x="5655564" y="6700266"/>
            <a:ext cx="470916" cy="0"/>
          </a:xfrm>
          <a:prstGeom prst="line">
            <a:avLst/>
          </a:prstGeom>
          <a:ln w="6350">
            <a:solidFill>
              <a:srgbClr val="C3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l7"/>
          <p:cNvCxnSpPr/>
          <p:nvPr/>
        </p:nvCxnSpPr>
        <p:spPr>
          <a:xfrm>
            <a:off x="6199632" y="6695694"/>
            <a:ext cx="292608" cy="0"/>
          </a:xfrm>
          <a:prstGeom prst="line">
            <a:avLst/>
          </a:prstGeom>
          <a:ln w="6350">
            <a:solidFill>
              <a:srgbClr val="C3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l8"/>
          <p:cNvCxnSpPr/>
          <p:nvPr/>
        </p:nvCxnSpPr>
        <p:spPr>
          <a:xfrm>
            <a:off x="4645152" y="6709410"/>
            <a:ext cx="283464" cy="0"/>
          </a:xfrm>
          <a:prstGeom prst="line">
            <a:avLst/>
          </a:prstGeom>
          <a:ln w="6350">
            <a:solidFill>
              <a:srgbClr val="C8CB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page-bar"/>
          <p:cNvCxnSpPr/>
          <p:nvPr/>
        </p:nvCxnSpPr>
        <p:spPr>
          <a:xfrm>
            <a:off x="1046988" y="10058400"/>
            <a:ext cx="0" cy="137160"/>
          </a:xfrm>
          <a:prstGeom prst="line">
            <a:avLst/>
          </a:prstGeom>
          <a:ln w="9144">
            <a:solidFill>
              <a:srgbClr val="3A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a9"/>
          <p:cNvCxnSpPr/>
          <p:nvPr/>
        </p:nvCxnSpPr>
        <p:spPr>
          <a:xfrm>
            <a:off x="749808" y="1682496"/>
            <a:ext cx="6163056" cy="0"/>
          </a:xfrm>
          <a:prstGeom prst="line">
            <a:avLst/>
          </a:prstGeom>
          <a:ln w="9144">
            <a:solidFill>
              <a:srgbClr val="B8BC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a10"/>
          <p:cNvCxnSpPr/>
          <p:nvPr/>
        </p:nvCxnSpPr>
        <p:spPr>
          <a:xfrm>
            <a:off x="749808" y="2418588"/>
            <a:ext cx="6163056" cy="0"/>
          </a:xfrm>
          <a:prstGeom prst="line">
            <a:avLst/>
          </a:prstGeom>
          <a:ln w="9144">
            <a:solidFill>
              <a:srgbClr val="B8BC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a11"/>
          <p:cNvCxnSpPr/>
          <p:nvPr/>
        </p:nvCxnSpPr>
        <p:spPr>
          <a:xfrm>
            <a:off x="749808" y="3154680"/>
            <a:ext cx="6163056" cy="0"/>
          </a:xfrm>
          <a:prstGeom prst="line">
            <a:avLst/>
          </a:prstGeom>
          <a:ln w="9144">
            <a:solidFill>
              <a:srgbClr val="B8BC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a12"/>
          <p:cNvCxnSpPr/>
          <p:nvPr/>
        </p:nvCxnSpPr>
        <p:spPr>
          <a:xfrm>
            <a:off x="749808" y="3890772"/>
            <a:ext cx="6163056" cy="0"/>
          </a:xfrm>
          <a:prstGeom prst="line">
            <a:avLst/>
          </a:prstGeom>
          <a:ln w="9144">
            <a:solidFill>
              <a:srgbClr val="B8BC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a13"/>
          <p:cNvCxnSpPr/>
          <p:nvPr/>
        </p:nvCxnSpPr>
        <p:spPr>
          <a:xfrm>
            <a:off x="749808" y="4622292"/>
            <a:ext cx="6163056" cy="0"/>
          </a:xfrm>
          <a:prstGeom prst="line">
            <a:avLst/>
          </a:prstGeom>
          <a:ln w="9144">
            <a:solidFill>
              <a:srgbClr val="B8BC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a14"/>
          <p:cNvCxnSpPr/>
          <p:nvPr/>
        </p:nvCxnSpPr>
        <p:spPr>
          <a:xfrm>
            <a:off x="749808" y="5980176"/>
            <a:ext cx="6163056" cy="0"/>
          </a:xfrm>
          <a:prstGeom prst="line">
            <a:avLst/>
          </a:prstGeom>
          <a:ln w="9144">
            <a:solidFill>
              <a:srgbClr val="B8BC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a15"/>
          <p:cNvCxnSpPr/>
          <p:nvPr/>
        </p:nvCxnSpPr>
        <p:spPr>
          <a:xfrm>
            <a:off x="749808" y="6702552"/>
            <a:ext cx="6163056" cy="0"/>
          </a:xfrm>
          <a:prstGeom prst="line">
            <a:avLst/>
          </a:prstGeom>
          <a:ln w="9144">
            <a:solidFill>
              <a:srgbClr val="B8BC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a16"/>
          <p:cNvCxnSpPr/>
          <p:nvPr/>
        </p:nvCxnSpPr>
        <p:spPr>
          <a:xfrm>
            <a:off x="749808" y="7443216"/>
            <a:ext cx="6163056" cy="0"/>
          </a:xfrm>
          <a:prstGeom prst="line">
            <a:avLst/>
          </a:prstGeom>
          <a:ln w="9144">
            <a:solidFill>
              <a:srgbClr val="B8BC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a17"/>
          <p:cNvCxnSpPr/>
          <p:nvPr/>
        </p:nvCxnSpPr>
        <p:spPr>
          <a:xfrm>
            <a:off x="749808" y="8183880"/>
            <a:ext cx="6163056" cy="0"/>
          </a:xfrm>
          <a:prstGeom prst="line">
            <a:avLst/>
          </a:prstGeom>
          <a:ln w="9144">
            <a:solidFill>
              <a:srgbClr val="B8BC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a18"/>
          <p:cNvCxnSpPr/>
          <p:nvPr/>
        </p:nvCxnSpPr>
        <p:spPr>
          <a:xfrm>
            <a:off x="2660904" y="1677924"/>
            <a:ext cx="0" cy="2948940"/>
          </a:xfrm>
          <a:prstGeom prst="line">
            <a:avLst/>
          </a:prstGeom>
          <a:ln w="6350">
            <a:solidFill>
              <a:srgbClr val="C4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a19"/>
          <p:cNvCxnSpPr/>
          <p:nvPr/>
        </p:nvCxnSpPr>
        <p:spPr>
          <a:xfrm>
            <a:off x="4091940" y="1677924"/>
            <a:ext cx="0" cy="2948940"/>
          </a:xfrm>
          <a:prstGeom prst="line">
            <a:avLst/>
          </a:prstGeom>
          <a:ln w="6350">
            <a:solidFill>
              <a:srgbClr val="C4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a20"/>
          <p:cNvCxnSpPr/>
          <p:nvPr/>
        </p:nvCxnSpPr>
        <p:spPr>
          <a:xfrm>
            <a:off x="2071116" y="5276088"/>
            <a:ext cx="0" cy="2912364"/>
          </a:xfrm>
          <a:prstGeom prst="line">
            <a:avLst/>
          </a:prstGeom>
          <a:ln w="6350">
            <a:solidFill>
              <a:srgbClr val="C4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a21"/>
          <p:cNvCxnSpPr/>
          <p:nvPr/>
        </p:nvCxnSpPr>
        <p:spPr>
          <a:xfrm>
            <a:off x="4101084" y="5276088"/>
            <a:ext cx="0" cy="2912364"/>
          </a:xfrm>
          <a:prstGeom prst="line">
            <a:avLst/>
          </a:prstGeom>
          <a:ln w="6350">
            <a:solidFill>
              <a:srgbClr val="C4C8C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0"/>
          <p:cNvSpPr txBox="1"/>
          <p:nvPr/>
        </p:nvSpPr>
        <p:spPr>
          <a:xfrm>
            <a:off x="1376857" y="288415"/>
            <a:ext cx="1047906" cy="298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413F49"/>
                </a:solidFill>
                <a:latin typeface="NanumGothic"/>
                <a:ea typeface="NanumGothic"/>
              </a:rPr>
              <a:t>건설계획</a:t>
            </a:r>
          </a:p>
        </p:txBody>
      </p:sp>
      <p:sp>
        <p:nvSpPr>
          <p:cNvPr id="43" name="t1"/>
          <p:cNvSpPr txBox="1"/>
          <p:nvPr/>
        </p:nvSpPr>
        <p:spPr>
          <a:xfrm>
            <a:off x="736751" y="391466"/>
            <a:ext cx="330419" cy="960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70" b="1">
                <a:solidFill>
                  <a:srgbClr val="97BBD6"/>
                </a:solidFill>
                <a:latin typeface="NanumGothic"/>
                <a:ea typeface="NanumGothic"/>
              </a:rPr>
              <a:t>Chapter</a:t>
            </a:r>
          </a:p>
        </p:txBody>
      </p:sp>
      <p:sp>
        <p:nvSpPr>
          <p:cNvPr id="44" name="t3"/>
          <p:cNvSpPr txBox="1"/>
          <p:nvPr/>
        </p:nvSpPr>
        <p:spPr>
          <a:xfrm>
            <a:off x="5204765" y="1438148"/>
            <a:ext cx="636419" cy="1716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70" b="1">
                <a:solidFill>
                  <a:srgbClr val="2B2E2E"/>
                </a:solidFill>
                <a:latin typeface="NanumGothic"/>
                <a:ea typeface="NanumGothic"/>
              </a:rPr>
              <a:t>대책 방안</a:t>
            </a:r>
          </a:p>
        </p:txBody>
      </p:sp>
      <p:sp>
        <p:nvSpPr>
          <p:cNvPr id="45" name="t4"/>
          <p:cNvSpPr txBox="1"/>
          <p:nvPr/>
        </p:nvSpPr>
        <p:spPr>
          <a:xfrm>
            <a:off x="3074213" y="1456436"/>
            <a:ext cx="636419" cy="1716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70" b="1">
                <a:solidFill>
                  <a:srgbClr val="2B2D2E"/>
                </a:solidFill>
                <a:latin typeface="NanumGothic"/>
                <a:ea typeface="NanumGothic"/>
              </a:rPr>
              <a:t>사고 유형</a:t>
            </a:r>
          </a:p>
        </p:txBody>
      </p:sp>
      <p:sp>
        <p:nvSpPr>
          <p:cNvPr id="46" name="t5"/>
          <p:cNvSpPr txBox="1"/>
          <p:nvPr/>
        </p:nvSpPr>
        <p:spPr>
          <a:xfrm>
            <a:off x="1537655" y="1478280"/>
            <a:ext cx="407639" cy="1798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20" b="1">
                <a:solidFill>
                  <a:srgbClr val="2D3031"/>
                </a:solidFill>
                <a:latin typeface="NanumGothic"/>
                <a:ea typeface="NanumGothic"/>
              </a:rPr>
              <a:t>구분</a:t>
            </a:r>
          </a:p>
        </p:txBody>
      </p:sp>
      <p:sp>
        <p:nvSpPr>
          <p:cNvPr id="47" name="t8"/>
          <p:cNvSpPr txBox="1"/>
          <p:nvPr/>
        </p:nvSpPr>
        <p:spPr>
          <a:xfrm>
            <a:off x="792281" y="1884807"/>
            <a:ext cx="706922" cy="356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1">
                <a:solidFill>
                  <a:srgbClr val="343637"/>
                </a:solidFill>
                <a:latin typeface="NanumGothic"/>
                <a:ea typeface="NanumGothic"/>
              </a:rPr>
              <a:t>풍 수 해</a:t>
            </a:r>
          </a:p>
          <a:p>
            <a:pPr algn="l">
              <a:lnSpc>
                <a:spcPct val="100000"/>
              </a:lnSpc>
            </a:pPr>
            <a:r>
              <a:rPr sz="1140" b="1">
                <a:solidFill>
                  <a:srgbClr val="343637"/>
                </a:solidFill>
                <a:latin typeface="NanumGothic"/>
                <a:ea typeface="NanumGothic"/>
              </a:rPr>
              <a:t>산 사 태</a:t>
            </a:r>
          </a:p>
        </p:txBody>
      </p:sp>
      <p:sp>
        <p:nvSpPr>
          <p:cNvPr id="48" name="t14"/>
          <p:cNvSpPr txBox="1"/>
          <p:nvPr/>
        </p:nvSpPr>
        <p:spPr>
          <a:xfrm>
            <a:off x="4131406" y="3913495"/>
            <a:ext cx="2460145" cy="596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1000"/>
              </a:lnSpc>
            </a:pPr>
            <a:r>
              <a:rPr sz="910" b="0">
                <a:solidFill>
                  <a:srgbClr val="3B3D3D"/>
                </a:solidFill>
                <a:latin typeface="NanumGothic"/>
                <a:ea typeface="NanumGothic"/>
              </a:rPr>
              <a:t>• 근로자 안전대책 강구 및 대체인력 확보</a:t>
            </a:r>
          </a:p>
          <a:p>
            <a:pPr algn="l">
              <a:lnSpc>
                <a:spcPct val="141000"/>
              </a:lnSpc>
            </a:pPr>
            <a:r>
              <a:rPr sz="910" b="0">
                <a:solidFill>
                  <a:srgbClr val="3B3D3D"/>
                </a:solidFill>
                <a:latin typeface="NanumGothic"/>
                <a:ea typeface="NanumGothic"/>
              </a:rPr>
              <a:t>• 우회 도로 및 교통수단 확보로 자재수급 확인</a:t>
            </a:r>
          </a:p>
          <a:p>
            <a:pPr algn="l">
              <a:lnSpc>
                <a:spcPct val="141000"/>
              </a:lnSpc>
            </a:pPr>
            <a:r>
              <a:rPr sz="910" b="0">
                <a:solidFill>
                  <a:srgbClr val="3B3D3D"/>
                </a:solidFill>
                <a:latin typeface="NanumGothic"/>
                <a:ea typeface="NanumGothic"/>
              </a:rPr>
              <a:t>• 국가 재난메뉴얼 이행 및 비상체제 돌입</a:t>
            </a:r>
          </a:p>
        </p:txBody>
      </p:sp>
      <p:sp>
        <p:nvSpPr>
          <p:cNvPr id="49" name="t18"/>
          <p:cNvSpPr txBox="1"/>
          <p:nvPr/>
        </p:nvSpPr>
        <p:spPr>
          <a:xfrm>
            <a:off x="755607" y="4769467"/>
            <a:ext cx="3167376" cy="1850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C2E2D"/>
                </a:solidFill>
                <a:latin typeface="NanumGothic"/>
                <a:ea typeface="NanumGothic"/>
              </a:rPr>
              <a:t>(2) 태양광 공사현장 사고예방을 위한 안전조치 계획</a:t>
            </a:r>
          </a:p>
        </p:txBody>
      </p:sp>
      <p:sp>
        <p:nvSpPr>
          <p:cNvPr id="50" name="t19"/>
          <p:cNvSpPr txBox="1"/>
          <p:nvPr/>
        </p:nvSpPr>
        <p:spPr>
          <a:xfrm>
            <a:off x="5227625" y="5040884"/>
            <a:ext cx="636419" cy="1716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70" b="1">
                <a:solidFill>
                  <a:srgbClr val="242626"/>
                </a:solidFill>
                <a:latin typeface="NanumGothic"/>
                <a:ea typeface="NanumGothic"/>
              </a:rPr>
              <a:t>대책 방안</a:t>
            </a:r>
          </a:p>
        </p:txBody>
      </p:sp>
      <p:sp>
        <p:nvSpPr>
          <p:cNvPr id="51" name="t20"/>
          <p:cNvSpPr txBox="1"/>
          <p:nvPr/>
        </p:nvSpPr>
        <p:spPr>
          <a:xfrm>
            <a:off x="2786177" y="5063744"/>
            <a:ext cx="636419" cy="17169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70" b="1">
                <a:solidFill>
                  <a:srgbClr val="2B2E2E"/>
                </a:solidFill>
                <a:latin typeface="NanumGothic"/>
                <a:ea typeface="NanumGothic"/>
              </a:rPr>
              <a:t>사고 유형</a:t>
            </a:r>
          </a:p>
        </p:txBody>
      </p:sp>
      <p:sp>
        <p:nvSpPr>
          <p:cNvPr id="52" name="t21"/>
          <p:cNvSpPr txBox="1"/>
          <p:nvPr/>
        </p:nvSpPr>
        <p:spPr>
          <a:xfrm>
            <a:off x="4140547" y="5301968"/>
            <a:ext cx="2537944" cy="605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3000"/>
              </a:lnSpc>
            </a:pPr>
            <a:r>
              <a:rPr sz="910" b="0">
                <a:solidFill>
                  <a:srgbClr val="3E403F"/>
                </a:solidFill>
                <a:latin typeface="NanumGothic"/>
                <a:ea typeface="NanumGothic"/>
              </a:rPr>
              <a:t>• 가드라인 안전대에 안전후크를 걸고 작업</a:t>
            </a:r>
          </a:p>
          <a:p>
            <a:pPr algn="l">
              <a:lnSpc>
                <a:spcPct val="143000"/>
              </a:lnSpc>
            </a:pPr>
            <a:r>
              <a:rPr sz="910" b="0">
                <a:solidFill>
                  <a:srgbClr val="3E403F"/>
                </a:solidFill>
                <a:latin typeface="NanumGothic"/>
                <a:ea typeface="NanumGothic"/>
              </a:rPr>
              <a:t>• 작업반경내 접근금지 및 아웃트리거 최대 인출</a:t>
            </a:r>
          </a:p>
          <a:p>
            <a:pPr algn="l">
              <a:lnSpc>
                <a:spcPct val="143000"/>
              </a:lnSpc>
            </a:pPr>
            <a:r>
              <a:rPr sz="910" b="0">
                <a:solidFill>
                  <a:srgbClr val="3E403F"/>
                </a:solidFill>
                <a:latin typeface="NanumGothic"/>
                <a:ea typeface="NanumGothic"/>
              </a:rPr>
              <a:t>• 작업중량 , 허용재원 및 안전메뉴얼 준수</a:t>
            </a:r>
          </a:p>
        </p:txBody>
      </p:sp>
      <p:sp>
        <p:nvSpPr>
          <p:cNvPr id="53" name="t22"/>
          <p:cNvSpPr txBox="1"/>
          <p:nvPr/>
        </p:nvSpPr>
        <p:spPr>
          <a:xfrm>
            <a:off x="2087763" y="5324474"/>
            <a:ext cx="1947176" cy="6054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4000"/>
              </a:lnSpc>
            </a:pPr>
            <a:r>
              <a:rPr sz="910" b="0">
                <a:solidFill>
                  <a:srgbClr val="3D3F3F"/>
                </a:solidFill>
                <a:latin typeface="NanumGothic"/>
                <a:ea typeface="NanumGothic"/>
              </a:rPr>
              <a:t>• 고소작업 중 인적 낙하사고</a:t>
            </a:r>
          </a:p>
          <a:p>
            <a:pPr algn="l">
              <a:lnSpc>
                <a:spcPct val="144000"/>
              </a:lnSpc>
            </a:pPr>
            <a:r>
              <a:rPr sz="910" b="0">
                <a:solidFill>
                  <a:srgbClr val="3D3F3F"/>
                </a:solidFill>
                <a:latin typeface="NanumGothic"/>
                <a:ea typeface="NanumGothic"/>
              </a:rPr>
              <a:t>• 모듈 구조물 양중시 물적 낙하사고</a:t>
            </a:r>
          </a:p>
          <a:p>
            <a:pPr algn="l">
              <a:lnSpc>
                <a:spcPct val="144000"/>
              </a:lnSpc>
            </a:pPr>
            <a:r>
              <a:rPr sz="910" b="0">
                <a:solidFill>
                  <a:srgbClr val="3D3F3F"/>
                </a:solidFill>
                <a:latin typeface="NanumGothic"/>
                <a:ea typeface="NanumGothic"/>
              </a:rPr>
              <a:t>• 크레인, 굴착기 전도사고</a:t>
            </a:r>
          </a:p>
        </p:txBody>
      </p:sp>
      <p:sp>
        <p:nvSpPr>
          <p:cNvPr id="54" name="t23"/>
          <p:cNvSpPr txBox="1"/>
          <p:nvPr/>
        </p:nvSpPr>
        <p:spPr>
          <a:xfrm>
            <a:off x="4145126" y="6033544"/>
            <a:ext cx="2208595" cy="604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3000"/>
              </a:lnSpc>
            </a:pPr>
            <a:r>
              <a:rPr sz="910" b="0">
                <a:solidFill>
                  <a:srgbClr val="3A3C3B"/>
                </a:solidFill>
                <a:latin typeface="NanumGothic"/>
                <a:ea typeface="NanumGothic"/>
              </a:rPr>
              <a:t>• 파손 자재 긴급발주 및 숙련공 교체</a:t>
            </a:r>
          </a:p>
          <a:p>
            <a:pPr algn="l">
              <a:lnSpc>
                <a:spcPct val="143000"/>
              </a:lnSpc>
            </a:pPr>
            <a:r>
              <a:rPr sz="910" b="0">
                <a:solidFill>
                  <a:srgbClr val="3A3C3B"/>
                </a:solidFill>
                <a:latin typeface="NanumGothic"/>
                <a:ea typeface="NanumGothic"/>
              </a:rPr>
              <a:t>• 기계공구 긴급정비 및 필요시 공구 교체</a:t>
            </a:r>
          </a:p>
          <a:p>
            <a:pPr algn="l">
              <a:lnSpc>
                <a:spcPct val="143000"/>
              </a:lnSpc>
            </a:pPr>
            <a:r>
              <a:rPr sz="910" b="0">
                <a:solidFill>
                  <a:srgbClr val="3A3C3B"/>
                </a:solidFill>
                <a:latin typeface="NanumGothic"/>
                <a:ea typeface="NanumGothic"/>
              </a:rPr>
              <a:t>• 자재규모에 맞는 인력 투입계획 수립</a:t>
            </a:r>
          </a:p>
        </p:txBody>
      </p:sp>
      <p:sp>
        <p:nvSpPr>
          <p:cNvPr id="55" name="t24"/>
          <p:cNvSpPr txBox="1"/>
          <p:nvPr/>
        </p:nvSpPr>
        <p:spPr>
          <a:xfrm>
            <a:off x="2092338" y="6051445"/>
            <a:ext cx="2088843" cy="6052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4000"/>
              </a:lnSpc>
            </a:pPr>
            <a:r>
              <a:rPr sz="910" b="0">
                <a:solidFill>
                  <a:srgbClr val="414342"/>
                </a:solidFill>
                <a:latin typeface="NanumGothic"/>
                <a:ea typeface="NanumGothic"/>
              </a:rPr>
              <a:t>• 기계장비, 운전 미숙에 의한 자재파손</a:t>
            </a:r>
          </a:p>
          <a:p>
            <a:pPr algn="l">
              <a:lnSpc>
                <a:spcPct val="144000"/>
              </a:lnSpc>
            </a:pPr>
            <a:r>
              <a:rPr sz="910" b="0">
                <a:solidFill>
                  <a:srgbClr val="414342"/>
                </a:solidFill>
                <a:latin typeface="NanumGothic"/>
                <a:ea typeface="NanumGothic"/>
              </a:rPr>
              <a:t>• 기자재 정비불량에 의한 오작동</a:t>
            </a:r>
          </a:p>
          <a:p>
            <a:pPr algn="l">
              <a:lnSpc>
                <a:spcPct val="144000"/>
              </a:lnSpc>
            </a:pPr>
            <a:r>
              <a:rPr sz="910" b="0">
                <a:solidFill>
                  <a:srgbClr val="414342"/>
                </a:solidFill>
                <a:latin typeface="NanumGothic"/>
                <a:ea typeface="NanumGothic"/>
              </a:rPr>
              <a:t>• 소자재 비탈면 이동 시의 안전사고</a:t>
            </a:r>
          </a:p>
        </p:txBody>
      </p:sp>
      <p:sp>
        <p:nvSpPr>
          <p:cNvPr id="56" name="t25"/>
          <p:cNvSpPr txBox="1"/>
          <p:nvPr/>
        </p:nvSpPr>
        <p:spPr>
          <a:xfrm>
            <a:off x="4149659" y="6765469"/>
            <a:ext cx="2771808" cy="6044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919" b="0">
                <a:solidFill>
                  <a:srgbClr val="3E3F3F"/>
                </a:solidFill>
                <a:latin typeface="NanumGothic"/>
                <a:ea typeface="NanumGothic"/>
              </a:rPr>
              <a:t>• 공정지연 예방을 위한 도난자재 긴급발주 시행</a:t>
            </a:r>
          </a:p>
          <a:p>
            <a:pPr algn="l">
              <a:lnSpc>
                <a:spcPct val="142000"/>
              </a:lnSpc>
            </a:pPr>
            <a:r>
              <a:rPr sz="919" b="0">
                <a:solidFill>
                  <a:srgbClr val="3E3F3F"/>
                </a:solidFill>
                <a:latin typeface="NanumGothic"/>
                <a:ea typeface="NanumGothic"/>
              </a:rPr>
              <a:t>• CCTV 등 공사현장 방범설비 및 시건장치 강화보수</a:t>
            </a:r>
          </a:p>
          <a:p>
            <a:pPr algn="l">
              <a:lnSpc>
                <a:spcPct val="142000"/>
              </a:lnSpc>
            </a:pPr>
            <a:r>
              <a:rPr sz="919" b="0">
                <a:solidFill>
                  <a:srgbClr val="3E3F3F"/>
                </a:solidFill>
                <a:latin typeface="NanumGothic"/>
                <a:ea typeface="NanumGothic"/>
              </a:rPr>
              <a:t>• 가드휀스 선시공하여 기자재 및 주요장비 보호</a:t>
            </a:r>
          </a:p>
        </p:txBody>
      </p:sp>
      <p:sp>
        <p:nvSpPr>
          <p:cNvPr id="57" name="t26"/>
          <p:cNvSpPr txBox="1"/>
          <p:nvPr/>
        </p:nvSpPr>
        <p:spPr>
          <a:xfrm>
            <a:off x="2101465" y="6787399"/>
            <a:ext cx="1984081" cy="6069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4000"/>
              </a:lnSpc>
            </a:pPr>
            <a:r>
              <a:rPr sz="910" b="0">
                <a:solidFill>
                  <a:srgbClr val="3D3F3F"/>
                </a:solidFill>
                <a:latin typeface="NanumGothic"/>
                <a:ea typeface="NanumGothic"/>
              </a:rPr>
              <a:t>• 모듈 및 인버터 등 기자재 도난사고</a:t>
            </a:r>
          </a:p>
          <a:p>
            <a:pPr algn="l">
              <a:lnSpc>
                <a:spcPct val="144000"/>
              </a:lnSpc>
            </a:pPr>
            <a:r>
              <a:rPr sz="910" b="0">
                <a:solidFill>
                  <a:srgbClr val="3D3F3F"/>
                </a:solidFill>
                <a:latin typeface="NanumGothic"/>
                <a:ea typeface="NanumGothic"/>
              </a:rPr>
              <a:t>• 장비 및 현장차량 파손사고</a:t>
            </a:r>
          </a:p>
          <a:p>
            <a:pPr algn="l">
              <a:lnSpc>
                <a:spcPct val="144000"/>
              </a:lnSpc>
            </a:pPr>
            <a:r>
              <a:rPr sz="910" b="0">
                <a:solidFill>
                  <a:srgbClr val="3D3F3F"/>
                </a:solidFill>
                <a:latin typeface="NanumGothic"/>
                <a:ea typeface="NanumGothic"/>
              </a:rPr>
              <a:t>• 준공전 기시공분 파손 및 도난사고</a:t>
            </a:r>
          </a:p>
        </p:txBody>
      </p:sp>
      <p:sp>
        <p:nvSpPr>
          <p:cNvPr id="58" name="t28"/>
          <p:cNvSpPr txBox="1"/>
          <p:nvPr/>
        </p:nvSpPr>
        <p:spPr>
          <a:xfrm>
            <a:off x="4154230" y="7502248"/>
            <a:ext cx="2616393" cy="60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1000"/>
              </a:lnSpc>
            </a:pPr>
            <a:r>
              <a:rPr sz="919" b="0">
                <a:solidFill>
                  <a:srgbClr val="3E4040"/>
                </a:solidFill>
                <a:latin typeface="NanumGothic"/>
                <a:ea typeface="NanumGothic"/>
              </a:rPr>
              <a:t>• 작물 수매, 축산물 매입 등 적정 보상대책 시행</a:t>
            </a:r>
          </a:p>
          <a:p>
            <a:pPr algn="l">
              <a:lnSpc>
                <a:spcPct val="141000"/>
              </a:lnSpc>
            </a:pPr>
            <a:r>
              <a:rPr sz="919" b="0">
                <a:solidFill>
                  <a:srgbClr val="3E4040"/>
                </a:solidFill>
                <a:latin typeface="NanumGothic"/>
                <a:ea typeface="NanumGothic"/>
              </a:rPr>
              <a:t>• 오염원 발생 작업 시 주변 경작물 방호조치 시행</a:t>
            </a:r>
          </a:p>
          <a:p>
            <a:pPr algn="l">
              <a:lnSpc>
                <a:spcPct val="141000"/>
              </a:lnSpc>
            </a:pPr>
            <a:r>
              <a:rPr sz="919" b="0">
                <a:solidFill>
                  <a:srgbClr val="3E4040"/>
                </a:solidFill>
                <a:latin typeface="NanumGothic"/>
                <a:ea typeface="NanumGothic"/>
              </a:rPr>
              <a:t>• 주요자재는 일몰 후 및 일출 전 운반 현장적치</a:t>
            </a:r>
          </a:p>
        </p:txBody>
      </p:sp>
      <p:sp>
        <p:nvSpPr>
          <p:cNvPr id="59" name="t29"/>
          <p:cNvSpPr txBox="1"/>
          <p:nvPr/>
        </p:nvSpPr>
        <p:spPr>
          <a:xfrm>
            <a:off x="2106058" y="7523656"/>
            <a:ext cx="1869308" cy="6048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4000"/>
              </a:lnSpc>
            </a:pPr>
            <a:r>
              <a:rPr sz="900" b="0">
                <a:solidFill>
                  <a:srgbClr val="424343"/>
                </a:solidFill>
                <a:latin typeface="NanumGothic"/>
                <a:ea typeface="NanumGothic"/>
              </a:rPr>
              <a:t>• 인근 경작물 오염 및 훼손 사고</a:t>
            </a:r>
          </a:p>
          <a:p>
            <a:pPr algn="l">
              <a:lnSpc>
                <a:spcPct val="144000"/>
              </a:lnSpc>
            </a:pPr>
            <a:r>
              <a:rPr sz="900" b="0">
                <a:solidFill>
                  <a:srgbClr val="424343"/>
                </a:solidFill>
                <a:latin typeface="NanumGothic"/>
                <a:ea typeface="NanumGothic"/>
              </a:rPr>
              <a:t>• 공사 중 소음으로 인한 가축 피해</a:t>
            </a:r>
          </a:p>
          <a:p>
            <a:pPr algn="l">
              <a:lnSpc>
                <a:spcPct val="144000"/>
              </a:lnSpc>
            </a:pPr>
            <a:r>
              <a:rPr sz="900" b="0">
                <a:solidFill>
                  <a:srgbClr val="424343"/>
                </a:solidFill>
                <a:latin typeface="NanumGothic"/>
                <a:ea typeface="NanumGothic"/>
              </a:rPr>
              <a:t>• 작업차량과 농기계의 교통사고</a:t>
            </a:r>
          </a:p>
        </p:txBody>
      </p:sp>
      <p:sp>
        <p:nvSpPr>
          <p:cNvPr id="60" name="t30"/>
          <p:cNvSpPr txBox="1"/>
          <p:nvPr/>
        </p:nvSpPr>
        <p:spPr>
          <a:xfrm>
            <a:off x="783024" y="8367588"/>
            <a:ext cx="2778938" cy="1853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60" b="0">
                <a:solidFill>
                  <a:srgbClr val="2C2E2E"/>
                </a:solidFill>
                <a:latin typeface="NanumGothic"/>
                <a:ea typeface="NanumGothic"/>
              </a:rPr>
              <a:t>(3) 대형 건설사고 예방을 위한 안전조치 계획</a:t>
            </a:r>
          </a:p>
        </p:txBody>
      </p:sp>
      <p:sp>
        <p:nvSpPr>
          <p:cNvPr id="61" name="t31"/>
          <p:cNvSpPr txBox="1"/>
          <p:nvPr/>
        </p:nvSpPr>
        <p:spPr>
          <a:xfrm>
            <a:off x="4698826" y="8627450"/>
            <a:ext cx="2271022" cy="516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840" b="0">
                <a:solidFill>
                  <a:srgbClr val="454849"/>
                </a:solidFill>
                <a:latin typeface="NanumGothic"/>
                <a:ea typeface="NanumGothic"/>
              </a:rPr>
              <a:t>• 공법변경시 원설계사 의견 청취 및 확인</a:t>
            </a:r>
          </a:p>
          <a:p>
            <a:pPr algn="l">
              <a:lnSpc>
                <a:spcPct val="132000"/>
              </a:lnSpc>
            </a:pPr>
            <a:r>
              <a:rPr sz="840" b="0">
                <a:solidFill>
                  <a:srgbClr val="454849"/>
                </a:solidFill>
                <a:latin typeface="NanumGothic"/>
                <a:ea typeface="NanumGothic"/>
              </a:rPr>
              <a:t>• 재하도 금지, 사업시행자 직접 관리</a:t>
            </a:r>
          </a:p>
          <a:p>
            <a:pPr algn="l">
              <a:lnSpc>
                <a:spcPct val="132000"/>
              </a:lnSpc>
            </a:pPr>
            <a:r>
              <a:rPr sz="840" b="0">
                <a:solidFill>
                  <a:srgbClr val="454849"/>
                </a:solidFill>
                <a:latin typeface="NanumGothic"/>
                <a:ea typeface="NanumGothic"/>
              </a:rPr>
              <a:t>• 크레인, 굴착기 정격하중 및 사용메뉴얼 준수</a:t>
            </a:r>
          </a:p>
        </p:txBody>
      </p:sp>
      <p:sp>
        <p:nvSpPr>
          <p:cNvPr id="62" name="t32"/>
          <p:cNvSpPr txBox="1"/>
          <p:nvPr/>
        </p:nvSpPr>
        <p:spPr>
          <a:xfrm>
            <a:off x="840045" y="8665228"/>
            <a:ext cx="2344456" cy="509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40" b="0">
                <a:solidFill>
                  <a:srgbClr val="484949"/>
                </a:solidFill>
                <a:latin typeface="NanumGothic"/>
                <a:ea typeface="NanumGothic"/>
              </a:rPr>
              <a:t>• 설계내역서 산정시 안전관리비 반영</a:t>
            </a:r>
          </a:p>
          <a:p>
            <a:pPr algn="l">
              <a:lnSpc>
                <a:spcPct val="130000"/>
              </a:lnSpc>
            </a:pPr>
            <a:r>
              <a:rPr sz="840" b="0">
                <a:solidFill>
                  <a:srgbClr val="484949"/>
                </a:solidFill>
                <a:latin typeface="NanumGothic"/>
                <a:ea typeface="NanumGothic"/>
              </a:rPr>
              <a:t>• 설계변경시 경제성보다 안전성 우선 검토</a:t>
            </a:r>
          </a:p>
          <a:p>
            <a:pPr algn="l">
              <a:lnSpc>
                <a:spcPct val="130000"/>
              </a:lnSpc>
            </a:pPr>
            <a:r>
              <a:rPr sz="840" b="0">
                <a:solidFill>
                  <a:srgbClr val="484949"/>
                </a:solidFill>
                <a:latin typeface="NanumGothic"/>
                <a:ea typeface="NanumGothic"/>
              </a:rPr>
              <a:t>• 주요공정 및 현장요청시 본사지원팀 현장 상주</a:t>
            </a:r>
          </a:p>
        </p:txBody>
      </p:sp>
      <p:sp>
        <p:nvSpPr>
          <p:cNvPr id="63" name="t33"/>
          <p:cNvSpPr txBox="1"/>
          <p:nvPr/>
        </p:nvSpPr>
        <p:spPr>
          <a:xfrm>
            <a:off x="4112102" y="8745138"/>
            <a:ext cx="406816" cy="3290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9000"/>
              </a:lnSpc>
            </a:pPr>
            <a:r>
              <a:rPr sz="1060" b="1">
                <a:solidFill>
                  <a:srgbClr val="2F3030"/>
                </a:solidFill>
                <a:latin typeface="NanumGothic"/>
                <a:ea typeface="NanumGothic"/>
              </a:rPr>
              <a:t>시공</a:t>
            </a:r>
          </a:p>
          <a:p>
            <a:pPr algn="ctr">
              <a:lnSpc>
                <a:spcPct val="99000"/>
              </a:lnSpc>
            </a:pPr>
            <a:r>
              <a:rPr sz="1060" b="1">
                <a:solidFill>
                  <a:srgbClr val="2F3030"/>
                </a:solidFill>
                <a:latin typeface="NanumGothic"/>
                <a:ea typeface="NanumGothic"/>
              </a:rPr>
              <a:t>관리</a:t>
            </a:r>
          </a:p>
        </p:txBody>
      </p:sp>
      <p:sp>
        <p:nvSpPr>
          <p:cNvPr id="64" name="t34"/>
          <p:cNvSpPr txBox="1"/>
          <p:nvPr/>
        </p:nvSpPr>
        <p:spPr>
          <a:xfrm>
            <a:off x="3367003" y="8755440"/>
            <a:ext cx="399227" cy="319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8000"/>
              </a:lnSpc>
            </a:pPr>
            <a:r>
              <a:rPr sz="1040" b="1">
                <a:solidFill>
                  <a:srgbClr val="2F3030"/>
                </a:solidFill>
                <a:latin typeface="NanumGothic"/>
                <a:ea typeface="NanumGothic"/>
              </a:rPr>
              <a:t>설계</a:t>
            </a:r>
          </a:p>
          <a:p>
            <a:pPr algn="ctr">
              <a:lnSpc>
                <a:spcPct val="98000"/>
              </a:lnSpc>
            </a:pPr>
            <a:r>
              <a:rPr sz="1040" b="1">
                <a:solidFill>
                  <a:srgbClr val="2F3030"/>
                </a:solidFill>
                <a:latin typeface="NanumGothic"/>
                <a:ea typeface="NanumGothic"/>
              </a:rPr>
              <a:t>감리</a:t>
            </a:r>
          </a:p>
        </p:txBody>
      </p:sp>
      <p:sp>
        <p:nvSpPr>
          <p:cNvPr id="65" name="t35"/>
          <p:cNvSpPr txBox="1"/>
          <p:nvPr/>
        </p:nvSpPr>
        <p:spPr>
          <a:xfrm>
            <a:off x="4703880" y="9280662"/>
            <a:ext cx="2251262" cy="5229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770" b="0">
                <a:solidFill>
                  <a:srgbClr val="474A4B"/>
                </a:solidFill>
                <a:latin typeface="NanumGothic"/>
                <a:ea typeface="NanumGothic"/>
              </a:rPr>
              <a:t>• 비상연락체계 및 “안전사고대응메뉴얼” 시험훈련</a:t>
            </a:r>
          </a:p>
          <a:p>
            <a:pPr algn="l">
              <a:lnSpc>
                <a:spcPct val="146000"/>
              </a:lnSpc>
            </a:pPr>
            <a:r>
              <a:rPr sz="770" b="0">
                <a:solidFill>
                  <a:srgbClr val="474A4B"/>
                </a:solidFill>
                <a:latin typeface="NanumGothic"/>
                <a:ea typeface="NanumGothic"/>
              </a:rPr>
              <a:t>• 본사지원팀 현장일지,감리일지의 위험요소 관리</a:t>
            </a:r>
          </a:p>
          <a:p>
            <a:pPr algn="l">
              <a:lnSpc>
                <a:spcPct val="146000"/>
              </a:lnSpc>
            </a:pPr>
            <a:r>
              <a:rPr sz="770" b="0">
                <a:solidFill>
                  <a:srgbClr val="474A4B"/>
                </a:solidFill>
                <a:latin typeface="NanumGothic"/>
                <a:ea typeface="NanumGothic"/>
              </a:rPr>
              <a:t>• 고속도로 인접구간 시공전 관할지사 사전협의</a:t>
            </a:r>
          </a:p>
        </p:txBody>
      </p:sp>
      <p:sp>
        <p:nvSpPr>
          <p:cNvPr id="66" name="t36"/>
          <p:cNvSpPr txBox="1"/>
          <p:nvPr/>
        </p:nvSpPr>
        <p:spPr>
          <a:xfrm>
            <a:off x="844662" y="9320684"/>
            <a:ext cx="2197175" cy="524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40" b="0">
                <a:solidFill>
                  <a:srgbClr val="444545"/>
                </a:solidFill>
                <a:latin typeface="NanumGothic"/>
                <a:ea typeface="NanumGothic"/>
              </a:rPr>
              <a:t>• 주요작업 안전관리자 안전요원 확인</a:t>
            </a:r>
          </a:p>
          <a:p>
            <a:pPr algn="l">
              <a:lnSpc>
                <a:spcPct val="135000"/>
              </a:lnSpc>
            </a:pPr>
            <a:r>
              <a:rPr sz="840" b="0">
                <a:solidFill>
                  <a:srgbClr val="444545"/>
                </a:solidFill>
                <a:latin typeface="NanumGothic"/>
                <a:ea typeface="NanumGothic"/>
              </a:rPr>
              <a:t>• 고소작업 및 자재양중시 특별안전관리 철저</a:t>
            </a:r>
          </a:p>
          <a:p>
            <a:pPr algn="l">
              <a:lnSpc>
                <a:spcPct val="135000"/>
              </a:lnSpc>
            </a:pPr>
            <a:r>
              <a:rPr sz="840" b="0">
                <a:solidFill>
                  <a:srgbClr val="444545"/>
                </a:solidFill>
                <a:latin typeface="NanumGothic"/>
                <a:ea typeface="NanumGothic"/>
              </a:rPr>
              <a:t>• 일일작업전 안전장비 및 장구착용 점검</a:t>
            </a:r>
          </a:p>
        </p:txBody>
      </p:sp>
      <p:sp>
        <p:nvSpPr>
          <p:cNvPr id="67" name="t37"/>
          <p:cNvSpPr txBox="1"/>
          <p:nvPr/>
        </p:nvSpPr>
        <p:spPr>
          <a:xfrm>
            <a:off x="4116674" y="9408078"/>
            <a:ext cx="411388" cy="3290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9000"/>
              </a:lnSpc>
            </a:pPr>
            <a:r>
              <a:rPr sz="1060" b="1">
                <a:solidFill>
                  <a:srgbClr val="2F3030"/>
                </a:solidFill>
                <a:latin typeface="NanumGothic"/>
                <a:ea typeface="NanumGothic"/>
              </a:rPr>
              <a:t>기타</a:t>
            </a:r>
          </a:p>
          <a:p>
            <a:pPr algn="ctr">
              <a:lnSpc>
                <a:spcPct val="99000"/>
              </a:lnSpc>
            </a:pPr>
            <a:r>
              <a:rPr sz="1060" b="1">
                <a:solidFill>
                  <a:srgbClr val="2F3030"/>
                </a:solidFill>
                <a:latin typeface="NanumGothic"/>
                <a:ea typeface="NanumGothic"/>
              </a:rPr>
              <a:t>관리</a:t>
            </a:r>
          </a:p>
        </p:txBody>
      </p:sp>
      <p:sp>
        <p:nvSpPr>
          <p:cNvPr id="68" name="t38"/>
          <p:cNvSpPr txBox="1"/>
          <p:nvPr/>
        </p:nvSpPr>
        <p:spPr>
          <a:xfrm>
            <a:off x="3371438" y="9419645"/>
            <a:ext cx="406816" cy="3193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6000"/>
              </a:lnSpc>
            </a:pPr>
            <a:r>
              <a:rPr sz="1060" b="1">
                <a:solidFill>
                  <a:srgbClr val="2F3030"/>
                </a:solidFill>
                <a:latin typeface="NanumGothic"/>
                <a:ea typeface="NanumGothic"/>
              </a:rPr>
              <a:t>안전</a:t>
            </a:r>
          </a:p>
          <a:p>
            <a:pPr algn="ctr">
              <a:lnSpc>
                <a:spcPct val="96000"/>
              </a:lnSpc>
            </a:pPr>
            <a:r>
              <a:rPr sz="1060" b="1">
                <a:solidFill>
                  <a:srgbClr val="2F3030"/>
                </a:solidFill>
                <a:latin typeface="NanumGothic"/>
                <a:ea typeface="NanumGothic"/>
              </a:rPr>
              <a:t>관리</a:t>
            </a:r>
          </a:p>
        </p:txBody>
      </p:sp>
      <p:sp>
        <p:nvSpPr>
          <p:cNvPr id="69" name="t39"/>
          <p:cNvSpPr txBox="1"/>
          <p:nvPr/>
        </p:nvSpPr>
        <p:spPr>
          <a:xfrm>
            <a:off x="795345" y="10050780"/>
            <a:ext cx="303946" cy="2164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0" b="0">
                <a:solidFill>
                  <a:srgbClr val="484B4A"/>
                </a:solidFill>
                <a:latin typeface="NanumGothic"/>
                <a:ea typeface="NanumGothic"/>
              </a:rPr>
              <a:t>38</a:t>
            </a:r>
          </a:p>
        </p:txBody>
      </p:sp>
      <p:sp>
        <p:nvSpPr>
          <p:cNvPr id="70" name="chapter-number"/>
          <p:cNvSpPr txBox="1"/>
          <p:nvPr/>
        </p:nvSpPr>
        <p:spPr>
          <a:xfrm>
            <a:off x="694944" y="33527"/>
            <a:ext cx="1014984" cy="618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BFDDF0"/>
                </a:solidFill>
                <a:latin typeface="NanumGothic"/>
                <a:ea typeface="NanumGothic"/>
              </a:rPr>
              <a:t>0</a:t>
            </a:r>
            <a:r>
              <a:rPr sz="4000" b="1">
                <a:solidFill>
                  <a:srgbClr val="4A9BD5"/>
                </a:solidFill>
                <a:latin typeface="NanumGothic"/>
                <a:ea typeface="NanumGothic"/>
              </a:rPr>
              <a:t>2</a:t>
            </a:r>
          </a:p>
        </p:txBody>
      </p:sp>
      <p:sp>
        <p:nvSpPr>
          <p:cNvPr id="71" name="a2"/>
          <p:cNvSpPr txBox="1"/>
          <p:nvPr/>
        </p:nvSpPr>
        <p:spPr>
          <a:xfrm>
            <a:off x="727982" y="914732"/>
            <a:ext cx="3311432" cy="1893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1">
                <a:solidFill>
                  <a:srgbClr val="2F3131"/>
                </a:solidFill>
                <a:latin typeface="NanumGothic"/>
                <a:ea typeface="NanumGothic"/>
              </a:rPr>
              <a:t>1.2 각종 재난사고 등 위험요소에 대한 안전조치 계획</a:t>
            </a:r>
          </a:p>
        </p:txBody>
      </p:sp>
      <p:sp>
        <p:nvSpPr>
          <p:cNvPr id="72" name="a3"/>
          <p:cNvSpPr txBox="1"/>
          <p:nvPr/>
        </p:nvSpPr>
        <p:spPr>
          <a:xfrm>
            <a:off x="727912" y="1143139"/>
            <a:ext cx="3312269" cy="190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90" b="0">
                <a:solidFill>
                  <a:srgbClr val="2F3131"/>
                </a:solidFill>
                <a:latin typeface="NanumGothic"/>
                <a:ea typeface="NanumGothic"/>
              </a:rPr>
              <a:t>(1) 건설 중 발생하는 각종재난에 대한 안전조치 계획</a:t>
            </a:r>
          </a:p>
        </p:txBody>
      </p:sp>
      <p:sp>
        <p:nvSpPr>
          <p:cNvPr id="73" name="a23"/>
          <p:cNvSpPr txBox="1"/>
          <p:nvPr/>
        </p:nvSpPr>
        <p:spPr>
          <a:xfrm>
            <a:off x="2695890" y="1736282"/>
            <a:ext cx="1470575" cy="5431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454747"/>
                </a:solidFill>
                <a:latin typeface="NanumGothic"/>
                <a:ea typeface="NanumGothic"/>
              </a:rPr>
              <a:t>• 인명 및 재산상 손실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454747"/>
                </a:solidFill>
                <a:latin typeface="NanumGothic"/>
                <a:ea typeface="NanumGothic"/>
              </a:rPr>
              <a:t>• 강구조물 및 패널 유실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454747"/>
                </a:solidFill>
                <a:latin typeface="NanumGothic"/>
                <a:ea typeface="NanumGothic"/>
              </a:rPr>
              <a:t>• 감전 및 근로자 안전사고</a:t>
            </a:r>
          </a:p>
        </p:txBody>
      </p:sp>
      <p:sp>
        <p:nvSpPr>
          <p:cNvPr id="74" name="a24"/>
          <p:cNvSpPr txBox="1"/>
          <p:nvPr/>
        </p:nvSpPr>
        <p:spPr>
          <a:xfrm>
            <a:off x="4126802" y="1711966"/>
            <a:ext cx="2511149" cy="558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919" b="0">
                <a:solidFill>
                  <a:srgbClr val="454747"/>
                </a:solidFill>
                <a:latin typeface="NanumGothic"/>
                <a:ea typeface="NanumGothic"/>
              </a:rPr>
              <a:t>• 사고대책본부 가동 및 2차사고 예방대책 수립</a:t>
            </a:r>
          </a:p>
          <a:p>
            <a:pPr algn="l">
              <a:lnSpc>
                <a:spcPct val="131000"/>
              </a:lnSpc>
            </a:pPr>
            <a:r>
              <a:rPr sz="919" b="0">
                <a:solidFill>
                  <a:srgbClr val="454747"/>
                </a:solidFill>
                <a:latin typeface="NanumGothic"/>
                <a:ea typeface="NanumGothic"/>
              </a:rPr>
              <a:t>• 피해복구계획 수립 및 필요시 현장 철거</a:t>
            </a:r>
          </a:p>
          <a:p>
            <a:pPr algn="l">
              <a:lnSpc>
                <a:spcPct val="131000"/>
              </a:lnSpc>
            </a:pPr>
            <a:r>
              <a:rPr sz="919" b="0">
                <a:solidFill>
                  <a:srgbClr val="454747"/>
                </a:solidFill>
                <a:latin typeface="NanumGothic"/>
                <a:ea typeface="NanumGothic"/>
              </a:rPr>
              <a:t>• 침수 및 파손자재 확인 후 복구 및 재시공</a:t>
            </a:r>
          </a:p>
        </p:txBody>
      </p:sp>
      <p:sp>
        <p:nvSpPr>
          <p:cNvPr id="75" name="a25"/>
          <p:cNvSpPr txBox="1"/>
          <p:nvPr/>
        </p:nvSpPr>
        <p:spPr>
          <a:xfrm>
            <a:off x="794147" y="2587230"/>
            <a:ext cx="665884" cy="3742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869" b="1">
                <a:solidFill>
                  <a:srgbClr val="343637"/>
                </a:solidFill>
                <a:latin typeface="NanumGothic"/>
                <a:ea typeface="NanumGothic"/>
              </a:rPr>
              <a:t>낙    뢰</a:t>
            </a:r>
          </a:p>
          <a:p>
            <a:pPr algn="l">
              <a:lnSpc>
                <a:spcPct val="138000"/>
              </a:lnSpc>
            </a:pPr>
            <a:r>
              <a:rPr sz="869" b="1">
                <a:solidFill>
                  <a:srgbClr val="343637"/>
                </a:solidFill>
                <a:latin typeface="NanumGothic"/>
                <a:ea typeface="NanumGothic"/>
              </a:rPr>
              <a:t>지    진</a:t>
            </a:r>
          </a:p>
        </p:txBody>
      </p:sp>
      <p:sp>
        <p:nvSpPr>
          <p:cNvPr id="76" name="a26"/>
          <p:cNvSpPr txBox="1"/>
          <p:nvPr/>
        </p:nvSpPr>
        <p:spPr>
          <a:xfrm>
            <a:off x="2695890" y="2472374"/>
            <a:ext cx="1470575" cy="5431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454747"/>
                </a:solidFill>
                <a:latin typeface="NanumGothic"/>
                <a:ea typeface="NanumGothic"/>
              </a:rPr>
              <a:t>• 인명 및 재산상 손실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454747"/>
                </a:solidFill>
                <a:latin typeface="NanumGothic"/>
                <a:ea typeface="NanumGothic"/>
              </a:rPr>
              <a:t>• 수배전반 등의 손상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454747"/>
                </a:solidFill>
                <a:latin typeface="NanumGothic"/>
                <a:ea typeface="NanumGothic"/>
              </a:rPr>
              <a:t>• 감전 및 근로자 안전사고</a:t>
            </a:r>
          </a:p>
        </p:txBody>
      </p:sp>
      <p:sp>
        <p:nvSpPr>
          <p:cNvPr id="77" name="a27"/>
          <p:cNvSpPr txBox="1"/>
          <p:nvPr/>
        </p:nvSpPr>
        <p:spPr>
          <a:xfrm>
            <a:off x="4126606" y="2449717"/>
            <a:ext cx="2515466" cy="5579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7000"/>
              </a:lnSpc>
            </a:pPr>
            <a:r>
              <a:rPr sz="950" b="0">
                <a:solidFill>
                  <a:srgbClr val="454747"/>
                </a:solidFill>
                <a:latin typeface="NanumGothic"/>
                <a:ea typeface="NanumGothic"/>
              </a:rPr>
              <a:t>• 사고대책본부 가동 및 근로자 안전대책 확보</a:t>
            </a:r>
          </a:p>
          <a:p>
            <a:pPr algn="l">
              <a:lnSpc>
                <a:spcPct val="127000"/>
              </a:lnSpc>
            </a:pPr>
            <a:r>
              <a:rPr sz="950" b="0">
                <a:solidFill>
                  <a:srgbClr val="454747"/>
                </a:solidFill>
                <a:latin typeface="NanumGothic"/>
                <a:ea typeface="NanumGothic"/>
              </a:rPr>
              <a:t>• 피해복구계획 수립 및 필요시 현장 철거</a:t>
            </a:r>
          </a:p>
          <a:p>
            <a:pPr algn="l">
              <a:lnSpc>
                <a:spcPct val="127000"/>
              </a:lnSpc>
            </a:pPr>
            <a:r>
              <a:rPr sz="950" b="0">
                <a:solidFill>
                  <a:srgbClr val="454747"/>
                </a:solidFill>
                <a:latin typeface="NanumGothic"/>
                <a:ea typeface="NanumGothic"/>
              </a:rPr>
              <a:t>• 써지침입설비 및 파손자재 확인 후 교체</a:t>
            </a:r>
          </a:p>
        </p:txBody>
      </p:sp>
      <p:sp>
        <p:nvSpPr>
          <p:cNvPr id="78" name="a28"/>
          <p:cNvSpPr txBox="1"/>
          <p:nvPr/>
        </p:nvSpPr>
        <p:spPr>
          <a:xfrm>
            <a:off x="794147" y="3318750"/>
            <a:ext cx="665884" cy="3742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869" b="1">
                <a:solidFill>
                  <a:srgbClr val="343637"/>
                </a:solidFill>
                <a:latin typeface="NanumGothic"/>
                <a:ea typeface="NanumGothic"/>
              </a:rPr>
              <a:t>화    재</a:t>
            </a:r>
          </a:p>
          <a:p>
            <a:pPr algn="l">
              <a:lnSpc>
                <a:spcPct val="138000"/>
              </a:lnSpc>
            </a:pPr>
            <a:r>
              <a:rPr sz="869" b="1">
                <a:solidFill>
                  <a:srgbClr val="343637"/>
                </a:solidFill>
                <a:latin typeface="NanumGothic"/>
                <a:ea typeface="NanumGothic"/>
              </a:rPr>
              <a:t>산    불</a:t>
            </a:r>
          </a:p>
        </p:txBody>
      </p:sp>
      <p:sp>
        <p:nvSpPr>
          <p:cNvPr id="79" name="a29"/>
          <p:cNvSpPr txBox="1"/>
          <p:nvPr/>
        </p:nvSpPr>
        <p:spPr>
          <a:xfrm>
            <a:off x="2695890" y="3208466"/>
            <a:ext cx="1470575" cy="5431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454747"/>
                </a:solidFill>
                <a:latin typeface="NanumGothic"/>
                <a:ea typeface="NanumGothic"/>
              </a:rPr>
              <a:t>• 인명 및 재산상 손실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454747"/>
                </a:solidFill>
                <a:latin typeface="NanumGothic"/>
                <a:ea typeface="NanumGothic"/>
              </a:rPr>
              <a:t>• 공사현장 시설물 화재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454747"/>
                </a:solidFill>
                <a:latin typeface="NanumGothic"/>
                <a:ea typeface="NanumGothic"/>
              </a:rPr>
              <a:t>• 감전 및 근로자 안전사고</a:t>
            </a:r>
          </a:p>
        </p:txBody>
      </p:sp>
      <p:sp>
        <p:nvSpPr>
          <p:cNvPr id="80" name="a30"/>
          <p:cNvSpPr txBox="1"/>
          <p:nvPr/>
        </p:nvSpPr>
        <p:spPr>
          <a:xfrm>
            <a:off x="4126808" y="3184184"/>
            <a:ext cx="2831066" cy="5575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919" b="0">
                <a:solidFill>
                  <a:srgbClr val="454747"/>
                </a:solidFill>
                <a:latin typeface="NanumGothic"/>
                <a:ea typeface="NanumGothic"/>
              </a:rPr>
              <a:t>• 구조물 변형 등 원인파악 및 피해규모 분석</a:t>
            </a:r>
          </a:p>
          <a:p>
            <a:pPr algn="l">
              <a:lnSpc>
                <a:spcPct val="131000"/>
              </a:lnSpc>
            </a:pPr>
            <a:r>
              <a:rPr sz="919" b="0">
                <a:solidFill>
                  <a:srgbClr val="454747"/>
                </a:solidFill>
                <a:latin typeface="NanumGothic"/>
                <a:ea typeface="NanumGothic"/>
              </a:rPr>
              <a:t>• 피해복구계획 수립 및 필요시 현장 철거</a:t>
            </a:r>
          </a:p>
          <a:p>
            <a:pPr algn="l">
              <a:lnSpc>
                <a:spcPct val="131000"/>
              </a:lnSpc>
            </a:pPr>
            <a:r>
              <a:rPr sz="919" b="0">
                <a:solidFill>
                  <a:srgbClr val="454747"/>
                </a:solidFill>
                <a:latin typeface="NanumGothic"/>
                <a:ea typeface="NanumGothic"/>
              </a:rPr>
              <a:t>• 피해지역 재시공 및 지체일수 등 전체 공정계획 수립</a:t>
            </a:r>
          </a:p>
        </p:txBody>
      </p:sp>
      <p:sp>
        <p:nvSpPr>
          <p:cNvPr id="81" name="a31"/>
          <p:cNvSpPr txBox="1"/>
          <p:nvPr/>
        </p:nvSpPr>
        <p:spPr>
          <a:xfrm>
            <a:off x="793863" y="3965854"/>
            <a:ext cx="694980" cy="5288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10" b="1">
                <a:solidFill>
                  <a:srgbClr val="343637"/>
                </a:solidFill>
                <a:latin typeface="NanumGothic"/>
                <a:ea typeface="NanumGothic"/>
              </a:rPr>
              <a:t>기    타</a:t>
            </a:r>
          </a:p>
          <a:p>
            <a:pPr algn="l">
              <a:lnSpc>
                <a:spcPct val="125000"/>
              </a:lnSpc>
            </a:pPr>
            <a:r>
              <a:rPr sz="910" b="1">
                <a:solidFill>
                  <a:srgbClr val="343637"/>
                </a:solidFill>
                <a:latin typeface="NanumGothic"/>
                <a:ea typeface="NanumGothic"/>
              </a:rPr>
              <a:t>사    회</a:t>
            </a:r>
          </a:p>
          <a:p>
            <a:pPr algn="l">
              <a:lnSpc>
                <a:spcPct val="125000"/>
              </a:lnSpc>
            </a:pPr>
            <a:r>
              <a:rPr sz="910" b="1">
                <a:solidFill>
                  <a:srgbClr val="343637"/>
                </a:solidFill>
                <a:latin typeface="NanumGothic"/>
                <a:ea typeface="NanumGothic"/>
              </a:rPr>
              <a:t>재    난</a:t>
            </a:r>
          </a:p>
        </p:txBody>
      </p:sp>
      <p:sp>
        <p:nvSpPr>
          <p:cNvPr id="82" name="a32"/>
          <p:cNvSpPr txBox="1"/>
          <p:nvPr/>
        </p:nvSpPr>
        <p:spPr>
          <a:xfrm>
            <a:off x="2704798" y="3942098"/>
            <a:ext cx="1466624" cy="542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30" b="0">
                <a:solidFill>
                  <a:srgbClr val="454747"/>
                </a:solidFill>
                <a:latin typeface="NanumGothic"/>
                <a:ea typeface="NanumGothic"/>
              </a:rPr>
              <a:t>• 감염병(코로나19) 발생</a:t>
            </a:r>
          </a:p>
          <a:p>
            <a:pPr algn="l">
              <a:lnSpc>
                <a:spcPct val="125000"/>
              </a:lnSpc>
            </a:pPr>
            <a:r>
              <a:rPr sz="930" b="0">
                <a:solidFill>
                  <a:srgbClr val="454747"/>
                </a:solidFill>
                <a:latin typeface="NanumGothic"/>
                <a:ea typeface="NanumGothic"/>
              </a:rPr>
              <a:t>• 교통재난 발생</a:t>
            </a:r>
          </a:p>
          <a:p>
            <a:pPr algn="l">
              <a:lnSpc>
                <a:spcPct val="125000"/>
              </a:lnSpc>
            </a:pPr>
            <a:r>
              <a:rPr sz="930" b="0">
                <a:solidFill>
                  <a:srgbClr val="454747"/>
                </a:solidFill>
                <a:latin typeface="NanumGothic"/>
                <a:ea typeface="NanumGothic"/>
              </a:rPr>
              <a:t>• 기타 비상 국가 재난 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0"/>
          <p:cNvSpPr/>
          <p:nvPr/>
        </p:nvSpPr>
        <p:spPr>
          <a:xfrm>
            <a:off x="3680460" y="1933956"/>
            <a:ext cx="3040380" cy="1911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860">
            <a:solidFill>
              <a:srgbClr val="B5B8B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1"/>
          <p:cNvSpPr/>
          <p:nvPr/>
        </p:nvSpPr>
        <p:spPr>
          <a:xfrm>
            <a:off x="589788" y="6373368"/>
            <a:ext cx="6112764" cy="283464"/>
          </a:xfrm>
          <a:prstGeom prst="rect">
            <a:avLst/>
          </a:prstGeom>
          <a:solidFill>
            <a:srgbClr val="D1DD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2"/>
          <p:cNvSpPr/>
          <p:nvPr/>
        </p:nvSpPr>
        <p:spPr>
          <a:xfrm>
            <a:off x="585216" y="7292340"/>
            <a:ext cx="3040380" cy="269748"/>
          </a:xfrm>
          <a:prstGeom prst="rect">
            <a:avLst/>
          </a:prstGeom>
          <a:solidFill>
            <a:srgbClr val="D5E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3"/>
          <p:cNvSpPr/>
          <p:nvPr/>
        </p:nvSpPr>
        <p:spPr>
          <a:xfrm>
            <a:off x="580644" y="8215884"/>
            <a:ext cx="3040380" cy="265176"/>
          </a:xfrm>
          <a:prstGeom prst="rect">
            <a:avLst/>
          </a:prstGeom>
          <a:solidFill>
            <a:srgbClr val="D6E1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4"/>
          <p:cNvSpPr/>
          <p:nvPr/>
        </p:nvSpPr>
        <p:spPr>
          <a:xfrm>
            <a:off x="3662172" y="7315200"/>
            <a:ext cx="3035808" cy="260604"/>
          </a:xfrm>
          <a:prstGeom prst="rect">
            <a:avLst/>
          </a:prstGeom>
          <a:solidFill>
            <a:srgbClr val="D1DE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5"/>
          <p:cNvSpPr/>
          <p:nvPr/>
        </p:nvSpPr>
        <p:spPr>
          <a:xfrm>
            <a:off x="3657600" y="8238744"/>
            <a:ext cx="3035808" cy="256032"/>
          </a:xfrm>
          <a:prstGeom prst="rect">
            <a:avLst/>
          </a:prstGeom>
          <a:solidFill>
            <a:srgbClr val="D2DD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6"/>
          <p:cNvSpPr/>
          <p:nvPr/>
        </p:nvSpPr>
        <p:spPr>
          <a:xfrm>
            <a:off x="594360" y="1101852"/>
            <a:ext cx="777240" cy="731520"/>
          </a:xfrm>
          <a:prstGeom prst="rect">
            <a:avLst/>
          </a:prstGeom>
          <a:solidFill>
            <a:srgbClr val="118E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7"/>
          <p:cNvSpPr/>
          <p:nvPr/>
        </p:nvSpPr>
        <p:spPr>
          <a:xfrm>
            <a:off x="5308092" y="2025396"/>
            <a:ext cx="562356" cy="438912"/>
          </a:xfrm>
          <a:prstGeom prst="rect">
            <a:avLst/>
          </a:prstGeom>
          <a:solidFill>
            <a:srgbClr val="FFFFFF"/>
          </a:solidFill>
          <a:ln w="18288">
            <a:solidFill>
              <a:srgbClr val="8AC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8"/>
          <p:cNvSpPr/>
          <p:nvPr/>
        </p:nvSpPr>
        <p:spPr>
          <a:xfrm>
            <a:off x="5303520" y="2761488"/>
            <a:ext cx="562356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716">
            <a:solidFill>
              <a:srgbClr val="ABB3B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9"/>
          <p:cNvSpPr/>
          <p:nvPr/>
        </p:nvSpPr>
        <p:spPr>
          <a:xfrm>
            <a:off x="4526280" y="2756916"/>
            <a:ext cx="557784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716">
            <a:solidFill>
              <a:srgbClr val="B7BDB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10"/>
          <p:cNvSpPr/>
          <p:nvPr/>
        </p:nvSpPr>
        <p:spPr>
          <a:xfrm>
            <a:off x="6089904" y="2029968"/>
            <a:ext cx="553212" cy="438912"/>
          </a:xfrm>
          <a:prstGeom prst="rect">
            <a:avLst/>
          </a:prstGeom>
          <a:solidFill>
            <a:srgbClr val="FFFFFF"/>
          </a:solidFill>
          <a:ln w="18288">
            <a:solidFill>
              <a:srgbClr val="93CD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11"/>
          <p:cNvSpPr/>
          <p:nvPr/>
        </p:nvSpPr>
        <p:spPr>
          <a:xfrm>
            <a:off x="3758184" y="2752344"/>
            <a:ext cx="553212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716">
            <a:solidFill>
              <a:srgbClr val="B1B4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12"/>
          <p:cNvSpPr/>
          <p:nvPr/>
        </p:nvSpPr>
        <p:spPr>
          <a:xfrm>
            <a:off x="6089904" y="2761488"/>
            <a:ext cx="548640" cy="4389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716">
            <a:solidFill>
              <a:srgbClr val="B7B9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13"/>
          <p:cNvSpPr/>
          <p:nvPr/>
        </p:nvSpPr>
        <p:spPr>
          <a:xfrm>
            <a:off x="3762756" y="2020824"/>
            <a:ext cx="553212" cy="434340"/>
          </a:xfrm>
          <a:prstGeom prst="rect">
            <a:avLst/>
          </a:prstGeom>
          <a:solidFill>
            <a:srgbClr val="FFFFFF"/>
          </a:solidFill>
          <a:ln w="18288">
            <a:solidFill>
              <a:srgbClr val="90CF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14"/>
          <p:cNvSpPr/>
          <p:nvPr/>
        </p:nvSpPr>
        <p:spPr>
          <a:xfrm>
            <a:off x="4526280" y="2002536"/>
            <a:ext cx="562356" cy="214884"/>
          </a:xfrm>
          <a:prstGeom prst="rect">
            <a:avLst/>
          </a:prstGeom>
          <a:solidFill>
            <a:srgbClr val="73C1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highlight-frame"/>
          <p:cNvSpPr/>
          <p:nvPr/>
        </p:nvSpPr>
        <p:spPr>
          <a:xfrm>
            <a:off x="1371600" y="1101852"/>
            <a:ext cx="5376672" cy="763524"/>
          </a:xfrm>
          <a:prstGeom prst="rect">
            <a:avLst/>
          </a:prstGeom>
          <a:noFill/>
          <a:ln w="9144">
            <a:solidFill>
              <a:srgbClr val="389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able-header"/>
          <p:cNvSpPr/>
          <p:nvPr/>
        </p:nvSpPr>
        <p:spPr>
          <a:xfrm>
            <a:off x="589788" y="1906524"/>
            <a:ext cx="3026664" cy="242316"/>
          </a:xfrm>
          <a:prstGeom prst="rect">
            <a:avLst/>
          </a:prstGeom>
          <a:solidFill>
            <a:srgbClr val="D5E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1-label-bg"/>
          <p:cNvSpPr/>
          <p:nvPr/>
        </p:nvSpPr>
        <p:spPr>
          <a:xfrm>
            <a:off x="594360" y="2148840"/>
            <a:ext cx="777240" cy="580644"/>
          </a:xfrm>
          <a:prstGeom prst="rect">
            <a:avLst/>
          </a:prstGeom>
          <a:solidFill>
            <a:srgbClr val="F08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1-frame"/>
          <p:cNvSpPr/>
          <p:nvPr/>
        </p:nvSpPr>
        <p:spPr>
          <a:xfrm>
            <a:off x="594360" y="2148840"/>
            <a:ext cx="3049524" cy="580644"/>
          </a:xfrm>
          <a:prstGeom prst="rect">
            <a:avLst/>
          </a:prstGeom>
          <a:noFill/>
          <a:ln w="13716">
            <a:solidFill>
              <a:srgbClr val="EF96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ox-simple-accident"/>
          <p:cNvSpPr/>
          <p:nvPr/>
        </p:nvSpPr>
        <p:spPr>
          <a:xfrm>
            <a:off x="4526280" y="2240280"/>
            <a:ext cx="562356" cy="219456"/>
          </a:xfrm>
          <a:prstGeom prst="rect">
            <a:avLst/>
          </a:prstGeom>
          <a:solidFill>
            <a:srgbClr val="FFFFFF"/>
          </a:solidFill>
          <a:ln w="9144">
            <a:solidFill>
              <a:srgbClr val="3FA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note-frame"/>
          <p:cNvSpPr/>
          <p:nvPr/>
        </p:nvSpPr>
        <p:spPr>
          <a:xfrm>
            <a:off x="576072" y="9198864"/>
            <a:ext cx="6108192" cy="640080"/>
          </a:xfrm>
          <a:prstGeom prst="rect">
            <a:avLst/>
          </a:prstGeom>
          <a:noFill/>
          <a:ln w="9144">
            <a:solidFill>
              <a:srgbClr val="C8C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ard-1"/>
          <p:cNvSpPr/>
          <p:nvPr/>
        </p:nvSpPr>
        <p:spPr>
          <a:xfrm>
            <a:off x="585216" y="6373368"/>
            <a:ext cx="6117336" cy="918972"/>
          </a:xfrm>
          <a:prstGeom prst="rect">
            <a:avLst/>
          </a:prstGeom>
          <a:noFill/>
          <a:ln w="9144">
            <a:solidFill>
              <a:srgbClr val="C8C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ard-2"/>
          <p:cNvSpPr/>
          <p:nvPr/>
        </p:nvSpPr>
        <p:spPr>
          <a:xfrm>
            <a:off x="585216" y="7292340"/>
            <a:ext cx="3040380" cy="923544"/>
          </a:xfrm>
          <a:prstGeom prst="rect">
            <a:avLst/>
          </a:prstGeom>
          <a:noFill/>
          <a:ln w="9144">
            <a:solidFill>
              <a:srgbClr val="C8C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card-3"/>
          <p:cNvSpPr/>
          <p:nvPr/>
        </p:nvSpPr>
        <p:spPr>
          <a:xfrm>
            <a:off x="3657600" y="7315200"/>
            <a:ext cx="3040380" cy="914400"/>
          </a:xfrm>
          <a:prstGeom prst="rect">
            <a:avLst/>
          </a:prstGeom>
          <a:noFill/>
          <a:ln w="9144">
            <a:solidFill>
              <a:srgbClr val="C8C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-4"/>
          <p:cNvSpPr/>
          <p:nvPr/>
        </p:nvSpPr>
        <p:spPr>
          <a:xfrm>
            <a:off x="580644" y="8215884"/>
            <a:ext cx="3040380" cy="882396"/>
          </a:xfrm>
          <a:prstGeom prst="rect">
            <a:avLst/>
          </a:prstGeom>
          <a:noFill/>
          <a:ln w="9144">
            <a:solidFill>
              <a:srgbClr val="C8C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card-5"/>
          <p:cNvSpPr/>
          <p:nvPr/>
        </p:nvSpPr>
        <p:spPr>
          <a:xfrm>
            <a:off x="3657600" y="8238744"/>
            <a:ext cx="3035808" cy="882396"/>
          </a:xfrm>
          <a:prstGeom prst="rect">
            <a:avLst/>
          </a:prstGeom>
          <a:noFill/>
          <a:ln w="9144">
            <a:solidFill>
              <a:srgbClr val="C8C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i1" descr="p5_i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1868" y="205740"/>
            <a:ext cx="969264" cy="434340"/>
          </a:xfrm>
          <a:prstGeom prst="rect">
            <a:avLst/>
          </a:prstGeom>
        </p:spPr>
      </p:pic>
      <p:pic>
        <p:nvPicPr>
          <p:cNvPr id="29" name="i3" descr="p5_i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828" y="2107692"/>
            <a:ext cx="210312" cy="320040"/>
          </a:xfrm>
          <a:prstGeom prst="rect">
            <a:avLst/>
          </a:prstGeom>
        </p:spPr>
      </p:pic>
      <p:pic>
        <p:nvPicPr>
          <p:cNvPr id="30" name="i4" descr="p5_i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7588" y="2231136"/>
            <a:ext cx="224028" cy="169164"/>
          </a:xfrm>
          <a:prstGeom prst="rect">
            <a:avLst/>
          </a:prstGeom>
        </p:spPr>
      </p:pic>
      <p:pic>
        <p:nvPicPr>
          <p:cNvPr id="31" name="i5" descr="p5_i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2263140"/>
            <a:ext cx="164592" cy="77724"/>
          </a:xfrm>
          <a:prstGeom prst="rect">
            <a:avLst/>
          </a:prstGeom>
        </p:spPr>
      </p:pic>
      <p:pic>
        <p:nvPicPr>
          <p:cNvPr id="32" name="i6" descr="p5_i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1596" y="2532888"/>
            <a:ext cx="150876" cy="164592"/>
          </a:xfrm>
          <a:prstGeom prst="rect">
            <a:avLst/>
          </a:prstGeom>
        </p:spPr>
      </p:pic>
      <p:pic>
        <p:nvPicPr>
          <p:cNvPr id="33" name="i7" descr="p5_i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977640"/>
            <a:ext cx="137160" cy="137160"/>
          </a:xfrm>
          <a:prstGeom prst="rect">
            <a:avLst/>
          </a:prstGeom>
        </p:spPr>
      </p:pic>
      <p:pic>
        <p:nvPicPr>
          <p:cNvPr id="34" name="site-aerial-photo" descr="p5_i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216" y="4206240"/>
            <a:ext cx="6121908" cy="2112264"/>
          </a:xfrm>
          <a:prstGeom prst="rect">
            <a:avLst/>
          </a:prstGeom>
        </p:spPr>
      </p:pic>
      <p:pic>
        <p:nvPicPr>
          <p:cNvPr id="35" name="i9" descr="p5_i9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7572" y="6670548"/>
            <a:ext cx="425196" cy="594360"/>
          </a:xfrm>
          <a:prstGeom prst="rect">
            <a:avLst/>
          </a:prstGeom>
        </p:spPr>
      </p:pic>
      <p:pic>
        <p:nvPicPr>
          <p:cNvPr id="36" name="i10" descr="p5_i1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2524" y="6697980"/>
            <a:ext cx="420624" cy="534924"/>
          </a:xfrm>
          <a:prstGeom prst="rect">
            <a:avLst/>
          </a:prstGeom>
        </p:spPr>
      </p:pic>
      <p:pic>
        <p:nvPicPr>
          <p:cNvPr id="37" name="i11" descr="p5_i1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75004" y="7598664"/>
            <a:ext cx="475488" cy="585216"/>
          </a:xfrm>
          <a:prstGeom prst="rect">
            <a:avLst/>
          </a:prstGeom>
        </p:spPr>
      </p:pic>
      <p:pic>
        <p:nvPicPr>
          <p:cNvPr id="38" name="i12" descr="p5_i1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33088" y="7626096"/>
            <a:ext cx="320040" cy="507492"/>
          </a:xfrm>
          <a:prstGeom prst="rect">
            <a:avLst/>
          </a:prstGeom>
        </p:spPr>
      </p:pic>
      <p:pic>
        <p:nvPicPr>
          <p:cNvPr id="39" name="i13" descr="p5_i13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39996" y="7740396"/>
            <a:ext cx="237744" cy="374904"/>
          </a:xfrm>
          <a:prstGeom prst="rect">
            <a:avLst/>
          </a:prstGeom>
        </p:spPr>
      </p:pic>
      <p:pic>
        <p:nvPicPr>
          <p:cNvPr id="40" name="i14" descr="p5_i14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2980" y="8599932"/>
            <a:ext cx="740664" cy="397764"/>
          </a:xfrm>
          <a:prstGeom prst="rect">
            <a:avLst/>
          </a:prstGeom>
        </p:spPr>
      </p:pic>
      <p:pic>
        <p:nvPicPr>
          <p:cNvPr id="41" name="ppe-worker-icon" descr="p5_a19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80460" y="8494776"/>
            <a:ext cx="1531620" cy="603504"/>
          </a:xfrm>
          <a:prstGeom prst="rect">
            <a:avLst/>
          </a:prstGeom>
        </p:spPr>
      </p:pic>
      <p:cxnSp>
        <p:nvCxnSpPr>
          <p:cNvPr id="42" name="l15"/>
          <p:cNvCxnSpPr/>
          <p:nvPr/>
        </p:nvCxnSpPr>
        <p:spPr>
          <a:xfrm>
            <a:off x="3643884" y="6679692"/>
            <a:ext cx="0" cy="566928"/>
          </a:xfrm>
          <a:prstGeom prst="line">
            <a:avLst/>
          </a:prstGeom>
          <a:ln w="9144">
            <a:solidFill>
              <a:srgbClr val="BDC3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l16"/>
          <p:cNvCxnSpPr/>
          <p:nvPr/>
        </p:nvCxnSpPr>
        <p:spPr>
          <a:xfrm>
            <a:off x="5175504" y="6684264"/>
            <a:ext cx="0" cy="571500"/>
          </a:xfrm>
          <a:prstGeom prst="line">
            <a:avLst/>
          </a:prstGeom>
          <a:ln w="9144">
            <a:solidFill>
              <a:srgbClr val="BEC3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l17"/>
          <p:cNvCxnSpPr/>
          <p:nvPr/>
        </p:nvCxnSpPr>
        <p:spPr>
          <a:xfrm>
            <a:off x="2100834" y="6739128"/>
            <a:ext cx="0" cy="498348"/>
          </a:xfrm>
          <a:prstGeom prst="line">
            <a:avLst/>
          </a:prstGeom>
          <a:ln w="6350">
            <a:solidFill>
              <a:srgbClr val="B8B9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l18"/>
          <p:cNvCxnSpPr/>
          <p:nvPr/>
        </p:nvCxnSpPr>
        <p:spPr>
          <a:xfrm>
            <a:off x="2098548" y="7584948"/>
            <a:ext cx="0" cy="576072"/>
          </a:xfrm>
          <a:prstGeom prst="line">
            <a:avLst/>
          </a:prstGeom>
          <a:ln w="9144">
            <a:solidFill>
              <a:srgbClr val="BCC0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l19"/>
          <p:cNvCxnSpPr/>
          <p:nvPr/>
        </p:nvCxnSpPr>
        <p:spPr>
          <a:xfrm>
            <a:off x="5168646" y="7603236"/>
            <a:ext cx="0" cy="571500"/>
          </a:xfrm>
          <a:prstGeom prst="line">
            <a:avLst/>
          </a:prstGeom>
          <a:ln w="6350">
            <a:solidFill>
              <a:srgbClr val="B3B5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l20"/>
          <p:cNvCxnSpPr/>
          <p:nvPr/>
        </p:nvCxnSpPr>
        <p:spPr>
          <a:xfrm>
            <a:off x="2093976" y="8508492"/>
            <a:ext cx="0" cy="566928"/>
          </a:xfrm>
          <a:prstGeom prst="line">
            <a:avLst/>
          </a:prstGeom>
          <a:ln w="9144">
            <a:solidFill>
              <a:srgbClr val="BABD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page-bar"/>
          <p:cNvCxnSpPr/>
          <p:nvPr/>
        </p:nvCxnSpPr>
        <p:spPr>
          <a:xfrm>
            <a:off x="6441948" y="10035540"/>
            <a:ext cx="0" cy="114300"/>
          </a:xfrm>
          <a:prstGeom prst="line">
            <a:avLst/>
          </a:prstGeom>
          <a:ln w="9144">
            <a:solidFill>
              <a:srgbClr val="3A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a6"/>
          <p:cNvCxnSpPr/>
          <p:nvPr/>
        </p:nvCxnSpPr>
        <p:spPr>
          <a:xfrm>
            <a:off x="589788" y="2734056"/>
            <a:ext cx="3026664" cy="0"/>
          </a:xfrm>
          <a:prstGeom prst="line">
            <a:avLst/>
          </a:prstGeom>
          <a:ln w="9144">
            <a:solidFill>
              <a:srgbClr val="C8C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a7"/>
          <p:cNvCxnSpPr/>
          <p:nvPr/>
        </p:nvCxnSpPr>
        <p:spPr>
          <a:xfrm>
            <a:off x="589788" y="3264408"/>
            <a:ext cx="3026664" cy="0"/>
          </a:xfrm>
          <a:prstGeom prst="line">
            <a:avLst/>
          </a:prstGeom>
          <a:ln w="9144">
            <a:solidFill>
              <a:srgbClr val="C8C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a8"/>
          <p:cNvCxnSpPr/>
          <p:nvPr/>
        </p:nvCxnSpPr>
        <p:spPr>
          <a:xfrm>
            <a:off x="589788" y="3799332"/>
            <a:ext cx="3026664" cy="0"/>
          </a:xfrm>
          <a:prstGeom prst="line">
            <a:avLst/>
          </a:prstGeom>
          <a:ln w="9144">
            <a:solidFill>
              <a:srgbClr val="C8C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a15"/>
          <p:cNvCxnSpPr/>
          <p:nvPr/>
        </p:nvCxnSpPr>
        <p:spPr>
          <a:xfrm>
            <a:off x="4805172" y="2468880"/>
            <a:ext cx="0" cy="274320"/>
          </a:xfrm>
          <a:prstGeom prst="line">
            <a:avLst/>
          </a:prstGeom>
          <a:ln w="9144">
            <a:solidFill>
              <a:srgbClr val="8A8F9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a16"/>
          <p:cNvCxnSpPr/>
          <p:nvPr/>
        </p:nvCxnSpPr>
        <p:spPr>
          <a:xfrm>
            <a:off x="5586984" y="2473452"/>
            <a:ext cx="0" cy="269748"/>
          </a:xfrm>
          <a:prstGeom prst="line">
            <a:avLst/>
          </a:prstGeom>
          <a:ln w="9144">
            <a:solidFill>
              <a:srgbClr val="8A8F9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a17"/>
          <p:cNvCxnSpPr/>
          <p:nvPr/>
        </p:nvCxnSpPr>
        <p:spPr>
          <a:xfrm>
            <a:off x="4421124" y="2971800"/>
            <a:ext cx="0" cy="0"/>
          </a:xfrm>
          <a:prstGeom prst="line">
            <a:avLst/>
          </a:prstGeom>
          <a:ln w="9144">
            <a:solidFill>
              <a:srgbClr val="8A8F9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a18"/>
          <p:cNvCxnSpPr/>
          <p:nvPr/>
        </p:nvCxnSpPr>
        <p:spPr>
          <a:xfrm>
            <a:off x="5879592" y="2980944"/>
            <a:ext cx="201168" cy="0"/>
          </a:xfrm>
          <a:prstGeom prst="line">
            <a:avLst/>
          </a:prstGeom>
          <a:ln w="9144">
            <a:solidFill>
              <a:srgbClr val="8A8F90"/>
            </a:solidFill>
            <a:tailEnd type="triangl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0"/>
          <p:cNvSpPr txBox="1"/>
          <p:nvPr/>
        </p:nvSpPr>
        <p:spPr>
          <a:xfrm>
            <a:off x="5224350" y="637081"/>
            <a:ext cx="1256352" cy="1428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80" b="1">
                <a:solidFill>
                  <a:srgbClr val="484A49"/>
                </a:solidFill>
                <a:latin typeface="NanumGothic"/>
                <a:ea typeface="NanumGothic"/>
              </a:rPr>
              <a:t>고속도로 민간투자 태양광</a:t>
            </a:r>
          </a:p>
        </p:txBody>
      </p:sp>
      <p:sp>
        <p:nvSpPr>
          <p:cNvPr id="57" name="t1"/>
          <p:cNvSpPr txBox="1"/>
          <p:nvPr/>
        </p:nvSpPr>
        <p:spPr>
          <a:xfrm>
            <a:off x="6419385" y="660210"/>
            <a:ext cx="362190" cy="1041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20" b="0">
                <a:solidFill>
                  <a:srgbClr val="ACB0AF"/>
                </a:solidFill>
                <a:latin typeface="NanumGothic"/>
                <a:ea typeface="NanumGothic"/>
              </a:rPr>
              <a:t>발전사업</a:t>
            </a:r>
          </a:p>
        </p:txBody>
      </p:sp>
      <p:sp>
        <p:nvSpPr>
          <p:cNvPr id="58" name="t2"/>
          <p:cNvSpPr txBox="1"/>
          <p:nvPr/>
        </p:nvSpPr>
        <p:spPr>
          <a:xfrm>
            <a:off x="591088" y="856035"/>
            <a:ext cx="1890922" cy="18345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40" b="0">
                <a:solidFill>
                  <a:srgbClr val="414242"/>
                </a:solidFill>
                <a:latin typeface="NanumGothic"/>
                <a:ea typeface="NanumGothic"/>
              </a:rPr>
              <a:t>(4) 안전대책 및 안전점검 계획</a:t>
            </a:r>
          </a:p>
        </p:txBody>
      </p:sp>
      <p:sp>
        <p:nvSpPr>
          <p:cNvPr id="59" name="t3"/>
          <p:cNvSpPr txBox="1"/>
          <p:nvPr/>
        </p:nvSpPr>
        <p:spPr>
          <a:xfrm>
            <a:off x="1429067" y="1182419"/>
            <a:ext cx="4839336" cy="593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950" b="0">
                <a:solidFill>
                  <a:srgbClr val="3C3E3E"/>
                </a:solidFill>
                <a:latin typeface="NanumGothic"/>
                <a:ea typeface="NanumGothic"/>
              </a:rPr>
              <a:t>• 고속도로 주행차량의 안전에 영향이 없도록, 고속도로와 이격하여 부체도로에서 공사수행</a:t>
            </a:r>
          </a:p>
          <a:p>
            <a:pPr algn="l">
              <a:lnSpc>
                <a:spcPct val="134000"/>
              </a:lnSpc>
            </a:pPr>
            <a:r>
              <a:rPr sz="950" b="0">
                <a:solidFill>
                  <a:srgbClr val="3C3E3E"/>
                </a:solidFill>
                <a:latin typeface="NanumGothic"/>
                <a:ea typeface="NanumGothic"/>
              </a:rPr>
              <a:t>• 부체도로를 통행하는 주민, 농민의 안전사고 예방을 위하여 농한기 시공계획 수립</a:t>
            </a:r>
          </a:p>
          <a:p>
            <a:pPr algn="l">
              <a:lnSpc>
                <a:spcPct val="134000"/>
              </a:lnSpc>
            </a:pPr>
            <a:r>
              <a:rPr sz="950" b="0">
                <a:solidFill>
                  <a:srgbClr val="3C3E3E"/>
                </a:solidFill>
                <a:latin typeface="NanumGothic"/>
                <a:ea typeface="NanumGothic"/>
              </a:rPr>
              <a:t>• 공사구간내 안전을 위하여 안전관리자 통제하에 작업 수행</a:t>
            </a:r>
          </a:p>
        </p:txBody>
      </p:sp>
      <p:sp>
        <p:nvSpPr>
          <p:cNvPr id="60" name="t4"/>
          <p:cNvSpPr txBox="1"/>
          <p:nvPr/>
        </p:nvSpPr>
        <p:spPr>
          <a:xfrm>
            <a:off x="733217" y="1387492"/>
            <a:ext cx="610560" cy="17461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90" b="1">
                <a:solidFill>
                  <a:srgbClr val="FFFFFF"/>
                </a:solidFill>
                <a:latin typeface="NanumGothic"/>
                <a:ea typeface="NanumGothic"/>
              </a:rPr>
              <a:t>중점사항</a:t>
            </a:r>
          </a:p>
        </p:txBody>
      </p:sp>
      <p:sp>
        <p:nvSpPr>
          <p:cNvPr id="61" name="t6"/>
          <p:cNvSpPr txBox="1"/>
          <p:nvPr/>
        </p:nvSpPr>
        <p:spPr>
          <a:xfrm>
            <a:off x="4621831" y="2043419"/>
            <a:ext cx="421583" cy="120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FFFFFF"/>
                </a:solidFill>
                <a:latin typeface="NanumGothic"/>
                <a:ea typeface="NanumGothic"/>
              </a:rPr>
              <a:t>인명사고</a:t>
            </a:r>
          </a:p>
        </p:txBody>
      </p:sp>
      <p:sp>
        <p:nvSpPr>
          <p:cNvPr id="62" name="t7"/>
          <p:cNvSpPr txBox="1"/>
          <p:nvPr/>
        </p:nvSpPr>
        <p:spPr>
          <a:xfrm>
            <a:off x="3853974" y="2104143"/>
            <a:ext cx="466640" cy="2562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700" b="0">
                <a:solidFill>
                  <a:srgbClr val="484B4B"/>
                </a:solidFill>
                <a:latin typeface="NanumGothic"/>
                <a:ea typeface="NanumGothic"/>
              </a:rPr>
              <a:t>교통사고</a:t>
            </a:r>
          </a:p>
          <a:p>
            <a:pPr algn="ctr">
              <a:lnSpc>
                <a:spcPct val="116000"/>
              </a:lnSpc>
            </a:pPr>
            <a:r>
              <a:rPr sz="700" b="0">
                <a:solidFill>
                  <a:srgbClr val="484B4B"/>
                </a:solidFill>
                <a:latin typeface="NanumGothic"/>
                <a:ea typeface="NanumGothic"/>
              </a:rPr>
              <a:t>발생</a:t>
            </a:r>
          </a:p>
        </p:txBody>
      </p:sp>
      <p:sp>
        <p:nvSpPr>
          <p:cNvPr id="63" name="t8"/>
          <p:cNvSpPr txBox="1"/>
          <p:nvPr/>
        </p:nvSpPr>
        <p:spPr>
          <a:xfrm>
            <a:off x="5371932" y="2117219"/>
            <a:ext cx="524890" cy="2387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9000"/>
              </a:lnSpc>
            </a:pPr>
            <a:r>
              <a:rPr sz="690" b="0">
                <a:solidFill>
                  <a:srgbClr val="555858"/>
                </a:solidFill>
                <a:latin typeface="NanumGothic"/>
                <a:ea typeface="NanumGothic"/>
              </a:rPr>
              <a:t>119신고</a:t>
            </a:r>
          </a:p>
          <a:p>
            <a:pPr algn="ctr">
              <a:lnSpc>
                <a:spcPct val="109000"/>
              </a:lnSpc>
            </a:pPr>
            <a:r>
              <a:rPr sz="690" b="0">
                <a:solidFill>
                  <a:srgbClr val="555858"/>
                </a:solidFill>
                <a:latin typeface="NanumGothic"/>
                <a:ea typeface="NanumGothic"/>
              </a:rPr>
              <a:t>(초기대응)</a:t>
            </a:r>
          </a:p>
        </p:txBody>
      </p:sp>
      <p:sp>
        <p:nvSpPr>
          <p:cNvPr id="64" name="t9"/>
          <p:cNvSpPr txBox="1"/>
          <p:nvPr/>
        </p:nvSpPr>
        <p:spPr>
          <a:xfrm>
            <a:off x="6185760" y="2121991"/>
            <a:ext cx="460624" cy="2192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690" b="0">
                <a:solidFill>
                  <a:srgbClr val="535755"/>
                </a:solidFill>
                <a:latin typeface="NanumGothic"/>
                <a:ea typeface="NanumGothic"/>
              </a:rPr>
              <a:t>대표이사</a:t>
            </a:r>
          </a:p>
          <a:p>
            <a:pPr algn="ctr">
              <a:lnSpc>
                <a:spcPct val="100000"/>
              </a:lnSpc>
            </a:pPr>
            <a:r>
              <a:rPr sz="690" b="0">
                <a:solidFill>
                  <a:srgbClr val="535755"/>
                </a:solidFill>
                <a:latin typeface="NanumGothic"/>
                <a:ea typeface="NanumGothic"/>
              </a:rPr>
              <a:t>보고</a:t>
            </a:r>
          </a:p>
        </p:txBody>
      </p:sp>
      <p:sp>
        <p:nvSpPr>
          <p:cNvPr id="65" name="t10"/>
          <p:cNvSpPr txBox="1"/>
          <p:nvPr/>
        </p:nvSpPr>
        <p:spPr>
          <a:xfrm>
            <a:off x="4621831" y="2290307"/>
            <a:ext cx="421583" cy="12098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30" b="1">
                <a:solidFill>
                  <a:srgbClr val="4A4C4C"/>
                </a:solidFill>
                <a:latin typeface="NanumGothic"/>
                <a:ea typeface="NanumGothic"/>
              </a:rPr>
              <a:t>단순사고</a:t>
            </a:r>
          </a:p>
        </p:txBody>
      </p:sp>
      <p:sp>
        <p:nvSpPr>
          <p:cNvPr id="66" name="t11"/>
          <p:cNvSpPr txBox="1"/>
          <p:nvPr/>
        </p:nvSpPr>
        <p:spPr>
          <a:xfrm>
            <a:off x="3849468" y="2839484"/>
            <a:ext cx="460624" cy="2570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690" b="0">
                <a:solidFill>
                  <a:srgbClr val="555958"/>
                </a:solidFill>
                <a:latin typeface="NanumGothic"/>
                <a:ea typeface="NanumGothic"/>
              </a:rPr>
              <a:t>재발방지</a:t>
            </a:r>
          </a:p>
          <a:p>
            <a:pPr algn="ctr">
              <a:lnSpc>
                <a:spcPct val="118000"/>
              </a:lnSpc>
            </a:pPr>
            <a:r>
              <a:rPr sz="690" b="0">
                <a:solidFill>
                  <a:srgbClr val="555958"/>
                </a:solidFill>
                <a:latin typeface="NanumGothic"/>
                <a:ea typeface="NanumGothic"/>
              </a:rPr>
              <a:t>조치시행</a:t>
            </a:r>
          </a:p>
        </p:txBody>
      </p:sp>
      <p:sp>
        <p:nvSpPr>
          <p:cNvPr id="67" name="t12"/>
          <p:cNvSpPr txBox="1"/>
          <p:nvPr/>
        </p:nvSpPr>
        <p:spPr>
          <a:xfrm>
            <a:off x="4622136" y="2846682"/>
            <a:ext cx="460624" cy="2465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sz="690" b="0">
                <a:solidFill>
                  <a:srgbClr val="5A5E5E"/>
                </a:solidFill>
                <a:latin typeface="NanumGothic"/>
                <a:ea typeface="NanumGothic"/>
              </a:rPr>
              <a:t>안전관리</a:t>
            </a:r>
          </a:p>
          <a:p>
            <a:pPr algn="ctr">
              <a:lnSpc>
                <a:spcPct val="113000"/>
              </a:lnSpc>
            </a:pPr>
            <a:r>
              <a:rPr sz="690" b="0">
                <a:solidFill>
                  <a:srgbClr val="5A5E5E"/>
                </a:solidFill>
                <a:latin typeface="NanumGothic"/>
                <a:ea typeface="NanumGothic"/>
              </a:rPr>
              <a:t>팀장보고</a:t>
            </a:r>
          </a:p>
        </p:txBody>
      </p:sp>
      <p:sp>
        <p:nvSpPr>
          <p:cNvPr id="68" name="t13"/>
          <p:cNvSpPr txBox="1"/>
          <p:nvPr/>
        </p:nvSpPr>
        <p:spPr>
          <a:xfrm>
            <a:off x="5353551" y="2851885"/>
            <a:ext cx="554375" cy="2475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1000"/>
              </a:lnSpc>
            </a:pPr>
            <a:r>
              <a:rPr sz="700" b="0">
                <a:solidFill>
                  <a:srgbClr val="515352"/>
                </a:solidFill>
                <a:latin typeface="NanumGothic"/>
                <a:ea typeface="NanumGothic"/>
              </a:rPr>
              <a:t>도공</a:t>
            </a:r>
          </a:p>
          <a:p>
            <a:pPr algn="ctr">
              <a:lnSpc>
                <a:spcPct val="111000"/>
              </a:lnSpc>
            </a:pPr>
            <a:r>
              <a:rPr sz="700" b="0">
                <a:solidFill>
                  <a:srgbClr val="515352"/>
                </a:solidFill>
                <a:latin typeface="NanumGothic"/>
                <a:ea typeface="NanumGothic"/>
              </a:rPr>
              <a:t>사업개발처</a:t>
            </a:r>
          </a:p>
        </p:txBody>
      </p:sp>
      <p:sp>
        <p:nvSpPr>
          <p:cNvPr id="69" name="t14"/>
          <p:cNvSpPr txBox="1"/>
          <p:nvPr/>
        </p:nvSpPr>
        <p:spPr>
          <a:xfrm>
            <a:off x="6176550" y="2856082"/>
            <a:ext cx="466640" cy="24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2000"/>
              </a:lnSpc>
            </a:pPr>
            <a:r>
              <a:rPr sz="700" b="0">
                <a:solidFill>
                  <a:srgbClr val="575B5A"/>
                </a:solidFill>
                <a:latin typeface="NanumGothic"/>
                <a:ea typeface="NanumGothic"/>
              </a:rPr>
              <a:t>도공</a:t>
            </a:r>
          </a:p>
          <a:p>
            <a:pPr algn="ctr">
              <a:lnSpc>
                <a:spcPct val="112000"/>
              </a:lnSpc>
            </a:pPr>
            <a:r>
              <a:rPr sz="700" b="0">
                <a:solidFill>
                  <a:srgbClr val="575B5A"/>
                </a:solidFill>
                <a:latin typeface="NanumGothic"/>
                <a:ea typeface="NanumGothic"/>
              </a:rPr>
              <a:t>관할지사</a:t>
            </a:r>
          </a:p>
        </p:txBody>
      </p:sp>
      <p:sp>
        <p:nvSpPr>
          <p:cNvPr id="70" name="t15"/>
          <p:cNvSpPr txBox="1"/>
          <p:nvPr/>
        </p:nvSpPr>
        <p:spPr>
          <a:xfrm>
            <a:off x="3752073" y="3266360"/>
            <a:ext cx="2635305" cy="5223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90" b="0">
                <a:solidFill>
                  <a:srgbClr val="474948"/>
                </a:solidFill>
                <a:latin typeface="NanumGothic"/>
                <a:ea typeface="NanumGothic"/>
              </a:rPr>
              <a:t>• 현장책임자 안전교육 이수(전기안전관리법 25조)</a:t>
            </a:r>
          </a:p>
          <a:p>
            <a:pPr algn="l">
              <a:lnSpc>
                <a:spcPct val="126000"/>
              </a:lnSpc>
            </a:pPr>
            <a:r>
              <a:rPr sz="890" b="0">
                <a:solidFill>
                  <a:srgbClr val="474948"/>
                </a:solidFill>
                <a:latin typeface="NanumGothic"/>
                <a:ea typeface="NanumGothic"/>
              </a:rPr>
              <a:t>• 작업팀은 도로차단 안전관리계획서를 별도 제출</a:t>
            </a:r>
          </a:p>
          <a:p>
            <a:pPr algn="l">
              <a:lnSpc>
                <a:spcPct val="126000"/>
              </a:lnSpc>
            </a:pPr>
            <a:r>
              <a:rPr sz="890" b="0">
                <a:solidFill>
                  <a:srgbClr val="474948"/>
                </a:solidFill>
                <a:latin typeface="NanumGothic"/>
                <a:ea typeface="NanumGothic"/>
              </a:rPr>
              <a:t>• 인명사고 시 119 신고 선조치 후 보고</a:t>
            </a:r>
          </a:p>
        </p:txBody>
      </p:sp>
      <p:sp>
        <p:nvSpPr>
          <p:cNvPr id="71" name="t16"/>
          <p:cNvSpPr txBox="1"/>
          <p:nvPr/>
        </p:nvSpPr>
        <p:spPr>
          <a:xfrm>
            <a:off x="627964" y="3359353"/>
            <a:ext cx="902055" cy="3745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9000"/>
              </a:lnSpc>
            </a:pPr>
            <a:r>
              <a:rPr sz="1100" b="1">
                <a:solidFill>
                  <a:srgbClr val="393C3D"/>
                </a:solidFill>
                <a:latin typeface="NanumGothic"/>
                <a:ea typeface="NanumGothic"/>
              </a:rPr>
              <a:t>협 착 사 고</a:t>
            </a:r>
          </a:p>
          <a:p>
            <a:pPr algn="l">
              <a:lnSpc>
                <a:spcPct val="109000"/>
              </a:lnSpc>
            </a:pPr>
            <a:r>
              <a:rPr sz="1100" b="1">
                <a:solidFill>
                  <a:srgbClr val="393C3D"/>
                </a:solidFill>
                <a:latin typeface="NanumGothic"/>
                <a:ea typeface="NanumGothic"/>
              </a:rPr>
              <a:t>전 도 사 고</a:t>
            </a:r>
          </a:p>
        </p:txBody>
      </p:sp>
      <p:sp>
        <p:nvSpPr>
          <p:cNvPr id="72" name="t17"/>
          <p:cNvSpPr txBox="1"/>
          <p:nvPr/>
        </p:nvSpPr>
        <p:spPr>
          <a:xfrm>
            <a:off x="760620" y="3961446"/>
            <a:ext cx="2590592" cy="17527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90" b="0">
                <a:solidFill>
                  <a:srgbClr val="383A39"/>
                </a:solidFill>
                <a:latin typeface="NanumGothic"/>
                <a:ea typeface="NanumGothic"/>
              </a:rPr>
              <a:t>서산시 안호리 태양광발전소 예시(성토부11)</a:t>
            </a:r>
          </a:p>
        </p:txBody>
      </p:sp>
      <p:sp>
        <p:nvSpPr>
          <p:cNvPr id="73" name="t23"/>
          <p:cNvSpPr txBox="1"/>
          <p:nvPr/>
        </p:nvSpPr>
        <p:spPr>
          <a:xfrm>
            <a:off x="2955365" y="6439983"/>
            <a:ext cx="1431658" cy="1711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1">
                <a:solidFill>
                  <a:srgbClr val="484D4E"/>
                </a:solidFill>
                <a:latin typeface="NanumGothic"/>
                <a:ea typeface="NanumGothic"/>
              </a:rPr>
              <a:t>① 교통안내 표지판 설치</a:t>
            </a:r>
          </a:p>
        </p:txBody>
      </p:sp>
      <p:sp>
        <p:nvSpPr>
          <p:cNvPr id="74" name="t24"/>
          <p:cNvSpPr txBox="1"/>
          <p:nvPr/>
        </p:nvSpPr>
        <p:spPr>
          <a:xfrm>
            <a:off x="2142687" y="6670680"/>
            <a:ext cx="1575530" cy="562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4D4F4E"/>
                </a:solidFill>
                <a:latin typeface="NanumGothic"/>
                <a:ea typeface="NanumGothic"/>
              </a:rPr>
              <a:t>• 공사구간 전방 설치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4D4F4E"/>
                </a:solidFill>
                <a:latin typeface="NanumGothic"/>
                <a:ea typeface="NanumGothic"/>
              </a:rPr>
              <a:t>• 부체도로 통행자 사전 인지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4D4F4E"/>
                </a:solidFill>
                <a:latin typeface="NanumGothic"/>
                <a:ea typeface="NanumGothic"/>
              </a:rPr>
              <a:t>• 각 필요 위치별로 설치</a:t>
            </a:r>
          </a:p>
        </p:txBody>
      </p:sp>
      <p:sp>
        <p:nvSpPr>
          <p:cNvPr id="75" name="t25"/>
          <p:cNvSpPr txBox="1"/>
          <p:nvPr/>
        </p:nvSpPr>
        <p:spPr>
          <a:xfrm>
            <a:off x="5215131" y="6688013"/>
            <a:ext cx="1560500" cy="5655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7000"/>
              </a:lnSpc>
            </a:pPr>
            <a:r>
              <a:rPr sz="890" b="0">
                <a:solidFill>
                  <a:srgbClr val="484B4A"/>
                </a:solidFill>
                <a:latin typeface="NanumGothic"/>
                <a:ea typeface="NanumGothic"/>
              </a:rPr>
              <a:t>• 공사구간 전방 설치</a:t>
            </a:r>
          </a:p>
          <a:p>
            <a:pPr algn="l">
              <a:lnSpc>
                <a:spcPct val="137000"/>
              </a:lnSpc>
            </a:pPr>
            <a:r>
              <a:rPr sz="890" b="0">
                <a:solidFill>
                  <a:srgbClr val="484B4A"/>
                </a:solidFill>
                <a:latin typeface="NanumGothic"/>
                <a:ea typeface="NanumGothic"/>
              </a:rPr>
              <a:t>• 부체도로 통행자 사전 인지</a:t>
            </a:r>
          </a:p>
          <a:p>
            <a:pPr algn="l">
              <a:lnSpc>
                <a:spcPct val="137000"/>
              </a:lnSpc>
            </a:pPr>
            <a:r>
              <a:rPr sz="890" b="0">
                <a:solidFill>
                  <a:srgbClr val="484B4A"/>
                </a:solidFill>
                <a:latin typeface="NanumGothic"/>
                <a:ea typeface="NanumGothic"/>
              </a:rPr>
              <a:t>• 작업구역에 따라 수시 이동</a:t>
            </a:r>
          </a:p>
        </p:txBody>
      </p:sp>
      <p:sp>
        <p:nvSpPr>
          <p:cNvPr id="76" name="t27"/>
          <p:cNvSpPr txBox="1"/>
          <p:nvPr/>
        </p:nvSpPr>
        <p:spPr>
          <a:xfrm>
            <a:off x="1465171" y="7355157"/>
            <a:ext cx="1378025" cy="164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>
                <a:solidFill>
                  <a:srgbClr val="323637"/>
                </a:solidFill>
                <a:latin typeface="NanumGothic"/>
                <a:ea typeface="NanumGothic"/>
              </a:rPr>
              <a:t>② 공사안내 표지판 설치</a:t>
            </a:r>
          </a:p>
        </p:txBody>
      </p:sp>
      <p:sp>
        <p:nvSpPr>
          <p:cNvPr id="77" name="t28"/>
          <p:cNvSpPr txBox="1"/>
          <p:nvPr/>
        </p:nvSpPr>
        <p:spPr>
          <a:xfrm>
            <a:off x="4413983" y="7373088"/>
            <a:ext cx="1621881" cy="1678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333737"/>
                </a:solidFill>
                <a:latin typeface="NanumGothic"/>
                <a:ea typeface="NanumGothic"/>
              </a:rPr>
              <a:t>③ PE드럼 러버콘, 윙카 설치</a:t>
            </a:r>
          </a:p>
        </p:txBody>
      </p:sp>
      <p:sp>
        <p:nvSpPr>
          <p:cNvPr id="78" name="t29"/>
          <p:cNvSpPr txBox="1"/>
          <p:nvPr/>
        </p:nvSpPr>
        <p:spPr>
          <a:xfrm>
            <a:off x="2138623" y="7584882"/>
            <a:ext cx="1546076" cy="5660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</a:pPr>
            <a:r>
              <a:rPr sz="819" b="0">
                <a:solidFill>
                  <a:srgbClr val="4B4E4D"/>
                </a:solidFill>
                <a:latin typeface="NanumGothic"/>
                <a:ea typeface="NanumGothic"/>
              </a:rPr>
              <a:t>• 공사구간 전방 설치</a:t>
            </a:r>
          </a:p>
          <a:p>
            <a:pPr algn="l">
              <a:lnSpc>
                <a:spcPct val="148000"/>
              </a:lnSpc>
            </a:pPr>
            <a:r>
              <a:rPr sz="819" b="0">
                <a:solidFill>
                  <a:srgbClr val="4B4E4D"/>
                </a:solidFill>
                <a:latin typeface="NanumGothic"/>
                <a:ea typeface="NanumGothic"/>
              </a:rPr>
              <a:t>• 부체도로 통행자 사전인지</a:t>
            </a:r>
          </a:p>
          <a:p>
            <a:pPr algn="l">
              <a:lnSpc>
                <a:spcPct val="148000"/>
              </a:lnSpc>
            </a:pPr>
            <a:r>
              <a:rPr sz="819" b="0">
                <a:solidFill>
                  <a:srgbClr val="4B4E4D"/>
                </a:solidFill>
                <a:latin typeface="NanumGothic"/>
                <a:ea typeface="NanumGothic"/>
              </a:rPr>
              <a:t>• 공사내용 전반에 대하여 명기</a:t>
            </a:r>
          </a:p>
        </p:txBody>
      </p:sp>
      <p:sp>
        <p:nvSpPr>
          <p:cNvPr id="79" name="t30"/>
          <p:cNvSpPr txBox="1"/>
          <p:nvPr/>
        </p:nvSpPr>
        <p:spPr>
          <a:xfrm>
            <a:off x="5209804" y="7621574"/>
            <a:ext cx="1476520" cy="54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7000"/>
              </a:lnSpc>
            </a:pPr>
            <a:r>
              <a:rPr sz="1000" b="0">
                <a:solidFill>
                  <a:srgbClr val="4A4D4C"/>
                </a:solidFill>
                <a:latin typeface="NanumGothic"/>
                <a:ea typeface="NanumGothic"/>
              </a:rPr>
              <a:t>• 공사구역 경계 설치</a:t>
            </a:r>
          </a:p>
          <a:p>
            <a:pPr algn="l">
              <a:lnSpc>
                <a:spcPct val="117000"/>
              </a:lnSpc>
            </a:pPr>
            <a:r>
              <a:rPr sz="1000" b="0">
                <a:solidFill>
                  <a:srgbClr val="4A4D4C"/>
                </a:solidFill>
                <a:latin typeface="NanumGothic"/>
                <a:ea typeface="NanumGothic"/>
              </a:rPr>
              <a:t>• 야간 통행객의 안전을</a:t>
            </a:r>
          </a:p>
          <a:p>
            <a:pPr algn="l">
              <a:lnSpc>
                <a:spcPct val="117000"/>
              </a:lnSpc>
            </a:pPr>
            <a:r>
              <a:rPr sz="1000" b="0">
                <a:solidFill>
                  <a:srgbClr val="4A4D4C"/>
                </a:solidFill>
                <a:latin typeface="NanumGothic"/>
                <a:ea typeface="NanumGothic"/>
              </a:rPr>
              <a:t>위하여 필요시 윙카 설치</a:t>
            </a:r>
          </a:p>
        </p:txBody>
      </p:sp>
      <p:sp>
        <p:nvSpPr>
          <p:cNvPr id="80" name="t31"/>
          <p:cNvSpPr txBox="1"/>
          <p:nvPr/>
        </p:nvSpPr>
        <p:spPr>
          <a:xfrm>
            <a:off x="1350626" y="8264304"/>
            <a:ext cx="1545558" cy="1704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1">
                <a:solidFill>
                  <a:srgbClr val="414546"/>
                </a:solidFill>
                <a:latin typeface="NanumGothic"/>
                <a:ea typeface="NanumGothic"/>
              </a:rPr>
              <a:t>④ 자재운반 사다리차 작업</a:t>
            </a:r>
          </a:p>
        </p:txBody>
      </p:sp>
      <p:sp>
        <p:nvSpPr>
          <p:cNvPr id="81" name="t32"/>
          <p:cNvSpPr txBox="1"/>
          <p:nvPr/>
        </p:nvSpPr>
        <p:spPr>
          <a:xfrm>
            <a:off x="4734265" y="8292733"/>
            <a:ext cx="978892" cy="162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393C3D"/>
                </a:solidFill>
                <a:latin typeface="NanumGothic"/>
                <a:ea typeface="NanumGothic"/>
              </a:rPr>
              <a:t>⑤ 안전요원 배치</a:t>
            </a:r>
          </a:p>
        </p:txBody>
      </p:sp>
      <p:sp>
        <p:nvSpPr>
          <p:cNvPr id="82" name="t34"/>
          <p:cNvSpPr txBox="1"/>
          <p:nvPr/>
        </p:nvSpPr>
        <p:spPr>
          <a:xfrm>
            <a:off x="2133572" y="8508133"/>
            <a:ext cx="1323447" cy="564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890" b="0">
                <a:solidFill>
                  <a:srgbClr val="484A4A"/>
                </a:solidFill>
                <a:latin typeface="NanumGothic"/>
                <a:ea typeface="NanumGothic"/>
              </a:rPr>
              <a:t>• 성토비탈면 자재 인양</a:t>
            </a:r>
          </a:p>
          <a:p>
            <a:pPr algn="l">
              <a:lnSpc>
                <a:spcPct val="136000"/>
              </a:lnSpc>
            </a:pPr>
            <a:r>
              <a:rPr sz="890" b="0">
                <a:solidFill>
                  <a:srgbClr val="484A4A"/>
                </a:solidFill>
                <a:latin typeface="NanumGothic"/>
                <a:ea typeface="NanumGothic"/>
              </a:rPr>
              <a:t>• 전도사고 유의</a:t>
            </a:r>
          </a:p>
          <a:p>
            <a:pPr algn="l">
              <a:lnSpc>
                <a:spcPct val="136000"/>
              </a:lnSpc>
            </a:pPr>
            <a:r>
              <a:rPr sz="890" b="0">
                <a:solidFill>
                  <a:srgbClr val="484A4A"/>
                </a:solidFill>
                <a:latin typeface="NanumGothic"/>
                <a:ea typeface="NanumGothic"/>
              </a:rPr>
              <a:t>• 철재구조물 등 운반</a:t>
            </a:r>
          </a:p>
        </p:txBody>
      </p:sp>
      <p:sp>
        <p:nvSpPr>
          <p:cNvPr id="83" name="t38"/>
          <p:cNvSpPr txBox="1"/>
          <p:nvPr/>
        </p:nvSpPr>
        <p:spPr>
          <a:xfrm>
            <a:off x="642921" y="9242276"/>
            <a:ext cx="5711913" cy="5301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919" b="0">
                <a:solidFill>
                  <a:srgbClr val="4D4F4F"/>
                </a:solidFill>
                <a:latin typeface="NanumGothic"/>
                <a:ea typeface="NanumGothic"/>
              </a:rPr>
              <a:t>• 관련표지 설치 후 운전자가 통행방법을 이해하지 못하거나, 안전문제가 발생(예상) 될 경우 즉시 수정 후 재설치</a:t>
            </a:r>
          </a:p>
          <a:p>
            <a:pPr algn="l">
              <a:lnSpc>
                <a:spcPct val="124000"/>
              </a:lnSpc>
            </a:pPr>
            <a:r>
              <a:rPr sz="919" b="0">
                <a:solidFill>
                  <a:srgbClr val="4D4F4F"/>
                </a:solidFill>
                <a:latin typeface="NanumGothic"/>
                <a:ea typeface="NanumGothic"/>
              </a:rPr>
              <a:t>• 기존 표지와 도로 공사구간 주의표지 내용이 다를 경우 기존 표지를 가리거나 임시로 제거</a:t>
            </a:r>
          </a:p>
          <a:p>
            <a:pPr algn="l">
              <a:lnSpc>
                <a:spcPct val="124000"/>
              </a:lnSpc>
            </a:pPr>
            <a:r>
              <a:rPr sz="919" b="0">
                <a:solidFill>
                  <a:srgbClr val="4D4F4F"/>
                </a:solidFill>
                <a:latin typeface="NanumGothic"/>
                <a:ea typeface="NanumGothic"/>
              </a:rPr>
              <a:t>• 가급적 작업보호 자동차를 2대 이상 배치하며, 작업 활동구역과 최소 60m 이상 이격하여 배치</a:t>
            </a:r>
          </a:p>
        </p:txBody>
      </p:sp>
      <p:sp>
        <p:nvSpPr>
          <p:cNvPr id="84" name="page-number"/>
          <p:cNvSpPr txBox="1"/>
          <p:nvPr/>
        </p:nvSpPr>
        <p:spPr>
          <a:xfrm>
            <a:off x="6497726" y="9989820"/>
            <a:ext cx="327355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A3C3C"/>
                </a:solidFill>
                <a:latin typeface="NanumGothic"/>
                <a:ea typeface="NanumGothic"/>
              </a:rPr>
              <a:t>39</a:t>
            </a:r>
          </a:p>
        </p:txBody>
      </p:sp>
      <p:sp>
        <p:nvSpPr>
          <p:cNvPr id="85" name="a9"/>
          <p:cNvSpPr txBox="1"/>
          <p:nvPr/>
        </p:nvSpPr>
        <p:spPr>
          <a:xfrm>
            <a:off x="2059548" y="1946529"/>
            <a:ext cx="591433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>
                <a:solidFill>
                  <a:srgbClr val="2F3231"/>
                </a:solidFill>
                <a:latin typeface="NanumGothic"/>
                <a:ea typeface="NanumGothic"/>
              </a:rPr>
              <a:t>방지대책</a:t>
            </a:r>
          </a:p>
        </p:txBody>
      </p:sp>
      <p:sp>
        <p:nvSpPr>
          <p:cNvPr id="86" name="a10"/>
          <p:cNvSpPr txBox="1"/>
          <p:nvPr/>
        </p:nvSpPr>
        <p:spPr>
          <a:xfrm>
            <a:off x="1433943" y="2159914"/>
            <a:ext cx="2299752" cy="5288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10" b="0">
                <a:solidFill>
                  <a:srgbClr val="454747"/>
                </a:solidFill>
                <a:latin typeface="NanumGothic"/>
                <a:ea typeface="NanumGothic"/>
              </a:rPr>
              <a:t>• 모듈, 구조물 양중 시 고속도로 하향 양중</a:t>
            </a:r>
          </a:p>
          <a:p>
            <a:pPr algn="l">
              <a:lnSpc>
                <a:spcPct val="125000"/>
              </a:lnSpc>
            </a:pPr>
            <a:r>
              <a:rPr sz="910" b="0">
                <a:solidFill>
                  <a:srgbClr val="454747"/>
                </a:solidFill>
                <a:latin typeface="NanumGothic"/>
                <a:ea typeface="NanumGothic"/>
              </a:rPr>
              <a:t>• 크레인 작업반경내 입출입 통제</a:t>
            </a:r>
          </a:p>
          <a:p>
            <a:pPr algn="l">
              <a:lnSpc>
                <a:spcPct val="125000"/>
              </a:lnSpc>
            </a:pPr>
            <a:r>
              <a:rPr sz="910" b="0">
                <a:solidFill>
                  <a:srgbClr val="454747"/>
                </a:solidFill>
                <a:latin typeface="NanumGothic"/>
                <a:ea typeface="NanumGothic"/>
              </a:rPr>
              <a:t>• 크레인 작업중량 및 허용재원 준수</a:t>
            </a:r>
          </a:p>
        </p:txBody>
      </p:sp>
      <p:sp>
        <p:nvSpPr>
          <p:cNvPr id="87" name="a11"/>
          <p:cNvSpPr txBox="1"/>
          <p:nvPr/>
        </p:nvSpPr>
        <p:spPr>
          <a:xfrm>
            <a:off x="628512" y="2879217"/>
            <a:ext cx="824605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>
                <a:solidFill>
                  <a:srgbClr val="393C3D"/>
                </a:solidFill>
                <a:latin typeface="NanumGothic"/>
                <a:ea typeface="NanumGothic"/>
              </a:rPr>
              <a:t>교 통 사 고</a:t>
            </a:r>
          </a:p>
        </p:txBody>
      </p:sp>
      <p:sp>
        <p:nvSpPr>
          <p:cNvPr id="88" name="a12"/>
          <p:cNvSpPr txBox="1"/>
          <p:nvPr/>
        </p:nvSpPr>
        <p:spPr>
          <a:xfrm>
            <a:off x="1434440" y="2704302"/>
            <a:ext cx="2288814" cy="529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840" b="0">
                <a:solidFill>
                  <a:srgbClr val="454747"/>
                </a:solidFill>
                <a:latin typeface="NanumGothic"/>
                <a:ea typeface="NanumGothic"/>
              </a:rPr>
              <a:t>• 작업 전 작업특성에 맞는 안전교육 실시</a:t>
            </a:r>
          </a:p>
          <a:p>
            <a:pPr algn="l">
              <a:lnSpc>
                <a:spcPct val="136000"/>
              </a:lnSpc>
            </a:pPr>
            <a:r>
              <a:rPr sz="840" b="0">
                <a:solidFill>
                  <a:srgbClr val="454747"/>
                </a:solidFill>
                <a:latin typeface="NanumGothic"/>
                <a:ea typeface="NanumGothic"/>
              </a:rPr>
              <a:t>• 작업자 고속도로 접근금지, 안전요원 배치</a:t>
            </a:r>
          </a:p>
          <a:p>
            <a:pPr algn="l">
              <a:lnSpc>
                <a:spcPct val="136000"/>
              </a:lnSpc>
            </a:pPr>
            <a:r>
              <a:rPr sz="840" b="0">
                <a:solidFill>
                  <a:srgbClr val="454747"/>
                </a:solidFill>
                <a:latin typeface="NanumGothic"/>
                <a:ea typeface="NanumGothic"/>
              </a:rPr>
              <a:t>• 부체도로 통행을 위한 3.0m의 최소폭원 유지</a:t>
            </a:r>
          </a:p>
        </p:txBody>
      </p:sp>
      <p:sp>
        <p:nvSpPr>
          <p:cNvPr id="89" name="a13"/>
          <p:cNvSpPr txBox="1"/>
          <p:nvPr/>
        </p:nvSpPr>
        <p:spPr>
          <a:xfrm>
            <a:off x="1434193" y="3245447"/>
            <a:ext cx="2294255" cy="53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869" b="0">
                <a:solidFill>
                  <a:srgbClr val="454747"/>
                </a:solidFill>
                <a:latin typeface="NanumGothic"/>
                <a:ea typeface="NanumGothic"/>
              </a:rPr>
              <a:t>• 2인1조 작업, 자발적 위험인식 함양 교육</a:t>
            </a:r>
          </a:p>
          <a:p>
            <a:pPr algn="l">
              <a:lnSpc>
                <a:spcPct val="131000"/>
              </a:lnSpc>
            </a:pPr>
            <a:r>
              <a:rPr sz="869" b="0">
                <a:solidFill>
                  <a:srgbClr val="454747"/>
                </a:solidFill>
                <a:latin typeface="NanumGothic"/>
                <a:ea typeface="NanumGothic"/>
              </a:rPr>
              <a:t>• 굴착기는 전도예방을 위한 트랙식장비 사용</a:t>
            </a:r>
          </a:p>
          <a:p>
            <a:pPr algn="l">
              <a:lnSpc>
                <a:spcPct val="131000"/>
              </a:lnSpc>
            </a:pPr>
            <a:r>
              <a:rPr sz="869" b="0">
                <a:solidFill>
                  <a:srgbClr val="454747"/>
                </a:solidFill>
                <a:latin typeface="NanumGothic"/>
                <a:ea typeface="NanumGothic"/>
              </a:rPr>
              <a:t>• 소형자재도 가급적 크레인, 굴착기 운반</a:t>
            </a:r>
          </a:p>
        </p:txBody>
      </p:sp>
      <p:sp>
        <p:nvSpPr>
          <p:cNvPr id="90" name="a20"/>
          <p:cNvSpPr txBox="1"/>
          <p:nvPr/>
        </p:nvSpPr>
        <p:spPr>
          <a:xfrm>
            <a:off x="5192241" y="8532061"/>
            <a:ext cx="1488014" cy="5030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1000"/>
              </a:lnSpc>
            </a:pPr>
            <a:r>
              <a:rPr sz="890" b="0">
                <a:solidFill>
                  <a:srgbClr val="454747"/>
                </a:solidFill>
                <a:latin typeface="NanumGothic"/>
                <a:ea typeface="NanumGothic"/>
              </a:rPr>
              <a:t>• 작업구역 안전 사고 예방</a:t>
            </a:r>
          </a:p>
          <a:p>
            <a:pPr algn="l">
              <a:lnSpc>
                <a:spcPct val="121000"/>
              </a:lnSpc>
            </a:pPr>
            <a:r>
              <a:rPr sz="890" b="0">
                <a:solidFill>
                  <a:srgbClr val="454747"/>
                </a:solidFill>
                <a:latin typeface="NanumGothic"/>
                <a:ea typeface="NanumGothic"/>
              </a:rPr>
              <a:t>• 차량통제 및 보행사고</a:t>
            </a:r>
          </a:p>
          <a:p>
            <a:pPr algn="l">
              <a:lnSpc>
                <a:spcPct val="121000"/>
              </a:lnSpc>
            </a:pPr>
            <a:r>
              <a:rPr sz="890" b="0">
                <a:solidFill>
                  <a:srgbClr val="454747"/>
                </a:solidFill>
                <a:latin typeface="NanumGothic"/>
                <a:ea typeface="NanumGothic"/>
              </a:rPr>
              <a:t>   예방</a:t>
            </a:r>
          </a:p>
        </p:txBody>
      </p:sp>
      <p:sp>
        <p:nvSpPr>
          <p:cNvPr id="91" name="a22"/>
          <p:cNvSpPr txBox="1"/>
          <p:nvPr/>
        </p:nvSpPr>
        <p:spPr>
          <a:xfrm>
            <a:off x="638233" y="2345895"/>
            <a:ext cx="808539" cy="15177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>
                <a:solidFill>
                  <a:srgbClr val="FFFFFF"/>
                </a:solidFill>
                <a:latin typeface="NanumGothic"/>
                <a:ea typeface="NanumGothic"/>
              </a:rPr>
              <a:t>인적, 물적낙하</a:t>
            </a:r>
          </a:p>
        </p:txBody>
      </p:sp>
      <p:sp>
        <p:nvSpPr>
          <p:cNvPr id="92" name="a23"/>
          <p:cNvSpPr txBox="1"/>
          <p:nvPr/>
        </p:nvSpPr>
        <p:spPr>
          <a:xfrm>
            <a:off x="743046" y="1947176"/>
            <a:ext cx="584063" cy="1594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90" b="1">
                <a:solidFill>
                  <a:srgbClr val="2F3231"/>
                </a:solidFill>
                <a:latin typeface="NanumGothic"/>
                <a:ea typeface="NanumGothic"/>
              </a:rPr>
              <a:t>사고형태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-org"/>
          <p:cNvSpPr/>
          <p:nvPr/>
        </p:nvSpPr>
        <p:spPr>
          <a:xfrm>
            <a:off x="777240" y="4137660"/>
            <a:ext cx="3063240" cy="2880360"/>
          </a:xfrm>
          <a:prstGeom prst="rect">
            <a:avLst/>
          </a:prstGeom>
          <a:noFill/>
          <a:ln w="9144">
            <a:solidFill>
              <a:srgbClr val="C8C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ec-edu"/>
          <p:cNvSpPr/>
          <p:nvPr/>
        </p:nvSpPr>
        <p:spPr>
          <a:xfrm>
            <a:off x="3863340" y="4137660"/>
            <a:ext cx="3049524" cy="2880360"/>
          </a:xfrm>
          <a:prstGeom prst="rect">
            <a:avLst/>
          </a:prstGeom>
          <a:noFill/>
          <a:ln w="9144">
            <a:solidFill>
              <a:srgbClr val="C8C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ec-check"/>
          <p:cNvSpPr/>
          <p:nvPr/>
        </p:nvSpPr>
        <p:spPr>
          <a:xfrm>
            <a:off x="795528" y="7040880"/>
            <a:ext cx="3049524" cy="2880360"/>
          </a:xfrm>
          <a:prstGeom prst="rect">
            <a:avLst/>
          </a:prstGeom>
          <a:noFill/>
          <a:ln w="9144">
            <a:solidFill>
              <a:srgbClr val="C8C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ec-emergency"/>
          <p:cNvSpPr/>
          <p:nvPr/>
        </p:nvSpPr>
        <p:spPr>
          <a:xfrm>
            <a:off x="3886200" y="7040880"/>
            <a:ext cx="3044952" cy="2880360"/>
          </a:xfrm>
          <a:prstGeom prst="rect">
            <a:avLst/>
          </a:prstGeom>
          <a:noFill/>
          <a:ln w="9144">
            <a:solidFill>
              <a:srgbClr val="C8CC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0"/>
          <p:cNvSpPr/>
          <p:nvPr/>
        </p:nvSpPr>
        <p:spPr>
          <a:xfrm>
            <a:off x="5513832" y="7324344"/>
            <a:ext cx="1380744" cy="14036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8288">
            <a:solidFill>
              <a:srgbClr val="BC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1"/>
          <p:cNvSpPr/>
          <p:nvPr/>
        </p:nvSpPr>
        <p:spPr>
          <a:xfrm>
            <a:off x="777240" y="4165092"/>
            <a:ext cx="3054096" cy="274320"/>
          </a:xfrm>
          <a:prstGeom prst="rect">
            <a:avLst/>
          </a:prstGeom>
          <a:solidFill>
            <a:srgbClr val="D5D7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2"/>
          <p:cNvSpPr/>
          <p:nvPr/>
        </p:nvSpPr>
        <p:spPr>
          <a:xfrm>
            <a:off x="3863340" y="4146804"/>
            <a:ext cx="3049524" cy="269748"/>
          </a:xfrm>
          <a:prstGeom prst="rect">
            <a:avLst/>
          </a:prstGeom>
          <a:solidFill>
            <a:srgbClr val="D8D9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3"/>
          <p:cNvSpPr/>
          <p:nvPr/>
        </p:nvSpPr>
        <p:spPr>
          <a:xfrm>
            <a:off x="795528" y="7063740"/>
            <a:ext cx="3049524" cy="269748"/>
          </a:xfrm>
          <a:prstGeom prst="rect">
            <a:avLst/>
          </a:prstGeom>
          <a:solidFill>
            <a:srgbClr val="D9DB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4"/>
          <p:cNvSpPr/>
          <p:nvPr/>
        </p:nvSpPr>
        <p:spPr>
          <a:xfrm>
            <a:off x="3886200" y="7040880"/>
            <a:ext cx="3044952" cy="269748"/>
          </a:xfrm>
          <a:prstGeom prst="rect">
            <a:avLst/>
          </a:prstGeom>
          <a:solidFill>
            <a:srgbClr val="DDD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6"/>
          <p:cNvSpPr/>
          <p:nvPr/>
        </p:nvSpPr>
        <p:spPr>
          <a:xfrm>
            <a:off x="745236" y="1165860"/>
            <a:ext cx="786384" cy="726948"/>
          </a:xfrm>
          <a:prstGeom prst="rect">
            <a:avLst/>
          </a:prstGeom>
          <a:solidFill>
            <a:srgbClr val="228E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14"/>
          <p:cNvSpPr/>
          <p:nvPr/>
        </p:nvSpPr>
        <p:spPr>
          <a:xfrm>
            <a:off x="3991356" y="8289036"/>
            <a:ext cx="1252728" cy="192024"/>
          </a:xfrm>
          <a:prstGeom prst="rect">
            <a:avLst/>
          </a:prstGeom>
          <a:solidFill>
            <a:srgbClr val="179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ighlight-frame"/>
          <p:cNvSpPr/>
          <p:nvPr/>
        </p:nvSpPr>
        <p:spPr>
          <a:xfrm>
            <a:off x="1531620" y="1129284"/>
            <a:ext cx="5372100" cy="754380"/>
          </a:xfrm>
          <a:prstGeom prst="rect">
            <a:avLst/>
          </a:prstGeom>
          <a:noFill/>
          <a:ln w="9144">
            <a:solidFill>
              <a:srgbClr val="389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fter-frame"/>
          <p:cNvSpPr/>
          <p:nvPr/>
        </p:nvSpPr>
        <p:spPr>
          <a:xfrm>
            <a:off x="3950208" y="8915400"/>
            <a:ext cx="1371600" cy="914400"/>
          </a:xfrm>
          <a:prstGeom prst="roundRect">
            <a:avLst>
              <a:gd name="adj" fmla="val 6000"/>
            </a:avLst>
          </a:prstGeom>
          <a:noFill/>
          <a:ln w="9144">
            <a:solidFill>
              <a:srgbClr val="A9C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nsite-frame"/>
          <p:cNvSpPr/>
          <p:nvPr/>
        </p:nvSpPr>
        <p:spPr>
          <a:xfrm>
            <a:off x="5527548" y="8906256"/>
            <a:ext cx="1376172" cy="905256"/>
          </a:xfrm>
          <a:prstGeom prst="roundRect">
            <a:avLst>
              <a:gd name="adj" fmla="val 6000"/>
            </a:avLst>
          </a:prstGeom>
          <a:noFill/>
          <a:ln w="9144">
            <a:solidFill>
              <a:srgbClr val="A9CC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accident-box" descr="p6_i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640" y="7452360"/>
            <a:ext cx="1261872" cy="425196"/>
          </a:xfrm>
          <a:prstGeom prst="rect">
            <a:avLst/>
          </a:prstGeom>
        </p:spPr>
      </p:pic>
      <p:pic>
        <p:nvPicPr>
          <p:cNvPr id="17" name="i8" descr="p6_i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0016" y="4475988"/>
            <a:ext cx="745236" cy="475488"/>
          </a:xfrm>
          <a:prstGeom prst="rect">
            <a:avLst/>
          </a:prstGeom>
        </p:spPr>
      </p:pic>
      <p:pic>
        <p:nvPicPr>
          <p:cNvPr id="18" name="i12" descr="p6_i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3732" y="5070348"/>
            <a:ext cx="736092" cy="260604"/>
          </a:xfrm>
          <a:prstGeom prst="rect">
            <a:avLst/>
          </a:prstGeom>
        </p:spPr>
      </p:pic>
      <p:pic>
        <p:nvPicPr>
          <p:cNvPr id="19" name="i15" descr="p6_i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3732" y="5449824"/>
            <a:ext cx="740664" cy="269748"/>
          </a:xfrm>
          <a:prstGeom prst="rect">
            <a:avLst/>
          </a:prstGeom>
        </p:spPr>
      </p:pic>
      <p:pic>
        <p:nvPicPr>
          <p:cNvPr id="20" name="i20" descr="p6_i2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7460" y="7429500"/>
            <a:ext cx="960120" cy="1005840"/>
          </a:xfrm>
          <a:prstGeom prst="rect">
            <a:avLst/>
          </a:prstGeom>
        </p:spPr>
      </p:pic>
      <p:pic>
        <p:nvPicPr>
          <p:cNvPr id="21" name="i23" descr="p6_i2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82212" y="7882128"/>
            <a:ext cx="1266444" cy="324612"/>
          </a:xfrm>
          <a:prstGeom prst="rect">
            <a:avLst/>
          </a:prstGeom>
        </p:spPr>
      </p:pic>
      <p:pic>
        <p:nvPicPr>
          <p:cNvPr id="22" name="i24" descr="p6_i2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62956" y="7987284"/>
            <a:ext cx="96012" cy="164592"/>
          </a:xfrm>
          <a:prstGeom prst="rect">
            <a:avLst/>
          </a:prstGeom>
        </p:spPr>
      </p:pic>
      <p:pic>
        <p:nvPicPr>
          <p:cNvPr id="23" name="i25" descr="p6_i2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35808" y="8476488"/>
            <a:ext cx="233172" cy="59436"/>
          </a:xfrm>
          <a:prstGeom prst="rect">
            <a:avLst/>
          </a:prstGeom>
        </p:spPr>
      </p:pic>
      <p:pic>
        <p:nvPicPr>
          <p:cNvPr id="24" name="i26" descr="p6_i2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7340" y="8485632"/>
            <a:ext cx="233172" cy="64008"/>
          </a:xfrm>
          <a:prstGeom prst="rect">
            <a:avLst/>
          </a:prstGeom>
        </p:spPr>
      </p:pic>
      <p:pic>
        <p:nvPicPr>
          <p:cNvPr id="25" name="i27" descr="p6_i2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86784" y="8490204"/>
            <a:ext cx="1266444" cy="237744"/>
          </a:xfrm>
          <a:prstGeom prst="rect">
            <a:avLst/>
          </a:prstGeom>
        </p:spPr>
      </p:pic>
      <p:pic>
        <p:nvPicPr>
          <p:cNvPr id="26" name="i28" descr="p6_i28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26480" y="8773668"/>
            <a:ext cx="169164" cy="91440"/>
          </a:xfrm>
          <a:prstGeom prst="rect">
            <a:avLst/>
          </a:prstGeom>
        </p:spPr>
      </p:pic>
      <p:pic>
        <p:nvPicPr>
          <p:cNvPr id="27" name="i29" descr="p6_i29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86968" y="8787384"/>
            <a:ext cx="2898648" cy="256032"/>
          </a:xfrm>
          <a:prstGeom prst="rect">
            <a:avLst/>
          </a:prstGeom>
        </p:spPr>
      </p:pic>
      <p:pic>
        <p:nvPicPr>
          <p:cNvPr id="28" name="i30" descr="p6_i30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49624" y="8924544"/>
            <a:ext cx="146304" cy="141732"/>
          </a:xfrm>
          <a:prstGeom prst="rect">
            <a:avLst/>
          </a:prstGeom>
        </p:spPr>
      </p:pic>
      <p:pic>
        <p:nvPicPr>
          <p:cNvPr id="29" name="i31" descr="p6_i31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9244" y="9139428"/>
            <a:ext cx="2980944" cy="749808"/>
          </a:xfrm>
          <a:prstGeom prst="rect">
            <a:avLst/>
          </a:prstGeom>
        </p:spPr>
      </p:pic>
      <p:pic>
        <p:nvPicPr>
          <p:cNvPr id="30" name="i32" descr="p6_i32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376672" y="9276588"/>
            <a:ext cx="91440" cy="169164"/>
          </a:xfrm>
          <a:prstGeom prst="rect">
            <a:avLst/>
          </a:prstGeom>
        </p:spPr>
      </p:pic>
      <p:pic>
        <p:nvPicPr>
          <p:cNvPr id="31" name="i33" descr="p6_i33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50408" y="9788652"/>
            <a:ext cx="1330452" cy="54864"/>
          </a:xfrm>
          <a:prstGeom prst="rect">
            <a:avLst/>
          </a:prstGeom>
        </p:spPr>
      </p:pic>
      <p:pic>
        <p:nvPicPr>
          <p:cNvPr id="32" name="safety-infographic" descr="p6_a5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45236" y="1911096"/>
            <a:ext cx="6167628" cy="1883664"/>
          </a:xfrm>
          <a:prstGeom prst="rect">
            <a:avLst/>
          </a:prstGeom>
        </p:spPr>
      </p:pic>
      <p:pic>
        <p:nvPicPr>
          <p:cNvPr id="33" name="org-chart" descr="p6_a6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77240" y="4457700"/>
            <a:ext cx="3063240" cy="2537460"/>
          </a:xfrm>
          <a:prstGeom prst="rect">
            <a:avLst/>
          </a:prstGeom>
        </p:spPr>
      </p:pic>
      <p:pic>
        <p:nvPicPr>
          <p:cNvPr id="34" name="management-circle" descr="p6_a8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928616" y="5577840"/>
            <a:ext cx="612648" cy="393192"/>
          </a:xfrm>
          <a:prstGeom prst="rect">
            <a:avLst/>
          </a:prstGeom>
        </p:spPr>
      </p:pic>
      <p:pic>
        <p:nvPicPr>
          <p:cNvPr id="35" name="daily-check-pie" descr="p6_a24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14984" y="7383780"/>
            <a:ext cx="1078992" cy="1303020"/>
          </a:xfrm>
          <a:prstGeom prst="rect">
            <a:avLst/>
          </a:prstGeom>
        </p:spPr>
      </p:pic>
      <p:cxnSp>
        <p:nvCxnSpPr>
          <p:cNvPr id="36" name="l5"/>
          <p:cNvCxnSpPr/>
          <p:nvPr/>
        </p:nvCxnSpPr>
        <p:spPr>
          <a:xfrm>
            <a:off x="4023360" y="8215884"/>
            <a:ext cx="1188720" cy="0"/>
          </a:xfrm>
          <a:prstGeom prst="line">
            <a:avLst/>
          </a:prstGeom>
          <a:ln w="18288">
            <a:solidFill>
              <a:srgbClr val="44BA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l6"/>
          <p:cNvCxnSpPr/>
          <p:nvPr/>
        </p:nvCxnSpPr>
        <p:spPr>
          <a:xfrm>
            <a:off x="4027932" y="8732520"/>
            <a:ext cx="1193292" cy="0"/>
          </a:xfrm>
          <a:prstGeom prst="line">
            <a:avLst/>
          </a:prstGeom>
          <a:ln w="18288">
            <a:solidFill>
              <a:srgbClr val="49B9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page-bar"/>
          <p:cNvCxnSpPr/>
          <p:nvPr/>
        </p:nvCxnSpPr>
        <p:spPr>
          <a:xfrm>
            <a:off x="1046988" y="10058400"/>
            <a:ext cx="0" cy="137160"/>
          </a:xfrm>
          <a:prstGeom prst="line">
            <a:avLst/>
          </a:prstGeom>
          <a:ln w="9144">
            <a:solidFill>
              <a:srgbClr val="3A3C3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a3"/>
          <p:cNvCxnSpPr/>
          <p:nvPr/>
        </p:nvCxnSpPr>
        <p:spPr>
          <a:xfrm>
            <a:off x="1184148" y="548640"/>
            <a:ext cx="288036" cy="0"/>
          </a:xfrm>
          <a:prstGeom prst="line">
            <a:avLst/>
          </a:prstGeom>
          <a:ln w="9144">
            <a:solidFill>
              <a:srgbClr val="558F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a18"/>
          <p:cNvCxnSpPr/>
          <p:nvPr/>
        </p:nvCxnSpPr>
        <p:spPr>
          <a:xfrm>
            <a:off x="3913632" y="6030468"/>
            <a:ext cx="2944368" cy="0"/>
          </a:xfrm>
          <a:prstGeom prst="line">
            <a:avLst/>
          </a:prstGeom>
          <a:ln w="9144">
            <a:solidFill>
              <a:srgbClr val="C8C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a19"/>
          <p:cNvCxnSpPr/>
          <p:nvPr/>
        </p:nvCxnSpPr>
        <p:spPr>
          <a:xfrm>
            <a:off x="3913632" y="6291072"/>
            <a:ext cx="2944368" cy="0"/>
          </a:xfrm>
          <a:prstGeom prst="line">
            <a:avLst/>
          </a:prstGeom>
          <a:ln w="6350">
            <a:solidFill>
              <a:srgbClr val="C8C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a20"/>
          <p:cNvCxnSpPr/>
          <p:nvPr/>
        </p:nvCxnSpPr>
        <p:spPr>
          <a:xfrm>
            <a:off x="3913632" y="6496812"/>
            <a:ext cx="2944368" cy="0"/>
          </a:xfrm>
          <a:prstGeom prst="line">
            <a:avLst/>
          </a:prstGeom>
          <a:ln w="6350">
            <a:solidFill>
              <a:srgbClr val="C8C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a21"/>
          <p:cNvCxnSpPr/>
          <p:nvPr/>
        </p:nvCxnSpPr>
        <p:spPr>
          <a:xfrm>
            <a:off x="3913632" y="6702552"/>
            <a:ext cx="2944368" cy="0"/>
          </a:xfrm>
          <a:prstGeom prst="line">
            <a:avLst/>
          </a:prstGeom>
          <a:ln w="6350">
            <a:solidFill>
              <a:srgbClr val="C8C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a22"/>
          <p:cNvCxnSpPr/>
          <p:nvPr/>
        </p:nvCxnSpPr>
        <p:spPr>
          <a:xfrm>
            <a:off x="4325112" y="6501384"/>
            <a:ext cx="0" cy="402336"/>
          </a:xfrm>
          <a:prstGeom prst="line">
            <a:avLst/>
          </a:prstGeom>
          <a:ln w="6350">
            <a:solidFill>
              <a:srgbClr val="C8C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a23"/>
          <p:cNvCxnSpPr/>
          <p:nvPr/>
        </p:nvCxnSpPr>
        <p:spPr>
          <a:xfrm>
            <a:off x="5024628" y="6080760"/>
            <a:ext cx="0" cy="822960"/>
          </a:xfrm>
          <a:prstGeom prst="line">
            <a:avLst/>
          </a:prstGeom>
          <a:ln w="6350">
            <a:solidFill>
              <a:srgbClr val="C8CC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0"/>
          <p:cNvSpPr txBox="1"/>
          <p:nvPr/>
        </p:nvSpPr>
        <p:spPr>
          <a:xfrm>
            <a:off x="1386001" y="270127"/>
            <a:ext cx="1047906" cy="2987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403D46"/>
                </a:solidFill>
                <a:latin typeface="NanumGothic"/>
                <a:ea typeface="NanumGothic"/>
              </a:rPr>
              <a:t>건설계획</a:t>
            </a:r>
          </a:p>
        </p:txBody>
      </p:sp>
      <p:sp>
        <p:nvSpPr>
          <p:cNvPr id="47" name="t1"/>
          <p:cNvSpPr txBox="1"/>
          <p:nvPr/>
        </p:nvSpPr>
        <p:spPr>
          <a:xfrm>
            <a:off x="750539" y="377952"/>
            <a:ext cx="324977" cy="944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60" b="1">
                <a:solidFill>
                  <a:srgbClr val="8FB9D9"/>
                </a:solidFill>
                <a:latin typeface="NanumGothic"/>
                <a:ea typeface="NanumGothic"/>
              </a:rPr>
              <a:t>Chapter</a:t>
            </a:r>
          </a:p>
        </p:txBody>
      </p:sp>
      <p:sp>
        <p:nvSpPr>
          <p:cNvPr id="48" name="t2"/>
          <p:cNvSpPr txBox="1"/>
          <p:nvPr/>
        </p:nvSpPr>
        <p:spPr>
          <a:xfrm>
            <a:off x="750847" y="901031"/>
            <a:ext cx="2909032" cy="189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0" b="0">
                <a:solidFill>
                  <a:srgbClr val="2D2E2F"/>
                </a:solidFill>
                <a:latin typeface="NanumGothic"/>
                <a:ea typeface="NanumGothic"/>
              </a:rPr>
              <a:t>1.3 각종 재난, 사고예방을 위한 안전관리 방안</a:t>
            </a:r>
          </a:p>
        </p:txBody>
      </p:sp>
      <p:sp>
        <p:nvSpPr>
          <p:cNvPr id="49" name="t3"/>
          <p:cNvSpPr txBox="1"/>
          <p:nvPr/>
        </p:nvSpPr>
        <p:spPr>
          <a:xfrm>
            <a:off x="1593678" y="1185666"/>
            <a:ext cx="5355554" cy="60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6000"/>
              </a:lnSpc>
            </a:pPr>
            <a:r>
              <a:rPr sz="950" b="0">
                <a:solidFill>
                  <a:srgbClr val="333534"/>
                </a:solidFill>
                <a:latin typeface="NanumGothic"/>
                <a:ea typeface="NanumGothic"/>
              </a:rPr>
              <a:t>• 사업시행자는 본 사업이 안전하게 건설될 수 있도록 안전관리조직을 구성하며 전직원에게 R&amp;R 부여</a:t>
            </a:r>
          </a:p>
          <a:p>
            <a:pPr algn="l">
              <a:lnSpc>
                <a:spcPct val="136000"/>
              </a:lnSpc>
            </a:pPr>
            <a:r>
              <a:rPr sz="950" b="0">
                <a:solidFill>
                  <a:srgbClr val="333534"/>
                </a:solidFill>
                <a:latin typeface="NanumGothic"/>
                <a:ea typeface="NanumGothic"/>
              </a:rPr>
              <a:t>• 정기적, 일상적인 안전교육 및 안전점검을 실시하여 안전사고예방에 선제적으로 대처</a:t>
            </a:r>
          </a:p>
          <a:p>
            <a:pPr algn="l">
              <a:lnSpc>
                <a:spcPct val="136000"/>
              </a:lnSpc>
            </a:pPr>
            <a:r>
              <a:rPr sz="950" b="0">
                <a:solidFill>
                  <a:srgbClr val="333534"/>
                </a:solidFill>
                <a:latin typeface="NanumGothic"/>
                <a:ea typeface="NanumGothic"/>
              </a:rPr>
              <a:t>• 사고, 재난 기상이변에 즉각적인 대처를 위하여 비상 시 긴급조치를 수립하고 수시 점검훈련 실시</a:t>
            </a:r>
          </a:p>
        </p:txBody>
      </p:sp>
      <p:sp>
        <p:nvSpPr>
          <p:cNvPr id="50" name="t4"/>
          <p:cNvSpPr txBox="1"/>
          <p:nvPr/>
        </p:nvSpPr>
        <p:spPr>
          <a:xfrm>
            <a:off x="888597" y="1446737"/>
            <a:ext cx="615959" cy="1761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NanumGothic"/>
                <a:ea typeface="NanumGothic"/>
              </a:rPr>
              <a:t>중점사항</a:t>
            </a:r>
          </a:p>
        </p:txBody>
      </p:sp>
      <p:sp>
        <p:nvSpPr>
          <p:cNvPr id="51" name="t5"/>
          <p:cNvSpPr txBox="1"/>
          <p:nvPr/>
        </p:nvSpPr>
        <p:spPr>
          <a:xfrm>
            <a:off x="6266096" y="1951955"/>
            <a:ext cx="551167" cy="1577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FFFFFF"/>
                </a:solidFill>
                <a:latin typeface="NanumGothic"/>
                <a:ea typeface="NanumGothic"/>
              </a:rPr>
              <a:t>안전교육</a:t>
            </a:r>
          </a:p>
        </p:txBody>
      </p:sp>
      <p:sp>
        <p:nvSpPr>
          <p:cNvPr id="52" name="t6"/>
          <p:cNvSpPr txBox="1"/>
          <p:nvPr/>
        </p:nvSpPr>
        <p:spPr>
          <a:xfrm>
            <a:off x="871080" y="1992947"/>
            <a:ext cx="812442" cy="159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80" b="1">
                <a:solidFill>
                  <a:srgbClr val="FFFFFF"/>
                </a:solidFill>
                <a:latin typeface="NanumGothic"/>
                <a:ea typeface="NanumGothic"/>
              </a:rPr>
              <a:t>안전관리 조직</a:t>
            </a:r>
          </a:p>
        </p:txBody>
      </p:sp>
      <p:sp>
        <p:nvSpPr>
          <p:cNvPr id="53" name="t7"/>
          <p:cNvSpPr txBox="1"/>
          <p:nvPr/>
        </p:nvSpPr>
        <p:spPr>
          <a:xfrm>
            <a:off x="4638539" y="2217339"/>
            <a:ext cx="2168757" cy="1560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60" b="0">
                <a:solidFill>
                  <a:srgbClr val="555859"/>
                </a:solidFill>
                <a:latin typeface="NanumGothic"/>
                <a:ea typeface="NanumGothic"/>
              </a:rPr>
              <a:t>정기, 일상 및 특별교육으로 안전의 일상화</a:t>
            </a:r>
          </a:p>
        </p:txBody>
      </p:sp>
      <p:sp>
        <p:nvSpPr>
          <p:cNvPr id="54" name="t8"/>
          <p:cNvSpPr txBox="1"/>
          <p:nvPr/>
        </p:nvSpPr>
        <p:spPr>
          <a:xfrm>
            <a:off x="981117" y="2249839"/>
            <a:ext cx="1842002" cy="15212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0">
                <a:solidFill>
                  <a:srgbClr val="545555"/>
                </a:solidFill>
                <a:latin typeface="NanumGothic"/>
                <a:ea typeface="NanumGothic"/>
              </a:rPr>
              <a:t>공사조직원에 안전에 관한 R&amp;R 부여</a:t>
            </a:r>
          </a:p>
        </p:txBody>
      </p:sp>
      <p:sp>
        <p:nvSpPr>
          <p:cNvPr id="55" name="t9"/>
          <p:cNvSpPr txBox="1"/>
          <p:nvPr/>
        </p:nvSpPr>
        <p:spPr>
          <a:xfrm>
            <a:off x="4429116" y="2372682"/>
            <a:ext cx="2425624" cy="365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830" b="0">
                <a:solidFill>
                  <a:srgbClr val="4B4F4F"/>
                </a:solidFill>
                <a:latin typeface="NanumGothic"/>
                <a:ea typeface="NanumGothic"/>
              </a:rPr>
              <a:t>안전지침,환경관리 사고사례 등을 분석 및 사례고찰</a:t>
            </a:r>
          </a:p>
          <a:p>
            <a:pPr algn="r">
              <a:lnSpc>
                <a:spcPct val="140000"/>
              </a:lnSpc>
            </a:pPr>
            <a:r>
              <a:rPr sz="830" b="0">
                <a:solidFill>
                  <a:srgbClr val="4B4F4F"/>
                </a:solidFill>
                <a:latin typeface="NanumGothic"/>
                <a:ea typeface="NanumGothic"/>
              </a:rPr>
              <a:t>안전관리계획 이행보고 계획 수립</a:t>
            </a:r>
          </a:p>
        </p:txBody>
      </p:sp>
      <p:sp>
        <p:nvSpPr>
          <p:cNvPr id="56" name="t10"/>
          <p:cNvSpPr txBox="1"/>
          <p:nvPr/>
        </p:nvSpPr>
        <p:spPr>
          <a:xfrm>
            <a:off x="981973" y="2398677"/>
            <a:ext cx="2299003" cy="366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4000"/>
              </a:lnSpc>
            </a:pPr>
            <a:r>
              <a:rPr sz="810" b="0">
                <a:solidFill>
                  <a:srgbClr val="4A4C4C"/>
                </a:solidFill>
                <a:latin typeface="NanumGothic"/>
                <a:ea typeface="NanumGothic"/>
              </a:rPr>
              <a:t>안전관리, 재해, 공사장 주변안전 등 안전제일주의</a:t>
            </a:r>
          </a:p>
          <a:p>
            <a:pPr algn="l">
              <a:lnSpc>
                <a:spcPct val="144000"/>
              </a:lnSpc>
            </a:pPr>
            <a:r>
              <a:rPr sz="810" b="0">
                <a:solidFill>
                  <a:srgbClr val="4A4C4C"/>
                </a:solidFill>
                <a:latin typeface="NanumGothic"/>
                <a:ea typeface="NanumGothic"/>
              </a:rPr>
              <a:t>사업시행자 및 협력업체를 포함한 전임직원 대상</a:t>
            </a:r>
          </a:p>
        </p:txBody>
      </p:sp>
      <p:sp>
        <p:nvSpPr>
          <p:cNvPr id="57" name="t11"/>
          <p:cNvSpPr txBox="1"/>
          <p:nvPr/>
        </p:nvSpPr>
        <p:spPr>
          <a:xfrm>
            <a:off x="3359962" y="2676601"/>
            <a:ext cx="1153058" cy="3761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86000"/>
              </a:lnSpc>
            </a:pPr>
            <a:r>
              <a:rPr sz="1400" b="1">
                <a:solidFill>
                  <a:srgbClr val="292D33"/>
                </a:solidFill>
                <a:latin typeface="NanumGothic"/>
                <a:ea typeface="NanumGothic"/>
              </a:rPr>
              <a:t>“No Safety</a:t>
            </a:r>
          </a:p>
          <a:p>
            <a:pPr algn="ctr">
              <a:lnSpc>
                <a:spcPct val="86000"/>
              </a:lnSpc>
            </a:pPr>
            <a:r>
              <a:rPr sz="1400" b="1">
                <a:solidFill>
                  <a:srgbClr val="292D33"/>
                </a:solidFill>
                <a:latin typeface="NanumGothic"/>
                <a:ea typeface="NanumGothic"/>
              </a:rPr>
              <a:t>No Work”</a:t>
            </a:r>
          </a:p>
        </p:txBody>
      </p:sp>
      <p:sp>
        <p:nvSpPr>
          <p:cNvPr id="58" name="t13"/>
          <p:cNvSpPr txBox="1"/>
          <p:nvPr/>
        </p:nvSpPr>
        <p:spPr>
          <a:xfrm>
            <a:off x="4415445" y="2917705"/>
            <a:ext cx="2438352" cy="5353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9000"/>
              </a:lnSpc>
            </a:pPr>
            <a:r>
              <a:rPr sz="830" b="0">
                <a:solidFill>
                  <a:srgbClr val="4E5152"/>
                </a:solidFill>
                <a:latin typeface="NanumGothic"/>
                <a:ea typeface="NanumGothic"/>
              </a:rPr>
              <a:t>사고,재난,기상이변에 대한 즉각적인 대처</a:t>
            </a:r>
          </a:p>
          <a:p>
            <a:pPr algn="r">
              <a:lnSpc>
                <a:spcPct val="139000"/>
              </a:lnSpc>
            </a:pPr>
            <a:r>
              <a:rPr sz="830" b="0">
                <a:solidFill>
                  <a:srgbClr val="4E5152"/>
                </a:solidFill>
                <a:latin typeface="NanumGothic"/>
                <a:ea typeface="NanumGothic"/>
              </a:rPr>
              <a:t>비상연락망, 비상동원, 경보체계 구축 수시 점검훈련</a:t>
            </a:r>
          </a:p>
          <a:p>
            <a:pPr algn="r">
              <a:lnSpc>
                <a:spcPct val="139000"/>
              </a:lnSpc>
            </a:pPr>
            <a:r>
              <a:rPr sz="830" b="0">
                <a:solidFill>
                  <a:srgbClr val="4E5152"/>
                </a:solidFill>
                <a:latin typeface="NanumGothic"/>
                <a:ea typeface="NanumGothic"/>
              </a:rPr>
              <a:t>자발적인 참여유도로 안전자립 구축</a:t>
            </a:r>
          </a:p>
        </p:txBody>
      </p:sp>
      <p:sp>
        <p:nvSpPr>
          <p:cNvPr id="59" name="t14"/>
          <p:cNvSpPr txBox="1"/>
          <p:nvPr/>
        </p:nvSpPr>
        <p:spPr>
          <a:xfrm>
            <a:off x="990592" y="2947538"/>
            <a:ext cx="1990509" cy="5421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1000"/>
              </a:lnSpc>
            </a:pPr>
            <a:r>
              <a:rPr sz="890" b="0">
                <a:solidFill>
                  <a:srgbClr val="4B4D4C"/>
                </a:solidFill>
                <a:latin typeface="NanumGothic"/>
                <a:ea typeface="NanumGothic"/>
              </a:rPr>
              <a:t>정기점검, 일상점검 및 총괄점검 수행</a:t>
            </a:r>
          </a:p>
          <a:p>
            <a:pPr algn="l">
              <a:lnSpc>
                <a:spcPct val="131000"/>
              </a:lnSpc>
            </a:pPr>
            <a:r>
              <a:rPr sz="890" b="0">
                <a:solidFill>
                  <a:srgbClr val="4B4D4C"/>
                </a:solidFill>
                <a:latin typeface="NanumGothic"/>
                <a:ea typeface="NanumGothic"/>
              </a:rPr>
              <a:t>개인자체점검, 합동점검 전임직원 대상</a:t>
            </a:r>
          </a:p>
          <a:p>
            <a:pPr algn="l">
              <a:lnSpc>
                <a:spcPct val="131000"/>
              </a:lnSpc>
            </a:pPr>
            <a:r>
              <a:rPr sz="890" b="0">
                <a:solidFill>
                  <a:srgbClr val="4B4D4C"/>
                </a:solidFill>
                <a:latin typeface="NanumGothic"/>
                <a:ea typeface="NanumGothic"/>
              </a:rPr>
              <a:t>선제적 점검으로 안전사고 사전예방</a:t>
            </a:r>
          </a:p>
        </p:txBody>
      </p:sp>
      <p:sp>
        <p:nvSpPr>
          <p:cNvPr id="60" name="t15"/>
          <p:cNvSpPr txBox="1"/>
          <p:nvPr/>
        </p:nvSpPr>
        <p:spPr>
          <a:xfrm>
            <a:off x="5603070" y="3529056"/>
            <a:ext cx="1219709" cy="15966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90" b="1">
                <a:solidFill>
                  <a:srgbClr val="FFFFFF"/>
                </a:solidFill>
                <a:latin typeface="NanumGothic"/>
                <a:ea typeface="NanumGothic"/>
              </a:rPr>
              <a:t>비상 시 긴급조치 계획</a:t>
            </a:r>
          </a:p>
        </p:txBody>
      </p:sp>
      <p:sp>
        <p:nvSpPr>
          <p:cNvPr id="61" name="t16"/>
          <p:cNvSpPr txBox="1"/>
          <p:nvPr/>
        </p:nvSpPr>
        <p:spPr>
          <a:xfrm>
            <a:off x="880349" y="3566062"/>
            <a:ext cx="545768" cy="1562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69" b="1">
                <a:solidFill>
                  <a:srgbClr val="FFFFFF"/>
                </a:solidFill>
                <a:latin typeface="NanumGothic"/>
                <a:ea typeface="NanumGothic"/>
              </a:rPr>
              <a:t>안전점검</a:t>
            </a:r>
          </a:p>
        </p:txBody>
      </p:sp>
      <p:sp>
        <p:nvSpPr>
          <p:cNvPr id="62" name="t17"/>
          <p:cNvSpPr txBox="1"/>
          <p:nvPr/>
        </p:nvSpPr>
        <p:spPr>
          <a:xfrm>
            <a:off x="760139" y="3923534"/>
            <a:ext cx="2655797" cy="1859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60" b="0">
                <a:solidFill>
                  <a:srgbClr val="333534"/>
                </a:solidFill>
                <a:latin typeface="NanumGothic"/>
                <a:ea typeface="NanumGothic"/>
              </a:rPr>
              <a:t>(1) 안전관리 조직 및 항목별 안전관리 방안</a:t>
            </a:r>
          </a:p>
        </p:txBody>
      </p:sp>
      <p:sp>
        <p:nvSpPr>
          <p:cNvPr id="63" name="t18"/>
          <p:cNvSpPr txBox="1"/>
          <p:nvPr/>
        </p:nvSpPr>
        <p:spPr>
          <a:xfrm>
            <a:off x="4985354" y="4199764"/>
            <a:ext cx="873612" cy="17067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1">
                <a:solidFill>
                  <a:srgbClr val="292A2D"/>
                </a:solidFill>
                <a:latin typeface="NanumGothic"/>
                <a:ea typeface="NanumGothic"/>
              </a:rPr>
              <a:t>안전교육 계획</a:t>
            </a:r>
          </a:p>
        </p:txBody>
      </p:sp>
      <p:sp>
        <p:nvSpPr>
          <p:cNvPr id="64" name="t19"/>
          <p:cNvSpPr txBox="1"/>
          <p:nvPr/>
        </p:nvSpPr>
        <p:spPr>
          <a:xfrm>
            <a:off x="1908486" y="4222867"/>
            <a:ext cx="863417" cy="16873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92B2D"/>
                </a:solidFill>
                <a:latin typeface="NanumGothic"/>
                <a:ea typeface="NanumGothic"/>
              </a:rPr>
              <a:t>안전관리 조직</a:t>
            </a:r>
          </a:p>
        </p:txBody>
      </p:sp>
      <p:sp>
        <p:nvSpPr>
          <p:cNvPr id="65" name="t20"/>
          <p:cNvSpPr txBox="1"/>
          <p:nvPr/>
        </p:nvSpPr>
        <p:spPr>
          <a:xfrm>
            <a:off x="5165702" y="4434807"/>
            <a:ext cx="1043171" cy="3299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760" b="0">
                <a:solidFill>
                  <a:srgbClr val="525456"/>
                </a:solidFill>
                <a:latin typeface="NanumGothic"/>
                <a:ea typeface="NanumGothic"/>
              </a:rPr>
              <a:t>• 동료작업자와 팀웍</a:t>
            </a:r>
          </a:p>
          <a:p>
            <a:pPr algn="l">
              <a:lnSpc>
                <a:spcPct val="138000"/>
              </a:lnSpc>
            </a:pPr>
            <a:r>
              <a:rPr sz="760" b="0">
                <a:solidFill>
                  <a:srgbClr val="525456"/>
                </a:solidFill>
                <a:latin typeface="NanumGothic"/>
                <a:ea typeface="NanumGothic"/>
              </a:rPr>
              <a:t>• 불안전한 자세 동작</a:t>
            </a:r>
          </a:p>
        </p:txBody>
      </p:sp>
      <p:sp>
        <p:nvSpPr>
          <p:cNvPr id="66" name="t21"/>
          <p:cNvSpPr txBox="1"/>
          <p:nvPr/>
        </p:nvSpPr>
        <p:spPr>
          <a:xfrm>
            <a:off x="4763383" y="4603242"/>
            <a:ext cx="295716" cy="1249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" b="1">
                <a:solidFill>
                  <a:srgbClr val="438DC3"/>
                </a:solidFill>
                <a:latin typeface="NanumGothic"/>
                <a:ea typeface="NanumGothic"/>
              </a:rPr>
              <a:t>Man</a:t>
            </a:r>
          </a:p>
        </p:txBody>
      </p:sp>
      <p:sp>
        <p:nvSpPr>
          <p:cNvPr id="67" name="t22"/>
          <p:cNvSpPr txBox="1"/>
          <p:nvPr/>
        </p:nvSpPr>
        <p:spPr>
          <a:xfrm>
            <a:off x="2909857" y="4726073"/>
            <a:ext cx="464415" cy="166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>
                <a:solidFill>
                  <a:srgbClr val="212628"/>
                </a:solidFill>
                <a:latin typeface="NanumGothic"/>
                <a:ea typeface="NanumGothic"/>
              </a:rPr>
              <a:t>시공사</a:t>
            </a:r>
          </a:p>
        </p:txBody>
      </p:sp>
      <p:sp>
        <p:nvSpPr>
          <p:cNvPr id="68" name="t23"/>
          <p:cNvSpPr txBox="1"/>
          <p:nvPr/>
        </p:nvSpPr>
        <p:spPr>
          <a:xfrm>
            <a:off x="1213608" y="4735115"/>
            <a:ext cx="702601" cy="16725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242A2F"/>
                </a:solidFill>
                <a:latin typeface="NanumGothic"/>
                <a:ea typeface="NanumGothic"/>
              </a:rPr>
              <a:t>사업시행자</a:t>
            </a:r>
          </a:p>
        </p:txBody>
      </p:sp>
      <p:sp>
        <p:nvSpPr>
          <p:cNvPr id="69" name="t24"/>
          <p:cNvSpPr txBox="1"/>
          <p:nvPr/>
        </p:nvSpPr>
        <p:spPr>
          <a:xfrm>
            <a:off x="5540690" y="4836588"/>
            <a:ext cx="1000175" cy="329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750" b="0">
                <a:solidFill>
                  <a:srgbClr val="4F5557"/>
                </a:solidFill>
                <a:latin typeface="NanumGothic"/>
                <a:ea typeface="NanumGothic"/>
              </a:rPr>
              <a:t>• 유해위험기계 기구</a:t>
            </a:r>
          </a:p>
          <a:p>
            <a:pPr algn="l">
              <a:lnSpc>
                <a:spcPct val="140000"/>
              </a:lnSpc>
            </a:pPr>
            <a:r>
              <a:rPr sz="750" b="0">
                <a:solidFill>
                  <a:srgbClr val="4F5557"/>
                </a:solidFill>
                <a:latin typeface="NanumGothic"/>
                <a:ea typeface="NanumGothic"/>
              </a:rPr>
              <a:t>• 불안전 시설물</a:t>
            </a:r>
          </a:p>
        </p:txBody>
      </p:sp>
      <p:sp>
        <p:nvSpPr>
          <p:cNvPr id="70" name="t25"/>
          <p:cNvSpPr txBox="1"/>
          <p:nvPr/>
        </p:nvSpPr>
        <p:spPr>
          <a:xfrm>
            <a:off x="5009723" y="4944618"/>
            <a:ext cx="521756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4492C6"/>
                </a:solidFill>
                <a:latin typeface="NanumGothic"/>
                <a:ea typeface="NanumGothic"/>
              </a:rPr>
              <a:t>Machine</a:t>
            </a:r>
          </a:p>
        </p:txBody>
      </p:sp>
      <p:sp>
        <p:nvSpPr>
          <p:cNvPr id="71" name="t26"/>
          <p:cNvSpPr txBox="1"/>
          <p:nvPr/>
        </p:nvSpPr>
        <p:spPr>
          <a:xfrm>
            <a:off x="2682295" y="4999579"/>
            <a:ext cx="1001579" cy="438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0000"/>
              </a:lnSpc>
            </a:pPr>
            <a:r>
              <a:rPr sz="880" b="0">
                <a:solidFill>
                  <a:srgbClr val="414344"/>
                </a:solidFill>
                <a:latin typeface="NanumGothic"/>
                <a:ea typeface="NanumGothic"/>
              </a:rPr>
              <a:t>현장대리인</a:t>
            </a:r>
          </a:p>
          <a:p>
            <a:pPr algn="ctr">
              <a:lnSpc>
                <a:spcPct val="160000"/>
              </a:lnSpc>
            </a:pPr>
            <a:r>
              <a:rPr sz="880" b="0">
                <a:solidFill>
                  <a:srgbClr val="414344"/>
                </a:solidFill>
                <a:latin typeface="NanumGothic"/>
                <a:ea typeface="NanumGothic"/>
              </a:rPr>
              <a:t>안전관리총책임자</a:t>
            </a:r>
          </a:p>
        </p:txBody>
      </p:sp>
      <p:sp>
        <p:nvSpPr>
          <p:cNvPr id="72" name="t27"/>
          <p:cNvSpPr txBox="1"/>
          <p:nvPr/>
        </p:nvSpPr>
        <p:spPr>
          <a:xfrm>
            <a:off x="1063885" y="5003501"/>
            <a:ext cx="1068434" cy="4569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69000"/>
              </a:lnSpc>
            </a:pPr>
            <a:r>
              <a:rPr sz="869" b="0">
                <a:solidFill>
                  <a:srgbClr val="414344"/>
                </a:solidFill>
                <a:latin typeface="NanumGothic"/>
                <a:ea typeface="NanumGothic"/>
              </a:rPr>
              <a:t>안전관리팀장(법인)</a:t>
            </a:r>
          </a:p>
          <a:p>
            <a:pPr algn="ctr">
              <a:lnSpc>
                <a:spcPct val="169000"/>
              </a:lnSpc>
            </a:pPr>
            <a:r>
              <a:rPr sz="869" b="0">
                <a:solidFill>
                  <a:srgbClr val="414344"/>
                </a:solidFill>
                <a:latin typeface="NanumGothic"/>
                <a:ea typeface="NanumGothic"/>
              </a:rPr>
              <a:t>안전관리총괄</a:t>
            </a:r>
          </a:p>
        </p:txBody>
      </p:sp>
      <p:sp>
        <p:nvSpPr>
          <p:cNvPr id="73" name="t28"/>
          <p:cNvSpPr txBox="1"/>
          <p:nvPr/>
        </p:nvSpPr>
        <p:spPr>
          <a:xfrm>
            <a:off x="6203211" y="5240114"/>
            <a:ext cx="693915" cy="2836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1000"/>
              </a:lnSpc>
            </a:pPr>
            <a:r>
              <a:rPr sz="810" b="0">
                <a:solidFill>
                  <a:srgbClr val="515455"/>
                </a:solidFill>
                <a:latin typeface="NanumGothic"/>
                <a:ea typeface="NanumGothic"/>
              </a:rPr>
              <a:t>• 작업환경,</a:t>
            </a:r>
          </a:p>
          <a:p>
            <a:pPr algn="l">
              <a:lnSpc>
                <a:spcPct val="111000"/>
              </a:lnSpc>
            </a:pPr>
            <a:r>
              <a:rPr sz="810" b="0">
                <a:solidFill>
                  <a:srgbClr val="515455"/>
                </a:solidFill>
                <a:latin typeface="NanumGothic"/>
                <a:ea typeface="NanumGothic"/>
              </a:rPr>
              <a:t>직무숙지도</a:t>
            </a:r>
          </a:p>
        </p:txBody>
      </p:sp>
      <p:sp>
        <p:nvSpPr>
          <p:cNvPr id="74" name="t29"/>
          <p:cNvSpPr txBox="1"/>
          <p:nvPr/>
        </p:nvSpPr>
        <p:spPr>
          <a:xfrm>
            <a:off x="5303332" y="5224110"/>
            <a:ext cx="571048" cy="3391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6000"/>
              </a:lnSpc>
            </a:pPr>
            <a:r>
              <a:rPr sz="690" b="0">
                <a:solidFill>
                  <a:srgbClr val="484A4C"/>
                </a:solidFill>
                <a:latin typeface="NanumGothic"/>
                <a:ea typeface="NanumGothic"/>
              </a:rPr>
              <a:t>• 작업방법</a:t>
            </a:r>
          </a:p>
          <a:p>
            <a:pPr algn="l">
              <a:lnSpc>
                <a:spcPct val="156000"/>
              </a:lnSpc>
            </a:pPr>
            <a:r>
              <a:rPr sz="690" b="0">
                <a:solidFill>
                  <a:srgbClr val="484A4C"/>
                </a:solidFill>
                <a:latin typeface="NanumGothic"/>
                <a:ea typeface="NanumGothic"/>
              </a:rPr>
              <a:t>• 순서</a:t>
            </a:r>
          </a:p>
        </p:txBody>
      </p:sp>
      <p:sp>
        <p:nvSpPr>
          <p:cNvPr id="75" name="t30"/>
          <p:cNvSpPr txBox="1"/>
          <p:nvPr/>
        </p:nvSpPr>
        <p:spPr>
          <a:xfrm>
            <a:off x="4680539" y="5324094"/>
            <a:ext cx="485180" cy="137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40" b="1">
                <a:solidFill>
                  <a:srgbClr val="6EACD4"/>
                </a:solidFill>
                <a:latin typeface="NanumGothic"/>
                <a:ea typeface="NanumGothic"/>
              </a:rPr>
              <a:t>Method</a:t>
            </a:r>
          </a:p>
        </p:txBody>
      </p:sp>
      <p:sp>
        <p:nvSpPr>
          <p:cNvPr id="76" name="t31"/>
          <p:cNvSpPr txBox="1"/>
          <p:nvPr/>
        </p:nvSpPr>
        <p:spPr>
          <a:xfrm>
            <a:off x="2837385" y="5573783"/>
            <a:ext cx="634560" cy="1513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>
                <a:solidFill>
                  <a:srgbClr val="363738"/>
                </a:solidFill>
                <a:latin typeface="NanumGothic"/>
                <a:ea typeface="NanumGothic"/>
              </a:rPr>
              <a:t>안전관리자</a:t>
            </a:r>
          </a:p>
        </p:txBody>
      </p:sp>
      <p:sp>
        <p:nvSpPr>
          <p:cNvPr id="77" name="t32"/>
          <p:cNvSpPr txBox="1"/>
          <p:nvPr/>
        </p:nvSpPr>
        <p:spPr>
          <a:xfrm>
            <a:off x="1118426" y="5583240"/>
            <a:ext cx="912101" cy="14882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>
                <a:solidFill>
                  <a:srgbClr val="353738"/>
                </a:solidFill>
                <a:latin typeface="NanumGothic"/>
                <a:ea typeface="NanumGothic"/>
              </a:rPr>
              <a:t>안전관리자(법인)</a:t>
            </a:r>
          </a:p>
        </p:txBody>
      </p:sp>
      <p:sp>
        <p:nvSpPr>
          <p:cNvPr id="78" name="t33"/>
          <p:cNvSpPr txBox="1"/>
          <p:nvPr/>
        </p:nvSpPr>
        <p:spPr>
          <a:xfrm>
            <a:off x="5609329" y="5604035"/>
            <a:ext cx="1017150" cy="3482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740" b="0">
                <a:solidFill>
                  <a:srgbClr val="4B4F52"/>
                </a:solidFill>
                <a:latin typeface="NanumGothic"/>
                <a:ea typeface="NanumGothic"/>
              </a:rPr>
              <a:t>• 관리감독, 교육훈련</a:t>
            </a:r>
          </a:p>
          <a:p>
            <a:pPr algn="l">
              <a:lnSpc>
                <a:spcPct val="150000"/>
              </a:lnSpc>
            </a:pPr>
            <a:r>
              <a:rPr sz="740" b="0">
                <a:solidFill>
                  <a:srgbClr val="4B4F52"/>
                </a:solidFill>
                <a:latin typeface="NanumGothic"/>
                <a:ea typeface="NanumGothic"/>
              </a:rPr>
              <a:t>• 법규숙지 및 준수</a:t>
            </a:r>
          </a:p>
        </p:txBody>
      </p:sp>
      <p:sp>
        <p:nvSpPr>
          <p:cNvPr id="79" name="t34"/>
          <p:cNvSpPr txBox="1"/>
          <p:nvPr/>
        </p:nvSpPr>
        <p:spPr>
          <a:xfrm>
            <a:off x="4936998" y="5713900"/>
            <a:ext cx="681221" cy="1276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80" b="0">
                <a:solidFill>
                  <a:srgbClr val="4499CD"/>
                </a:solidFill>
                <a:latin typeface="NanumGothic"/>
                <a:ea typeface="NanumGothic"/>
              </a:rPr>
              <a:t>Management</a:t>
            </a:r>
          </a:p>
        </p:txBody>
      </p:sp>
      <p:sp>
        <p:nvSpPr>
          <p:cNvPr id="80" name="t35"/>
          <p:cNvSpPr txBox="1"/>
          <p:nvPr/>
        </p:nvSpPr>
        <p:spPr>
          <a:xfrm>
            <a:off x="2819041" y="5889094"/>
            <a:ext cx="671817" cy="15258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40" b="1">
                <a:solidFill>
                  <a:srgbClr val="353738"/>
                </a:solidFill>
                <a:latin typeface="NanumGothic"/>
                <a:ea typeface="NanumGothic"/>
              </a:rPr>
              <a:t>각파트 팀장</a:t>
            </a:r>
          </a:p>
        </p:txBody>
      </p:sp>
      <p:sp>
        <p:nvSpPr>
          <p:cNvPr id="81" name="t36"/>
          <p:cNvSpPr txBox="1"/>
          <p:nvPr/>
        </p:nvSpPr>
        <p:spPr>
          <a:xfrm>
            <a:off x="1091254" y="5847322"/>
            <a:ext cx="1005815" cy="4670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71000"/>
              </a:lnSpc>
            </a:pPr>
            <a:r>
              <a:rPr sz="880" b="0">
                <a:solidFill>
                  <a:srgbClr val="434546"/>
                </a:solidFill>
                <a:latin typeface="NanumGothic"/>
                <a:ea typeface="NanumGothic"/>
              </a:rPr>
              <a:t>각파트 팀장(법인)</a:t>
            </a:r>
          </a:p>
          <a:p>
            <a:pPr algn="ctr">
              <a:lnSpc>
                <a:spcPct val="171000"/>
              </a:lnSpc>
            </a:pPr>
            <a:r>
              <a:rPr sz="880" b="0">
                <a:solidFill>
                  <a:srgbClr val="434546"/>
                </a:solidFill>
                <a:latin typeface="NanumGothic"/>
                <a:ea typeface="NanumGothic"/>
              </a:rPr>
              <a:t>안전담당자</a:t>
            </a:r>
          </a:p>
        </p:txBody>
      </p:sp>
      <p:sp>
        <p:nvSpPr>
          <p:cNvPr id="82" name="t39"/>
          <p:cNvSpPr txBox="1"/>
          <p:nvPr/>
        </p:nvSpPr>
        <p:spPr>
          <a:xfrm>
            <a:off x="2842013" y="6108860"/>
            <a:ext cx="629327" cy="15009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0">
                <a:solidFill>
                  <a:srgbClr val="464748"/>
                </a:solidFill>
                <a:latin typeface="NanumGothic"/>
                <a:ea typeface="NanumGothic"/>
              </a:rPr>
              <a:t>안전담당자</a:t>
            </a:r>
          </a:p>
        </p:txBody>
      </p:sp>
      <p:sp>
        <p:nvSpPr>
          <p:cNvPr id="83" name="t41"/>
          <p:cNvSpPr txBox="1"/>
          <p:nvPr/>
        </p:nvSpPr>
        <p:spPr>
          <a:xfrm>
            <a:off x="1374341" y="6447024"/>
            <a:ext cx="1965061" cy="15141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>
                <a:solidFill>
                  <a:srgbClr val="FFFFFF"/>
                </a:solidFill>
                <a:latin typeface="NanumGothic"/>
                <a:ea typeface="NanumGothic"/>
              </a:rPr>
              <a:t>상호협력, 유기적, 상호보완적 공조체계</a:t>
            </a:r>
          </a:p>
        </p:txBody>
      </p:sp>
      <p:sp>
        <p:nvSpPr>
          <p:cNvPr id="84" name="t42"/>
          <p:cNvSpPr txBox="1"/>
          <p:nvPr/>
        </p:nvSpPr>
        <p:spPr>
          <a:xfrm>
            <a:off x="1726287" y="6698211"/>
            <a:ext cx="1266723" cy="15359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393B3B"/>
                </a:solidFill>
                <a:latin typeface="NanumGothic"/>
                <a:ea typeface="NanumGothic"/>
              </a:rPr>
              <a:t>“ No Safety No Work ”</a:t>
            </a:r>
          </a:p>
        </p:txBody>
      </p:sp>
      <p:sp>
        <p:nvSpPr>
          <p:cNvPr id="85" name="t43"/>
          <p:cNvSpPr txBox="1"/>
          <p:nvPr/>
        </p:nvSpPr>
        <p:spPr>
          <a:xfrm>
            <a:off x="4788752" y="7089251"/>
            <a:ext cx="1308026" cy="17081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1">
                <a:solidFill>
                  <a:srgbClr val="2A2C30"/>
                </a:solidFill>
                <a:latin typeface="NanumGothic"/>
                <a:ea typeface="NanumGothic"/>
              </a:rPr>
              <a:t>비상 시 긴급조치 계획</a:t>
            </a:r>
          </a:p>
        </p:txBody>
      </p:sp>
      <p:sp>
        <p:nvSpPr>
          <p:cNvPr id="86" name="t44"/>
          <p:cNvSpPr txBox="1"/>
          <p:nvPr/>
        </p:nvSpPr>
        <p:spPr>
          <a:xfrm>
            <a:off x="1926818" y="7117065"/>
            <a:ext cx="858319" cy="1677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1">
                <a:solidFill>
                  <a:srgbClr val="25272C"/>
                </a:solidFill>
                <a:latin typeface="NanumGothic"/>
                <a:ea typeface="NanumGothic"/>
              </a:rPr>
              <a:t>안전점검 계획</a:t>
            </a:r>
          </a:p>
        </p:txBody>
      </p:sp>
      <p:sp>
        <p:nvSpPr>
          <p:cNvPr id="87" name="t45"/>
          <p:cNvSpPr txBox="1"/>
          <p:nvPr/>
        </p:nvSpPr>
        <p:spPr>
          <a:xfrm>
            <a:off x="5813105" y="7355052"/>
            <a:ext cx="848124" cy="1658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30" b="1">
                <a:solidFill>
                  <a:srgbClr val="373738"/>
                </a:solidFill>
                <a:latin typeface="NanumGothic"/>
                <a:ea typeface="NanumGothic"/>
              </a:rPr>
              <a:t>응급조치 사항</a:t>
            </a:r>
          </a:p>
        </p:txBody>
      </p:sp>
      <p:sp>
        <p:nvSpPr>
          <p:cNvPr id="88" name="t53"/>
          <p:cNvSpPr txBox="1"/>
          <p:nvPr/>
        </p:nvSpPr>
        <p:spPr>
          <a:xfrm>
            <a:off x="5608942" y="7604226"/>
            <a:ext cx="1185682" cy="10818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800" b="0">
                <a:solidFill>
                  <a:srgbClr val="4B4E4E"/>
                </a:solidFill>
                <a:latin typeface="NanumGothic"/>
                <a:ea typeface="NanumGothic"/>
              </a:rPr>
              <a:t>• 사고발생 후 확산방지</a:t>
            </a:r>
          </a:p>
          <a:p>
            <a:pPr algn="l">
              <a:lnSpc>
                <a:spcPct val="126000"/>
              </a:lnSpc>
            </a:pPr>
            <a:r>
              <a:rPr sz="800" b="0">
                <a:solidFill>
                  <a:srgbClr val="4B4E4E"/>
                </a:solidFill>
                <a:latin typeface="NanumGothic"/>
                <a:ea typeface="NanumGothic"/>
              </a:rPr>
              <a:t>   응급조치</a:t>
            </a:r>
          </a:p>
          <a:p>
            <a:pPr algn="l">
              <a:lnSpc>
                <a:spcPct val="126000"/>
              </a:lnSpc>
            </a:pPr>
            <a:r>
              <a:rPr sz="800" b="0">
                <a:solidFill>
                  <a:srgbClr val="4B4E4E"/>
                </a:solidFill>
                <a:latin typeface="NanumGothic"/>
                <a:ea typeface="NanumGothic"/>
              </a:rPr>
              <a:t>• 유관부서 협조요청</a:t>
            </a:r>
          </a:p>
          <a:p>
            <a:pPr algn="l">
              <a:lnSpc>
                <a:spcPct val="126000"/>
              </a:lnSpc>
            </a:pPr>
            <a:r>
              <a:rPr sz="800" b="0">
                <a:solidFill>
                  <a:srgbClr val="4B4E4E"/>
                </a:solidFill>
                <a:latin typeface="NanumGothic"/>
                <a:ea typeface="NanumGothic"/>
              </a:rPr>
              <a:t>• 단전,단수 등에 따른</a:t>
            </a:r>
          </a:p>
          <a:p>
            <a:pPr algn="l">
              <a:lnSpc>
                <a:spcPct val="126000"/>
              </a:lnSpc>
            </a:pPr>
            <a:r>
              <a:rPr sz="800" b="0">
                <a:solidFill>
                  <a:srgbClr val="4B4E4E"/>
                </a:solidFill>
                <a:latin typeface="NanumGothic"/>
                <a:ea typeface="NanumGothic"/>
              </a:rPr>
              <a:t>   응급조치 실시</a:t>
            </a:r>
          </a:p>
          <a:p>
            <a:pPr algn="l">
              <a:lnSpc>
                <a:spcPct val="126000"/>
              </a:lnSpc>
            </a:pPr>
            <a:r>
              <a:rPr sz="800" b="0">
                <a:solidFill>
                  <a:srgbClr val="4B4E4E"/>
                </a:solidFill>
                <a:latin typeface="NanumGothic"/>
                <a:ea typeface="NanumGothic"/>
              </a:rPr>
              <a:t>• 필요시 차량통제 및</a:t>
            </a:r>
          </a:p>
          <a:p>
            <a:pPr algn="l">
              <a:lnSpc>
                <a:spcPct val="126000"/>
              </a:lnSpc>
            </a:pPr>
            <a:r>
              <a:rPr sz="800" b="0">
                <a:solidFill>
                  <a:srgbClr val="4B4E4E"/>
                </a:solidFill>
                <a:latin typeface="NanumGothic"/>
                <a:ea typeface="NanumGothic"/>
              </a:rPr>
              <a:t>   우회조치</a:t>
            </a:r>
          </a:p>
        </p:txBody>
      </p:sp>
      <p:sp>
        <p:nvSpPr>
          <p:cNvPr id="89" name="t60"/>
          <p:cNvSpPr txBox="1"/>
          <p:nvPr/>
        </p:nvSpPr>
        <p:spPr>
          <a:xfrm>
            <a:off x="4314137" y="8042650"/>
            <a:ext cx="666620" cy="15142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>
                <a:solidFill>
                  <a:srgbClr val="3B3D3D"/>
                </a:solidFill>
                <a:latin typeface="NanumGothic"/>
                <a:ea typeface="NanumGothic"/>
              </a:rPr>
              <a:t>부상자 후송</a:t>
            </a:r>
          </a:p>
        </p:txBody>
      </p:sp>
      <p:sp>
        <p:nvSpPr>
          <p:cNvPr id="90" name="t63"/>
          <p:cNvSpPr txBox="1"/>
          <p:nvPr/>
        </p:nvSpPr>
        <p:spPr>
          <a:xfrm>
            <a:off x="4163349" y="8564103"/>
            <a:ext cx="971887" cy="14946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9" b="1">
                <a:solidFill>
                  <a:srgbClr val="393A3A"/>
                </a:solidFill>
                <a:latin typeface="NanumGothic"/>
                <a:ea typeface="NanumGothic"/>
              </a:rPr>
              <a:t>유관부서 협조요청</a:t>
            </a:r>
          </a:p>
        </p:txBody>
      </p:sp>
      <p:sp>
        <p:nvSpPr>
          <p:cNvPr id="91" name="t68"/>
          <p:cNvSpPr txBox="1"/>
          <p:nvPr/>
        </p:nvSpPr>
        <p:spPr>
          <a:xfrm>
            <a:off x="5826953" y="8941901"/>
            <a:ext cx="832832" cy="1628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0" b="1">
                <a:solidFill>
                  <a:srgbClr val="343535"/>
                </a:solidFill>
                <a:latin typeface="NanumGothic"/>
                <a:ea typeface="NanumGothic"/>
              </a:rPr>
              <a:t>현장 안전조치</a:t>
            </a:r>
          </a:p>
        </p:txBody>
      </p:sp>
      <p:sp>
        <p:nvSpPr>
          <p:cNvPr id="92" name="t69"/>
          <p:cNvSpPr txBox="1"/>
          <p:nvPr/>
        </p:nvSpPr>
        <p:spPr>
          <a:xfrm>
            <a:off x="4249525" y="8955374"/>
            <a:ext cx="843027" cy="16483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1">
                <a:solidFill>
                  <a:srgbClr val="353737"/>
                </a:solidFill>
                <a:latin typeface="NanumGothic"/>
                <a:ea typeface="NanumGothic"/>
              </a:rPr>
              <a:t>사후 처리사항</a:t>
            </a:r>
          </a:p>
        </p:txBody>
      </p:sp>
      <p:sp>
        <p:nvSpPr>
          <p:cNvPr id="93" name="t76"/>
          <p:cNvSpPr txBox="1"/>
          <p:nvPr/>
        </p:nvSpPr>
        <p:spPr>
          <a:xfrm>
            <a:off x="5618202" y="9198318"/>
            <a:ext cx="1347730" cy="5901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780" b="0">
                <a:solidFill>
                  <a:srgbClr val="4D4F50"/>
                </a:solidFill>
                <a:latin typeface="NanumGothic"/>
                <a:ea typeface="NanumGothic"/>
              </a:rPr>
              <a:t>• 현장 비상관리 조직 가동</a:t>
            </a:r>
          </a:p>
          <a:p>
            <a:pPr algn="l">
              <a:lnSpc>
                <a:spcPct val="122000"/>
              </a:lnSpc>
            </a:pPr>
            <a:r>
              <a:rPr sz="780" b="0">
                <a:solidFill>
                  <a:srgbClr val="4D4F50"/>
                </a:solidFill>
                <a:latin typeface="NanumGothic"/>
                <a:ea typeface="NanumGothic"/>
              </a:rPr>
              <a:t>• 담당조직별 구난활동 실시</a:t>
            </a:r>
          </a:p>
          <a:p>
            <a:pPr algn="l">
              <a:lnSpc>
                <a:spcPct val="122000"/>
              </a:lnSpc>
            </a:pPr>
            <a:r>
              <a:rPr sz="780" b="0">
                <a:solidFill>
                  <a:srgbClr val="4D4F50"/>
                </a:solidFill>
                <a:latin typeface="NanumGothic"/>
                <a:ea typeface="NanumGothic"/>
              </a:rPr>
              <a:t>• 원상복구 및 사고현장</a:t>
            </a:r>
          </a:p>
          <a:p>
            <a:pPr algn="l">
              <a:lnSpc>
                <a:spcPct val="122000"/>
              </a:lnSpc>
            </a:pPr>
            <a:r>
              <a:rPr sz="780" b="0">
                <a:solidFill>
                  <a:srgbClr val="4D4F50"/>
                </a:solidFill>
                <a:latin typeface="NanumGothic"/>
                <a:ea typeface="NanumGothic"/>
              </a:rPr>
              <a:t>   주변정리</a:t>
            </a:r>
          </a:p>
        </p:txBody>
      </p:sp>
      <p:sp>
        <p:nvSpPr>
          <p:cNvPr id="94" name="t77"/>
          <p:cNvSpPr txBox="1"/>
          <p:nvPr/>
        </p:nvSpPr>
        <p:spPr>
          <a:xfrm>
            <a:off x="4040882" y="9213326"/>
            <a:ext cx="1342710" cy="578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80" b="0">
                <a:solidFill>
                  <a:srgbClr val="474948"/>
                </a:solidFill>
                <a:latin typeface="NanumGothic"/>
                <a:ea typeface="NanumGothic"/>
              </a:rPr>
              <a:t>• 사고원인 분석 및</a:t>
            </a:r>
          </a:p>
          <a:p>
            <a:pPr algn="l">
              <a:lnSpc>
                <a:spcPct val="120000"/>
              </a:lnSpc>
            </a:pPr>
            <a:r>
              <a:rPr sz="780" b="0">
                <a:solidFill>
                  <a:srgbClr val="474948"/>
                </a:solidFill>
                <a:latin typeface="NanumGothic"/>
                <a:ea typeface="NanumGothic"/>
              </a:rPr>
              <a:t>재발방지대책 수립</a:t>
            </a:r>
          </a:p>
          <a:p>
            <a:pPr algn="l">
              <a:lnSpc>
                <a:spcPct val="120000"/>
              </a:lnSpc>
            </a:pPr>
            <a:r>
              <a:rPr sz="780" b="0">
                <a:solidFill>
                  <a:srgbClr val="474948"/>
                </a:solidFill>
                <a:latin typeface="NanumGothic"/>
                <a:ea typeface="NanumGothic"/>
              </a:rPr>
              <a:t>• 재발방지를 위한 필요조치</a:t>
            </a:r>
          </a:p>
          <a:p>
            <a:pPr algn="l">
              <a:lnSpc>
                <a:spcPct val="120000"/>
              </a:lnSpc>
            </a:pPr>
            <a:r>
              <a:rPr sz="780" b="0">
                <a:solidFill>
                  <a:srgbClr val="474948"/>
                </a:solidFill>
                <a:latin typeface="NanumGothic"/>
                <a:ea typeface="NanumGothic"/>
              </a:rPr>
              <a:t>(특별안전교육 실시)</a:t>
            </a:r>
          </a:p>
        </p:txBody>
      </p:sp>
      <p:sp>
        <p:nvSpPr>
          <p:cNvPr id="95" name="t78"/>
          <p:cNvSpPr txBox="1"/>
          <p:nvPr/>
        </p:nvSpPr>
        <p:spPr>
          <a:xfrm>
            <a:off x="3186659" y="9331354"/>
            <a:ext cx="608611" cy="46264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1000"/>
              </a:lnSpc>
            </a:pPr>
            <a:r>
              <a:rPr sz="670" b="0">
                <a:solidFill>
                  <a:srgbClr val="4C4D4C"/>
                </a:solidFill>
                <a:latin typeface="NanumGothic"/>
                <a:ea typeface="NanumGothic"/>
              </a:rPr>
              <a:t>공사장 주변</a:t>
            </a:r>
          </a:p>
          <a:p>
            <a:pPr algn="ctr">
              <a:lnSpc>
                <a:spcPct val="111000"/>
              </a:lnSpc>
            </a:pPr>
            <a:r>
              <a:rPr sz="670" b="0">
                <a:solidFill>
                  <a:srgbClr val="4C4D4C"/>
                </a:solidFill>
                <a:latin typeface="NanumGothic"/>
                <a:ea typeface="NanumGothic"/>
              </a:rPr>
              <a:t>안전점검 및</a:t>
            </a:r>
          </a:p>
          <a:p>
            <a:pPr algn="ctr">
              <a:lnSpc>
                <a:spcPct val="111000"/>
              </a:lnSpc>
            </a:pPr>
            <a:r>
              <a:rPr sz="670" b="0">
                <a:solidFill>
                  <a:srgbClr val="4C4D4C"/>
                </a:solidFill>
                <a:latin typeface="NanumGothic"/>
                <a:ea typeface="NanumGothic"/>
              </a:rPr>
              <a:t>통행안전시설</a:t>
            </a:r>
          </a:p>
          <a:p>
            <a:pPr algn="ctr">
              <a:lnSpc>
                <a:spcPct val="111000"/>
              </a:lnSpc>
            </a:pPr>
            <a:r>
              <a:rPr sz="670" b="0">
                <a:solidFill>
                  <a:srgbClr val="4C4D4C"/>
                </a:solidFill>
                <a:latin typeface="NanumGothic"/>
                <a:ea typeface="NanumGothic"/>
              </a:rPr>
              <a:t>점검</a:t>
            </a:r>
          </a:p>
        </p:txBody>
      </p:sp>
      <p:sp>
        <p:nvSpPr>
          <p:cNvPr id="96" name="t79"/>
          <p:cNvSpPr txBox="1"/>
          <p:nvPr/>
        </p:nvSpPr>
        <p:spPr>
          <a:xfrm>
            <a:off x="941784" y="9350064"/>
            <a:ext cx="659406" cy="4607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670" b="0">
                <a:solidFill>
                  <a:srgbClr val="555657"/>
                </a:solidFill>
                <a:latin typeface="NanumGothic"/>
                <a:ea typeface="NanumGothic"/>
              </a:rPr>
              <a:t>우수근로자,</a:t>
            </a:r>
          </a:p>
          <a:p>
            <a:pPr algn="ctr">
              <a:lnSpc>
                <a:spcPct val="110000"/>
              </a:lnSpc>
            </a:pPr>
            <a:r>
              <a:rPr sz="670" b="0">
                <a:solidFill>
                  <a:srgbClr val="555657"/>
                </a:solidFill>
                <a:latin typeface="NanumGothic"/>
                <a:ea typeface="NanumGothic"/>
              </a:rPr>
              <a:t>협력사 시상 및</a:t>
            </a:r>
          </a:p>
          <a:p>
            <a:pPr algn="ctr">
              <a:lnSpc>
                <a:spcPct val="110000"/>
              </a:lnSpc>
            </a:pPr>
            <a:r>
              <a:rPr sz="670" b="0">
                <a:solidFill>
                  <a:srgbClr val="555657"/>
                </a:solidFill>
                <a:latin typeface="NanumGothic"/>
                <a:ea typeface="NanumGothic"/>
              </a:rPr>
              <a:t>안전교육 및</a:t>
            </a:r>
          </a:p>
          <a:p>
            <a:pPr algn="ctr">
              <a:lnSpc>
                <a:spcPct val="110000"/>
              </a:lnSpc>
            </a:pPr>
            <a:r>
              <a:rPr sz="670" b="0">
                <a:solidFill>
                  <a:srgbClr val="555657"/>
                </a:solidFill>
                <a:latin typeface="NanumGothic"/>
                <a:ea typeface="NanumGothic"/>
              </a:rPr>
              <a:t>공지사항</a:t>
            </a:r>
          </a:p>
        </p:txBody>
      </p:sp>
      <p:sp>
        <p:nvSpPr>
          <p:cNvPr id="97" name="t80"/>
          <p:cNvSpPr txBox="1"/>
          <p:nvPr/>
        </p:nvSpPr>
        <p:spPr>
          <a:xfrm>
            <a:off x="1539849" y="9407956"/>
            <a:ext cx="966520" cy="3456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2000"/>
              </a:lnSpc>
            </a:pPr>
            <a:r>
              <a:rPr sz="800" b="0">
                <a:solidFill>
                  <a:srgbClr val="737575"/>
                </a:solidFill>
                <a:latin typeface="NanumGothic"/>
                <a:ea typeface="NanumGothic"/>
              </a:rPr>
              <a:t>안전점검에 따른</a:t>
            </a:r>
          </a:p>
          <a:p>
            <a:pPr algn="ctr">
              <a:lnSpc>
                <a:spcPct val="92000"/>
              </a:lnSpc>
            </a:pPr>
            <a:r>
              <a:rPr sz="800" b="0">
                <a:solidFill>
                  <a:srgbClr val="737575"/>
                </a:solidFill>
                <a:latin typeface="NanumGothic"/>
                <a:ea typeface="NanumGothic"/>
              </a:rPr>
              <a:t>문제점들의</a:t>
            </a:r>
          </a:p>
          <a:p>
            <a:pPr algn="ctr">
              <a:lnSpc>
                <a:spcPct val="92000"/>
              </a:lnSpc>
            </a:pPr>
            <a:r>
              <a:rPr sz="800" b="0">
                <a:solidFill>
                  <a:srgbClr val="737575"/>
                </a:solidFill>
                <a:latin typeface="NanumGothic"/>
                <a:ea typeface="NanumGothic"/>
              </a:rPr>
              <a:t>토의 및 검토</a:t>
            </a:r>
          </a:p>
        </p:txBody>
      </p:sp>
      <p:sp>
        <p:nvSpPr>
          <p:cNvPr id="98" name="chapter-number"/>
          <p:cNvSpPr txBox="1"/>
          <p:nvPr/>
        </p:nvSpPr>
        <p:spPr>
          <a:xfrm>
            <a:off x="694944" y="33527"/>
            <a:ext cx="1014984" cy="6187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BFDDF0"/>
                </a:solidFill>
                <a:latin typeface="NanumGothic"/>
                <a:ea typeface="NanumGothic"/>
              </a:rPr>
              <a:t>0</a:t>
            </a:r>
            <a:r>
              <a:rPr sz="4000" b="1">
                <a:solidFill>
                  <a:srgbClr val="4A9BD5"/>
                </a:solidFill>
                <a:latin typeface="NanumGothic"/>
                <a:ea typeface="NanumGothic"/>
              </a:rPr>
              <a:t>2</a:t>
            </a:r>
          </a:p>
        </p:txBody>
      </p:sp>
      <p:sp>
        <p:nvSpPr>
          <p:cNvPr id="99" name="page-number"/>
          <p:cNvSpPr txBox="1"/>
          <p:nvPr/>
        </p:nvSpPr>
        <p:spPr>
          <a:xfrm>
            <a:off x="796442" y="10035540"/>
            <a:ext cx="313639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A3C3C"/>
                </a:solidFill>
                <a:latin typeface="NanumGothic"/>
                <a:ea typeface="NanumGothic"/>
              </a:rPr>
              <a:t>40</a:t>
            </a:r>
          </a:p>
        </p:txBody>
      </p:sp>
      <p:sp>
        <p:nvSpPr>
          <p:cNvPr id="100" name="a7"/>
          <p:cNvSpPr txBox="1"/>
          <p:nvPr/>
        </p:nvSpPr>
        <p:spPr>
          <a:xfrm>
            <a:off x="4115714" y="5029200"/>
            <a:ext cx="542239" cy="374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F3131"/>
                </a:solidFill>
                <a:latin typeface="NanumGothic"/>
                <a:ea typeface="NanumGothic"/>
              </a:rPr>
              <a:t>중점</a:t>
            </a:r>
          </a:p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F3131"/>
                </a:solidFill>
                <a:latin typeface="NanumGothic"/>
                <a:ea typeface="NanumGothic"/>
              </a:rPr>
              <a:t>교육</a:t>
            </a:r>
          </a:p>
        </p:txBody>
      </p:sp>
      <p:sp>
        <p:nvSpPr>
          <p:cNvPr id="101" name="a9"/>
          <p:cNvSpPr txBox="1"/>
          <p:nvPr/>
        </p:nvSpPr>
        <p:spPr>
          <a:xfrm>
            <a:off x="3948251" y="6108344"/>
            <a:ext cx="1120761" cy="1542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303232"/>
                </a:solidFill>
                <a:latin typeface="NanumGothic"/>
                <a:ea typeface="NanumGothic"/>
              </a:rPr>
              <a:t>정 기 교 육</a:t>
            </a:r>
          </a:p>
        </p:txBody>
      </p:sp>
      <p:sp>
        <p:nvSpPr>
          <p:cNvPr id="102" name="a10"/>
          <p:cNvSpPr txBox="1"/>
          <p:nvPr/>
        </p:nvSpPr>
        <p:spPr>
          <a:xfrm>
            <a:off x="5054675" y="6108344"/>
            <a:ext cx="1431657" cy="1542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54747"/>
                </a:solidFill>
                <a:latin typeface="NanumGothic"/>
                <a:ea typeface="NanumGothic"/>
              </a:rPr>
              <a:t>• 안전작업방법 지도요령</a:t>
            </a:r>
          </a:p>
        </p:txBody>
      </p:sp>
      <p:sp>
        <p:nvSpPr>
          <p:cNvPr id="103" name="a11"/>
          <p:cNvSpPr txBox="1"/>
          <p:nvPr/>
        </p:nvSpPr>
        <p:spPr>
          <a:xfrm>
            <a:off x="3948251" y="6304940"/>
            <a:ext cx="1120761" cy="1542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303232"/>
                </a:solidFill>
                <a:latin typeface="NanumGothic"/>
                <a:ea typeface="NanumGothic"/>
              </a:rPr>
              <a:t>일 상 교 육</a:t>
            </a:r>
          </a:p>
        </p:txBody>
      </p:sp>
      <p:sp>
        <p:nvSpPr>
          <p:cNvPr id="104" name="a12"/>
          <p:cNvSpPr txBox="1"/>
          <p:nvPr/>
        </p:nvSpPr>
        <p:spPr>
          <a:xfrm>
            <a:off x="5054675" y="6304940"/>
            <a:ext cx="1431657" cy="1542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54747"/>
                </a:solidFill>
                <a:latin typeface="NanumGothic"/>
                <a:ea typeface="NanumGothic"/>
              </a:rPr>
              <a:t>• 대피요령 및 위험요소</a:t>
            </a:r>
          </a:p>
        </p:txBody>
      </p:sp>
      <p:sp>
        <p:nvSpPr>
          <p:cNvPr id="105" name="a13"/>
          <p:cNvSpPr txBox="1"/>
          <p:nvPr/>
        </p:nvSpPr>
        <p:spPr>
          <a:xfrm>
            <a:off x="3948657" y="6479153"/>
            <a:ext cx="482174" cy="4118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8000"/>
              </a:lnSpc>
            </a:pPr>
            <a:r>
              <a:rPr sz="890" b="1">
                <a:solidFill>
                  <a:srgbClr val="303232"/>
                </a:solidFill>
                <a:latin typeface="NanumGothic"/>
                <a:ea typeface="NanumGothic"/>
              </a:rPr>
              <a:t>특 별</a:t>
            </a:r>
          </a:p>
          <a:p>
            <a:pPr algn="ctr">
              <a:lnSpc>
                <a:spcPct val="148000"/>
              </a:lnSpc>
            </a:pPr>
            <a:r>
              <a:rPr sz="890" b="1">
                <a:solidFill>
                  <a:srgbClr val="303232"/>
                </a:solidFill>
                <a:latin typeface="NanumGothic"/>
                <a:ea typeface="NanumGothic"/>
              </a:rPr>
              <a:t>교 육</a:t>
            </a:r>
          </a:p>
        </p:txBody>
      </p:sp>
      <p:sp>
        <p:nvSpPr>
          <p:cNvPr id="106" name="a14"/>
          <p:cNvSpPr txBox="1"/>
          <p:nvPr/>
        </p:nvSpPr>
        <p:spPr>
          <a:xfrm>
            <a:off x="4346015" y="6510680"/>
            <a:ext cx="722997" cy="1542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303232"/>
                </a:solidFill>
                <a:latin typeface="NanumGothic"/>
                <a:ea typeface="NanumGothic"/>
              </a:rPr>
              <a:t>취 약 시 기</a:t>
            </a:r>
          </a:p>
        </p:txBody>
      </p:sp>
      <p:sp>
        <p:nvSpPr>
          <p:cNvPr id="107" name="a15"/>
          <p:cNvSpPr txBox="1"/>
          <p:nvPr/>
        </p:nvSpPr>
        <p:spPr>
          <a:xfrm>
            <a:off x="5054675" y="6510680"/>
            <a:ext cx="1431657" cy="1542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54747"/>
                </a:solidFill>
                <a:latin typeface="NanumGothic"/>
                <a:ea typeface="NanumGothic"/>
              </a:rPr>
              <a:t>• 계절별 특성 안전사항</a:t>
            </a:r>
          </a:p>
        </p:txBody>
      </p:sp>
      <p:sp>
        <p:nvSpPr>
          <p:cNvPr id="108" name="a16"/>
          <p:cNvSpPr txBox="1"/>
          <p:nvPr/>
        </p:nvSpPr>
        <p:spPr>
          <a:xfrm>
            <a:off x="4346015" y="6711848"/>
            <a:ext cx="722997" cy="1542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303232"/>
                </a:solidFill>
                <a:latin typeface="NanumGothic"/>
                <a:ea typeface="NanumGothic"/>
              </a:rPr>
              <a:t>위 험 예 지</a:t>
            </a:r>
          </a:p>
        </p:txBody>
      </p:sp>
      <p:sp>
        <p:nvSpPr>
          <p:cNvPr id="109" name="a17"/>
          <p:cNvSpPr txBox="1"/>
          <p:nvPr/>
        </p:nvSpPr>
        <p:spPr>
          <a:xfrm>
            <a:off x="5054675" y="6711848"/>
            <a:ext cx="1431657" cy="1542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54747"/>
                </a:solidFill>
                <a:latin typeface="NanumGothic"/>
                <a:ea typeface="NanumGothic"/>
              </a:rPr>
              <a:t>• 당일작업 위험사항</a:t>
            </a:r>
          </a:p>
        </p:txBody>
      </p:sp>
      <p:sp>
        <p:nvSpPr>
          <p:cNvPr id="110" name="a25"/>
          <p:cNvSpPr txBox="1"/>
          <p:nvPr/>
        </p:nvSpPr>
        <p:spPr>
          <a:xfrm>
            <a:off x="848791" y="9131427"/>
            <a:ext cx="837590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NanumGothic"/>
                <a:ea typeface="NanumGothic"/>
              </a:rPr>
              <a:t>안전의날 행사</a:t>
            </a:r>
          </a:p>
        </p:txBody>
      </p:sp>
      <p:sp>
        <p:nvSpPr>
          <p:cNvPr id="111" name="a26"/>
          <p:cNvSpPr txBox="1"/>
          <p:nvPr/>
        </p:nvSpPr>
        <p:spPr>
          <a:xfrm>
            <a:off x="1626031" y="9131427"/>
            <a:ext cx="810158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NanumGothic"/>
                <a:ea typeface="NanumGothic"/>
              </a:rPr>
              <a:t>안전보건협의회</a:t>
            </a:r>
          </a:p>
        </p:txBody>
      </p:sp>
      <p:sp>
        <p:nvSpPr>
          <p:cNvPr id="112" name="a27"/>
          <p:cNvSpPr txBox="1"/>
          <p:nvPr/>
        </p:nvSpPr>
        <p:spPr>
          <a:xfrm>
            <a:off x="2375839" y="9131427"/>
            <a:ext cx="810158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NanumGothic"/>
                <a:ea typeface="NanumGothic"/>
              </a:rPr>
              <a:t>정기안전점검</a:t>
            </a:r>
          </a:p>
        </p:txBody>
      </p:sp>
      <p:sp>
        <p:nvSpPr>
          <p:cNvPr id="113" name="a28"/>
          <p:cNvSpPr txBox="1"/>
          <p:nvPr/>
        </p:nvSpPr>
        <p:spPr>
          <a:xfrm>
            <a:off x="3125647" y="9131427"/>
            <a:ext cx="741578" cy="1463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NanumGothic"/>
                <a:ea typeface="NanumGothic"/>
              </a:rPr>
              <a:t>총괄안전점검</a:t>
            </a:r>
          </a:p>
        </p:txBody>
      </p:sp>
      <p:sp>
        <p:nvSpPr>
          <p:cNvPr id="114" name="a29"/>
          <p:cNvSpPr txBox="1"/>
          <p:nvPr/>
        </p:nvSpPr>
        <p:spPr>
          <a:xfrm>
            <a:off x="2405319" y="9329117"/>
            <a:ext cx="767392" cy="449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600" b="0">
                <a:solidFill>
                  <a:srgbClr val="535454"/>
                </a:solidFill>
                <a:latin typeface="NanumGothic"/>
                <a:ea typeface="NanumGothic"/>
              </a:rPr>
              <a:t>시설물 점검 및</a:t>
            </a:r>
          </a:p>
          <a:p>
            <a:pPr algn="ctr">
              <a:lnSpc>
                <a:spcPct val="120000"/>
              </a:lnSpc>
            </a:pPr>
            <a:r>
              <a:rPr sz="600" b="0">
                <a:solidFill>
                  <a:srgbClr val="535454"/>
                </a:solidFill>
                <a:latin typeface="NanumGothic"/>
                <a:ea typeface="NanumGothic"/>
              </a:rPr>
              <a:t>공종별</a:t>
            </a:r>
          </a:p>
          <a:p>
            <a:pPr algn="ctr">
              <a:lnSpc>
                <a:spcPct val="120000"/>
              </a:lnSpc>
            </a:pPr>
            <a:r>
              <a:rPr sz="600" b="0">
                <a:solidFill>
                  <a:srgbClr val="535454"/>
                </a:solidFill>
                <a:latin typeface="NanumGothic"/>
                <a:ea typeface="NanumGothic"/>
              </a:rPr>
              <a:t>점검 실시</a:t>
            </a:r>
          </a:p>
          <a:p>
            <a:pPr algn="ctr">
              <a:lnSpc>
                <a:spcPct val="120000"/>
              </a:lnSpc>
            </a:pPr>
            <a:r>
              <a:rPr sz="600" b="0">
                <a:solidFill>
                  <a:srgbClr val="535454"/>
                </a:solidFill>
                <a:latin typeface="NanumGothic"/>
                <a:ea typeface="NanumGothic"/>
              </a:rPr>
              <a:t>(월 1회 실시)</a:t>
            </a:r>
          </a:p>
        </p:txBody>
      </p:sp>
      <p:sp>
        <p:nvSpPr>
          <p:cNvPr id="115" name="a30"/>
          <p:cNvSpPr txBox="1"/>
          <p:nvPr/>
        </p:nvSpPr>
        <p:spPr>
          <a:xfrm>
            <a:off x="4276502" y="8291169"/>
            <a:ext cx="757050" cy="17495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90" b="1">
                <a:solidFill>
                  <a:srgbClr val="FFFFFF"/>
                </a:solidFill>
                <a:latin typeface="NanumGothic"/>
                <a:ea typeface="NanumGothic"/>
              </a:rPr>
              <a:t>현    장</a:t>
            </a:r>
          </a:p>
        </p:txBody>
      </p:sp>
      <p:sp>
        <p:nvSpPr>
          <p:cNvPr id="116" name="a31"/>
          <p:cNvSpPr txBox="1"/>
          <p:nvPr/>
        </p:nvSpPr>
        <p:spPr>
          <a:xfrm>
            <a:off x="4533467" y="7571384"/>
            <a:ext cx="562977" cy="15422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NanumGothic"/>
                <a:ea typeface="NanumGothic"/>
              </a:rPr>
              <a:t>사고발생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