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406640" cy="105338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4233672" y="2313432"/>
            <a:ext cx="2464308" cy="1440180"/>
          </a:xfrm>
          <a:prstGeom prst="rect">
            <a:avLst/>
          </a:prstGeom>
          <a:solidFill>
            <a:srgbClr val="B7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1280160" y="8947404"/>
            <a:ext cx="1133856" cy="749808"/>
          </a:xfrm>
          <a:prstGeom prst="rect">
            <a:avLst/>
          </a:prstGeom>
          <a:solidFill>
            <a:srgbClr val="FFFFFF"/>
          </a:solidFill>
          <a:ln w="27432">
            <a:solidFill>
              <a:srgbClr val="50B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1275588" y="6675120"/>
            <a:ext cx="1138428" cy="745236"/>
          </a:xfrm>
          <a:prstGeom prst="rect">
            <a:avLst/>
          </a:prstGeom>
          <a:solidFill>
            <a:srgbClr val="FFFFFF"/>
          </a:solidFill>
          <a:ln w="22860">
            <a:solidFill>
              <a:srgbClr val="4FB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3"/>
          <p:cNvSpPr/>
          <p:nvPr/>
        </p:nvSpPr>
        <p:spPr>
          <a:xfrm>
            <a:off x="5518404" y="7845552"/>
            <a:ext cx="1129284" cy="7452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8288">
            <a:solidFill>
              <a:srgbClr val="52B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4"/>
          <p:cNvSpPr/>
          <p:nvPr/>
        </p:nvSpPr>
        <p:spPr>
          <a:xfrm>
            <a:off x="598932" y="4165092"/>
            <a:ext cx="3035808" cy="274320"/>
          </a:xfrm>
          <a:prstGeom prst="rect">
            <a:avLst/>
          </a:prstGeom>
          <a:solidFill>
            <a:srgbClr val="D6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5"/>
          <p:cNvSpPr/>
          <p:nvPr/>
        </p:nvSpPr>
        <p:spPr>
          <a:xfrm>
            <a:off x="594360" y="5184648"/>
            <a:ext cx="3031236" cy="274320"/>
          </a:xfrm>
          <a:prstGeom prst="rect">
            <a:avLst/>
          </a:prstGeom>
          <a:solidFill>
            <a:srgbClr val="D6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6"/>
          <p:cNvSpPr/>
          <p:nvPr/>
        </p:nvSpPr>
        <p:spPr>
          <a:xfrm>
            <a:off x="4974336" y="8974836"/>
            <a:ext cx="1115568" cy="745236"/>
          </a:xfrm>
          <a:prstGeom prst="rect">
            <a:avLst/>
          </a:prstGeom>
          <a:solidFill>
            <a:srgbClr val="FFFFFF"/>
          </a:solidFill>
          <a:ln w="22860">
            <a:solidFill>
              <a:srgbClr val="54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7"/>
          <p:cNvSpPr/>
          <p:nvPr/>
        </p:nvSpPr>
        <p:spPr>
          <a:xfrm>
            <a:off x="640080" y="7808976"/>
            <a:ext cx="1110996" cy="745236"/>
          </a:xfrm>
          <a:prstGeom prst="rect">
            <a:avLst/>
          </a:prstGeom>
          <a:solidFill>
            <a:srgbClr val="FFFFFF"/>
          </a:solidFill>
          <a:ln w="22860">
            <a:solidFill>
              <a:srgbClr val="4BB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8"/>
          <p:cNvSpPr/>
          <p:nvPr/>
        </p:nvSpPr>
        <p:spPr>
          <a:xfrm>
            <a:off x="4988052" y="6702552"/>
            <a:ext cx="1115568" cy="7406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8288">
            <a:solidFill>
              <a:srgbClr val="5AB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9"/>
          <p:cNvSpPr/>
          <p:nvPr/>
        </p:nvSpPr>
        <p:spPr>
          <a:xfrm>
            <a:off x="3662172" y="5212080"/>
            <a:ext cx="3054096" cy="265176"/>
          </a:xfrm>
          <a:prstGeom prst="rect">
            <a:avLst/>
          </a:prstGeom>
          <a:solidFill>
            <a:srgbClr val="D0D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0"/>
          <p:cNvSpPr/>
          <p:nvPr/>
        </p:nvSpPr>
        <p:spPr>
          <a:xfrm>
            <a:off x="3671316" y="4192524"/>
            <a:ext cx="3049524" cy="260604"/>
          </a:xfrm>
          <a:prstGeom prst="rect">
            <a:avLst/>
          </a:prstGeom>
          <a:solidFill>
            <a:srgbClr val="D0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11"/>
          <p:cNvSpPr/>
          <p:nvPr/>
        </p:nvSpPr>
        <p:spPr>
          <a:xfrm>
            <a:off x="598932" y="1088136"/>
            <a:ext cx="768096" cy="749808"/>
          </a:xfrm>
          <a:prstGeom prst="rect">
            <a:avLst/>
          </a:prstGeom>
          <a:solidFill>
            <a:srgbClr val="0E9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0" descr="p1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2350008"/>
            <a:ext cx="2446020" cy="1394460"/>
          </a:xfrm>
          <a:prstGeom prst="rect">
            <a:avLst/>
          </a:prstGeom>
        </p:spPr>
      </p:pic>
      <p:pic>
        <p:nvPicPr>
          <p:cNvPr id="15" name="i1" descr="p1_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91440"/>
            <a:ext cx="265176" cy="438912"/>
          </a:xfrm>
          <a:prstGeom prst="rect">
            <a:avLst/>
          </a:prstGeom>
        </p:spPr>
      </p:pic>
      <p:pic>
        <p:nvPicPr>
          <p:cNvPr id="16" name="i2" descr="p1_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012" y="196596"/>
            <a:ext cx="978408" cy="434340"/>
          </a:xfrm>
          <a:prstGeom prst="rect">
            <a:avLst/>
          </a:prstGeom>
        </p:spPr>
      </p:pic>
      <p:pic>
        <p:nvPicPr>
          <p:cNvPr id="17" name="i3" descr="p1_i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10896"/>
            <a:ext cx="246888" cy="64008"/>
          </a:xfrm>
          <a:prstGeom prst="rect">
            <a:avLst/>
          </a:prstGeom>
        </p:spPr>
      </p:pic>
      <p:pic>
        <p:nvPicPr>
          <p:cNvPr id="18" name="i4" descr="p1_i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868680"/>
            <a:ext cx="137160" cy="137160"/>
          </a:xfrm>
          <a:prstGeom prst="rect">
            <a:avLst/>
          </a:prstGeom>
        </p:spPr>
      </p:pic>
      <p:pic>
        <p:nvPicPr>
          <p:cNvPr id="19" name="i5" descr="p1_i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1097280"/>
            <a:ext cx="5349240" cy="50292"/>
          </a:xfrm>
          <a:prstGeom prst="rect">
            <a:avLst/>
          </a:prstGeom>
        </p:spPr>
      </p:pic>
      <p:pic>
        <p:nvPicPr>
          <p:cNvPr id="20" name="i6" descr="p1_i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1824228"/>
            <a:ext cx="5349240" cy="50292"/>
          </a:xfrm>
          <a:prstGeom prst="rect">
            <a:avLst/>
          </a:prstGeom>
        </p:spPr>
      </p:pic>
      <p:pic>
        <p:nvPicPr>
          <p:cNvPr id="21" name="i7" descr="p1_i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" y="2016252"/>
            <a:ext cx="137160" cy="137160"/>
          </a:xfrm>
          <a:prstGeom prst="rect">
            <a:avLst/>
          </a:prstGeom>
        </p:spPr>
      </p:pic>
      <p:pic>
        <p:nvPicPr>
          <p:cNvPr id="22" name="i8" descr="p1_i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3735324"/>
            <a:ext cx="6112764" cy="54864"/>
          </a:xfrm>
          <a:prstGeom prst="rect">
            <a:avLst/>
          </a:prstGeom>
        </p:spPr>
      </p:pic>
      <p:pic>
        <p:nvPicPr>
          <p:cNvPr id="23" name="i9" descr="p1_i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932" y="3931920"/>
            <a:ext cx="132588" cy="141732"/>
          </a:xfrm>
          <a:prstGeom prst="rect">
            <a:avLst/>
          </a:prstGeom>
        </p:spPr>
      </p:pic>
      <p:pic>
        <p:nvPicPr>
          <p:cNvPr id="24" name="i10" descr="p1_i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216" y="6304788"/>
            <a:ext cx="132588" cy="141732"/>
          </a:xfrm>
          <a:prstGeom prst="rect">
            <a:avLst/>
          </a:prstGeom>
        </p:spPr>
      </p:pic>
      <p:pic>
        <p:nvPicPr>
          <p:cNvPr id="25" name="i11" descr="p1_i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97380" y="6867144"/>
            <a:ext cx="3493008" cy="2377440"/>
          </a:xfrm>
          <a:prstGeom prst="rect">
            <a:avLst/>
          </a:prstGeom>
        </p:spPr>
      </p:pic>
      <p:pic>
        <p:nvPicPr>
          <p:cNvPr id="26" name="i12" descr="p1_i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0180" y="7004304"/>
            <a:ext cx="278892" cy="315468"/>
          </a:xfrm>
          <a:prstGeom prst="rect">
            <a:avLst/>
          </a:prstGeom>
        </p:spPr>
      </p:pic>
      <p:pic>
        <p:nvPicPr>
          <p:cNvPr id="27" name="i13" descr="p1_i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0392" y="8215884"/>
            <a:ext cx="676656" cy="210312"/>
          </a:xfrm>
          <a:prstGeom prst="rect">
            <a:avLst/>
          </a:prstGeom>
        </p:spPr>
      </p:pic>
      <p:pic>
        <p:nvPicPr>
          <p:cNvPr id="28" name="i14" descr="p1_i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38444" y="8229600"/>
            <a:ext cx="429768" cy="288036"/>
          </a:xfrm>
          <a:prstGeom prst="rect">
            <a:avLst/>
          </a:prstGeom>
        </p:spPr>
      </p:pic>
      <p:pic>
        <p:nvPicPr>
          <p:cNvPr id="29" name="i15" descr="p1_i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93208" y="9313164"/>
            <a:ext cx="306324" cy="306324"/>
          </a:xfrm>
          <a:prstGeom prst="rect">
            <a:avLst/>
          </a:prstGeom>
        </p:spPr>
      </p:pic>
      <p:pic>
        <p:nvPicPr>
          <p:cNvPr id="30" name="i16" descr="p1_i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06040" y="9390888"/>
            <a:ext cx="2112264" cy="233172"/>
          </a:xfrm>
          <a:prstGeom prst="rect">
            <a:avLst/>
          </a:prstGeom>
        </p:spPr>
      </p:pic>
      <p:pic>
        <p:nvPicPr>
          <p:cNvPr id="31" name="i17" descr="p1_i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18988" y="9496044"/>
            <a:ext cx="192024" cy="114300"/>
          </a:xfrm>
          <a:prstGeom prst="rect">
            <a:avLst/>
          </a:prstGeom>
        </p:spPr>
      </p:pic>
      <p:pic>
        <p:nvPicPr>
          <p:cNvPr id="32" name="i18" descr="p1_i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33388" y="10030968"/>
            <a:ext cx="141732" cy="105156"/>
          </a:xfrm>
          <a:prstGeom prst="rect">
            <a:avLst/>
          </a:prstGeom>
        </p:spPr>
      </p:pic>
      <p:cxnSp>
        <p:nvCxnSpPr>
          <p:cNvPr id="33" name="l0"/>
          <p:cNvCxnSpPr/>
          <p:nvPr/>
        </p:nvCxnSpPr>
        <p:spPr>
          <a:xfrm>
            <a:off x="4219956" y="2286000"/>
            <a:ext cx="2500884" cy="0"/>
          </a:xfrm>
          <a:prstGeom prst="line">
            <a:avLst/>
          </a:prstGeom>
          <a:ln w="18288">
            <a:solidFill>
              <a:srgbClr val="B7BA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1"/>
          <p:cNvCxnSpPr/>
          <p:nvPr/>
        </p:nvCxnSpPr>
        <p:spPr>
          <a:xfrm>
            <a:off x="603504" y="3323844"/>
            <a:ext cx="763524" cy="0"/>
          </a:xfrm>
          <a:prstGeom prst="line">
            <a:avLst/>
          </a:prstGeom>
          <a:ln w="9144">
            <a:solidFill>
              <a:srgbClr val="B4B8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2"/>
          <p:cNvCxnSpPr/>
          <p:nvPr/>
        </p:nvCxnSpPr>
        <p:spPr>
          <a:xfrm>
            <a:off x="1440180" y="3330702"/>
            <a:ext cx="352044" cy="0"/>
          </a:xfrm>
          <a:prstGeom prst="line">
            <a:avLst/>
          </a:prstGeom>
          <a:ln w="6350">
            <a:solidFill>
              <a:srgbClr val="C6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3"/>
          <p:cNvCxnSpPr/>
          <p:nvPr/>
        </p:nvCxnSpPr>
        <p:spPr>
          <a:xfrm>
            <a:off x="1805940" y="3335274"/>
            <a:ext cx="310896" cy="0"/>
          </a:xfrm>
          <a:prstGeom prst="line">
            <a:avLst/>
          </a:prstGeom>
          <a:ln w="6350">
            <a:solidFill>
              <a:srgbClr val="CB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4"/>
          <p:cNvCxnSpPr/>
          <p:nvPr/>
        </p:nvCxnSpPr>
        <p:spPr>
          <a:xfrm>
            <a:off x="2432304" y="3339846"/>
            <a:ext cx="274320" cy="0"/>
          </a:xfrm>
          <a:prstGeom prst="line">
            <a:avLst/>
          </a:prstGeom>
          <a:ln w="6350">
            <a:solidFill>
              <a:srgbClr val="D1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5"/>
          <p:cNvCxnSpPr/>
          <p:nvPr/>
        </p:nvCxnSpPr>
        <p:spPr>
          <a:xfrm>
            <a:off x="5417820" y="5127498"/>
            <a:ext cx="402336" cy="0"/>
          </a:xfrm>
          <a:prstGeom prst="line">
            <a:avLst/>
          </a:prstGeom>
          <a:ln w="6350">
            <a:solidFill>
              <a:srgbClr val="D5E1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6"/>
          <p:cNvCxnSpPr/>
          <p:nvPr/>
        </p:nvCxnSpPr>
        <p:spPr>
          <a:xfrm>
            <a:off x="6739128" y="1138428"/>
            <a:ext cx="0" cy="745236"/>
          </a:xfrm>
          <a:prstGeom prst="line">
            <a:avLst/>
          </a:prstGeom>
          <a:ln w="18288">
            <a:solidFill>
              <a:srgbClr val="43A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7"/>
          <p:cNvCxnSpPr/>
          <p:nvPr/>
        </p:nvCxnSpPr>
        <p:spPr>
          <a:xfrm>
            <a:off x="4206240" y="2290572"/>
            <a:ext cx="0" cy="1481328"/>
          </a:xfrm>
          <a:prstGeom prst="line">
            <a:avLst/>
          </a:prstGeom>
          <a:ln w="18288">
            <a:solidFill>
              <a:srgbClr val="B6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8"/>
          <p:cNvCxnSpPr/>
          <p:nvPr/>
        </p:nvCxnSpPr>
        <p:spPr>
          <a:xfrm>
            <a:off x="6723126" y="2304288"/>
            <a:ext cx="0" cy="1472184"/>
          </a:xfrm>
          <a:prstGeom prst="line">
            <a:avLst/>
          </a:prstGeom>
          <a:ln w="13716">
            <a:solidFill>
              <a:srgbClr val="B8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0"/>
          <p:cNvSpPr txBox="1"/>
          <p:nvPr/>
        </p:nvSpPr>
        <p:spPr>
          <a:xfrm>
            <a:off x="1235125" y="219835"/>
            <a:ext cx="1047906" cy="298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B5152"/>
                </a:solidFill>
                <a:latin typeface="NanumGothic"/>
                <a:ea typeface="NanumGothic"/>
              </a:rPr>
              <a:t>건실계획</a:t>
            </a:r>
          </a:p>
        </p:txBody>
      </p:sp>
      <p:sp>
        <p:nvSpPr>
          <p:cNvPr id="43" name="t1"/>
          <p:cNvSpPr txBox="1"/>
          <p:nvPr/>
        </p:nvSpPr>
        <p:spPr>
          <a:xfrm>
            <a:off x="5233471" y="623299"/>
            <a:ext cx="1261209" cy="143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494B4A"/>
                </a:solidFill>
                <a:latin typeface="NanumGothic"/>
                <a:ea typeface="NanumGothic"/>
              </a:rPr>
              <a:t>고속도로 민간투자 태양광</a:t>
            </a:r>
          </a:p>
        </p:txBody>
      </p:sp>
      <p:sp>
        <p:nvSpPr>
          <p:cNvPr id="44" name="t2"/>
          <p:cNvSpPr txBox="1"/>
          <p:nvPr/>
        </p:nvSpPr>
        <p:spPr>
          <a:xfrm>
            <a:off x="6428460" y="650874"/>
            <a:ext cx="367590" cy="1056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B1B3B4"/>
                </a:solidFill>
                <a:latin typeface="NanumGothic"/>
                <a:ea typeface="NanumGothic"/>
              </a:rPr>
              <a:t>발전사업</a:t>
            </a:r>
          </a:p>
        </p:txBody>
      </p:sp>
      <p:sp>
        <p:nvSpPr>
          <p:cNvPr id="45" name="t3"/>
          <p:cNvSpPr txBox="1"/>
          <p:nvPr/>
        </p:nvSpPr>
        <p:spPr>
          <a:xfrm>
            <a:off x="774280" y="852330"/>
            <a:ext cx="904197" cy="1765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04141"/>
                </a:solidFill>
                <a:latin typeface="NanumGothic"/>
                <a:ea typeface="NanumGothic"/>
              </a:rPr>
              <a:t>사업신청 목적</a:t>
            </a:r>
          </a:p>
        </p:txBody>
      </p:sp>
      <p:sp>
        <p:nvSpPr>
          <p:cNvPr id="46" name="t4"/>
          <p:cNvSpPr txBox="1"/>
          <p:nvPr/>
        </p:nvSpPr>
        <p:spPr>
          <a:xfrm>
            <a:off x="1428972" y="1178700"/>
            <a:ext cx="4791129" cy="593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9" b="0">
                <a:solidFill>
                  <a:srgbClr val="3C3E3D"/>
                </a:solidFill>
                <a:latin typeface="NanumGothic"/>
                <a:ea typeface="NanumGothic"/>
              </a:rPr>
              <a:t>• 한국도로공사가 보유한 성토부의 기용자산을 활용하여 신재생에너지 생산 및 전기 보급</a:t>
            </a:r>
          </a:p>
          <a:p>
            <a:pPr algn="l">
              <a:lnSpc>
                <a:spcPct val="132000"/>
              </a:lnSpc>
            </a:pPr>
            <a:r>
              <a:rPr sz="969" b="0">
                <a:solidFill>
                  <a:srgbClr val="3C3E3D"/>
                </a:solidFill>
                <a:latin typeface="NanumGothic"/>
                <a:ea typeface="NanumGothic"/>
              </a:rPr>
              <a:t>• 2050 탄소중립의 실천', “국가온실기스감축목표(NDC)"의 신에너지 국가정책에 기여</a:t>
            </a:r>
          </a:p>
          <a:p>
            <a:pPr algn="l">
              <a:lnSpc>
                <a:spcPct val="132000"/>
              </a:lnSpc>
            </a:pPr>
            <a:r>
              <a:rPr sz="969" b="0">
                <a:solidFill>
                  <a:srgbClr val="3C3E3D"/>
                </a:solidFill>
                <a:latin typeface="NanumGothic"/>
                <a:ea typeface="NanumGothic"/>
              </a:rPr>
              <a:t>• 유휴지신을 활용하여 청정에너지 생산, 신수익 창출 및 신규 일자리 등 사회적 가치실현</a:t>
            </a:r>
          </a:p>
        </p:txBody>
      </p:sp>
      <p:sp>
        <p:nvSpPr>
          <p:cNvPr id="47" name="t5"/>
          <p:cNvSpPr txBox="1"/>
          <p:nvPr/>
        </p:nvSpPr>
        <p:spPr>
          <a:xfrm>
            <a:off x="737858" y="1387684"/>
            <a:ext cx="605161" cy="1730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A98C8"/>
                </a:solidFill>
                <a:latin typeface="NanumGothic"/>
                <a:ea typeface="NanumGothic"/>
              </a:rPr>
              <a:t>중점사항</a:t>
            </a:r>
          </a:p>
        </p:txBody>
      </p:sp>
      <p:sp>
        <p:nvSpPr>
          <p:cNvPr id="48" name="t6"/>
          <p:cNvSpPr txBox="1"/>
          <p:nvPr/>
        </p:nvSpPr>
        <p:spPr>
          <a:xfrm>
            <a:off x="769725" y="1999949"/>
            <a:ext cx="615959" cy="1761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A3C3B"/>
                </a:solidFill>
                <a:latin typeface="NanumGothic"/>
                <a:ea typeface="NanumGothic"/>
              </a:rPr>
              <a:t>사업개요</a:t>
            </a:r>
          </a:p>
        </p:txBody>
      </p:sp>
      <p:sp>
        <p:nvSpPr>
          <p:cNvPr id="49" name="t7"/>
          <p:cNvSpPr txBox="1"/>
          <p:nvPr/>
        </p:nvSpPr>
        <p:spPr>
          <a:xfrm>
            <a:off x="632421" y="2266315"/>
            <a:ext cx="808558" cy="1072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0">
                <a:solidFill>
                  <a:srgbClr val="4A4D4E"/>
                </a:solidFill>
                <a:latin typeface="NanumGothic"/>
                <a:ea typeface="NanumGothic"/>
              </a:rPr>
              <a:t>사 업 명</a:t>
            </a:r>
          </a:p>
          <a:p>
            <a:pPr algn="l">
              <a:lnSpc>
                <a:spcPct val="125000"/>
              </a:lnSpc>
            </a:pPr>
            <a:r>
              <a:rPr sz="1120" b="0">
                <a:solidFill>
                  <a:srgbClr val="4A4D4E"/>
                </a:solidFill>
                <a:latin typeface="NanumGothic"/>
                <a:ea typeface="NanumGothic"/>
              </a:rPr>
              <a:t>발주 기관</a:t>
            </a:r>
          </a:p>
          <a:p>
            <a:pPr algn="l">
              <a:lnSpc>
                <a:spcPct val="125000"/>
              </a:lnSpc>
            </a:pPr>
            <a:r>
              <a:rPr sz="1120" b="0">
                <a:solidFill>
                  <a:srgbClr val="4A4D4E"/>
                </a:solidFill>
                <a:latin typeface="NanumGothic"/>
                <a:ea typeface="NanumGothic"/>
              </a:rPr>
              <a:t>사업 방식</a:t>
            </a:r>
          </a:p>
          <a:p>
            <a:pPr algn="l">
              <a:lnSpc>
                <a:spcPct val="125000"/>
              </a:lnSpc>
            </a:pPr>
            <a:r>
              <a:rPr sz="1120" b="0">
                <a:solidFill>
                  <a:srgbClr val="4A4D4E"/>
                </a:solidFill>
                <a:latin typeface="NanumGothic"/>
                <a:ea typeface="NanumGothic"/>
              </a:rPr>
              <a:t>설치 부지</a:t>
            </a:r>
          </a:p>
          <a:p>
            <a:pPr algn="l">
              <a:lnSpc>
                <a:spcPct val="125000"/>
              </a:lnSpc>
            </a:pPr>
            <a:r>
              <a:rPr sz="1120" b="0">
                <a:solidFill>
                  <a:srgbClr val="4A4D4E"/>
                </a:solidFill>
                <a:latin typeface="NanumGothic"/>
                <a:ea typeface="NanumGothic"/>
              </a:rPr>
              <a:t>설 치 용량</a:t>
            </a:r>
          </a:p>
        </p:txBody>
      </p:sp>
      <p:sp>
        <p:nvSpPr>
          <p:cNvPr id="50" name="t8"/>
          <p:cNvSpPr txBox="1"/>
          <p:nvPr/>
        </p:nvSpPr>
        <p:spPr>
          <a:xfrm>
            <a:off x="1360723" y="2263361"/>
            <a:ext cx="2337840" cy="1080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3000"/>
              </a:lnSpc>
            </a:pPr>
            <a:r>
              <a:rPr sz="919" b="0">
                <a:solidFill>
                  <a:srgbClr val="4D4F4E"/>
                </a:solidFill>
                <a:latin typeface="NanumGothic"/>
                <a:ea typeface="NanumGothic"/>
              </a:rPr>
              <a:t>2023년 고속도로 민간투자 태양광 발전사업</a:t>
            </a:r>
          </a:p>
          <a:p>
            <a:pPr algn="l">
              <a:lnSpc>
                <a:spcPct val="153000"/>
              </a:lnSpc>
            </a:pPr>
            <a:r>
              <a:rPr sz="919" b="0">
                <a:solidFill>
                  <a:srgbClr val="4D4F4E"/>
                </a:solidFill>
                <a:latin typeface="NanumGothic"/>
                <a:ea typeface="NanumGothic"/>
              </a:rPr>
              <a:t>한국도로공사</a:t>
            </a:r>
          </a:p>
          <a:p>
            <a:pPr algn="l">
              <a:lnSpc>
                <a:spcPct val="153000"/>
              </a:lnSpc>
            </a:pPr>
            <a:r>
              <a:rPr sz="919" b="0">
                <a:solidFill>
                  <a:srgbClr val="4D4F4E"/>
                </a:solidFill>
                <a:latin typeface="NanumGothic"/>
                <a:ea typeface="NanumGothic"/>
              </a:rPr>
              <a:t>BOT(Bui ld-Operate-Transper)</a:t>
            </a:r>
          </a:p>
          <a:p>
            <a:pPr algn="l">
              <a:lnSpc>
                <a:spcPct val="153000"/>
              </a:lnSpc>
            </a:pPr>
            <a:r>
              <a:rPr sz="919" b="0">
                <a:solidFill>
                  <a:srgbClr val="4D4F4E"/>
                </a:solidFill>
                <a:latin typeface="NanumGothic"/>
                <a:ea typeface="NanumGothic"/>
              </a:rPr>
              <a:t>경71 평택시 질고동 42-1 일원 외 14개소</a:t>
            </a:r>
          </a:p>
          <a:p>
            <a:pPr algn="l">
              <a:lnSpc>
                <a:spcPct val="153000"/>
              </a:lnSpc>
            </a:pPr>
            <a:r>
              <a:rPr sz="919" b="0">
                <a:solidFill>
                  <a:srgbClr val="4D4F4E"/>
                </a:solidFill>
                <a:latin typeface="NanumGothic"/>
                <a:ea typeface="NanumGothic"/>
              </a:rPr>
              <a:t>IOBNV</a:t>
            </a:r>
          </a:p>
        </p:txBody>
      </p:sp>
      <p:sp>
        <p:nvSpPr>
          <p:cNvPr id="51" name="t9"/>
          <p:cNvSpPr txBox="1"/>
          <p:nvPr/>
        </p:nvSpPr>
        <p:spPr>
          <a:xfrm>
            <a:off x="1351410" y="3370637"/>
            <a:ext cx="1984941" cy="348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40" b="0">
                <a:solidFill>
                  <a:srgbClr val="484949"/>
                </a:solidFill>
                <a:latin typeface="NanumGothic"/>
                <a:ea typeface="NanumGothic"/>
              </a:rPr>
              <a:t>건설기간 : 실시협약 체결 후 18개월</a:t>
            </a:r>
          </a:p>
          <a:p>
            <a:pPr algn="l">
              <a:lnSpc>
                <a:spcPct val="118000"/>
              </a:lnSpc>
            </a:pPr>
            <a:r>
              <a:rPr sz="940" b="0">
                <a:solidFill>
                  <a:srgbClr val="484949"/>
                </a:solidFill>
                <a:latin typeface="NanumGothic"/>
                <a:ea typeface="NanumGothic"/>
              </a:rPr>
              <a:t>운영21간 : 건설기간 완료 후 20년</a:t>
            </a:r>
          </a:p>
        </p:txBody>
      </p:sp>
      <p:sp>
        <p:nvSpPr>
          <p:cNvPr id="52" name="t10"/>
          <p:cNvSpPr txBox="1"/>
          <p:nvPr/>
        </p:nvSpPr>
        <p:spPr>
          <a:xfrm>
            <a:off x="628101" y="3458718"/>
            <a:ext cx="733531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3A3E3E"/>
                </a:solidFill>
                <a:latin typeface="NanumGothic"/>
                <a:ea typeface="NanumGothic"/>
              </a:rPr>
              <a:t>사업 기 가</a:t>
            </a:r>
          </a:p>
        </p:txBody>
      </p:sp>
      <p:sp>
        <p:nvSpPr>
          <p:cNvPr id="53" name="t11"/>
          <p:cNvSpPr txBox="1"/>
          <p:nvPr/>
        </p:nvSpPr>
        <p:spPr>
          <a:xfrm>
            <a:off x="760500" y="3919965"/>
            <a:ext cx="1037551" cy="1779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b="1">
                <a:solidFill>
                  <a:srgbClr val="3C3E3E"/>
                </a:solidFill>
                <a:latin typeface="NanumGothic"/>
                <a:ea typeface="NanumGothic"/>
              </a:rPr>
              <a:t>사업의 기대효과</a:t>
            </a:r>
          </a:p>
        </p:txBody>
      </p:sp>
      <p:sp>
        <p:nvSpPr>
          <p:cNvPr id="54" name="t12"/>
          <p:cNvSpPr txBox="1"/>
          <p:nvPr/>
        </p:nvSpPr>
        <p:spPr>
          <a:xfrm>
            <a:off x="1373463" y="4222591"/>
            <a:ext cx="1550409" cy="1709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343837"/>
                </a:solidFill>
                <a:latin typeface="NanumGothic"/>
                <a:ea typeface="NanumGothic"/>
              </a:rPr>
              <a:t>정부의 신에너지 정책 실현</a:t>
            </a:r>
          </a:p>
        </p:txBody>
      </p:sp>
      <p:sp>
        <p:nvSpPr>
          <p:cNvPr id="55" name="t13"/>
          <p:cNvSpPr txBox="1"/>
          <p:nvPr/>
        </p:nvSpPr>
        <p:spPr>
          <a:xfrm>
            <a:off x="4418536" y="4245788"/>
            <a:ext cx="1608390" cy="1682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73C3C"/>
                </a:solidFill>
                <a:latin typeface="NanumGothic"/>
                <a:ea typeface="NanumGothic"/>
              </a:rPr>
              <a:t>공공기관의 사회적 가치실현</a:t>
            </a:r>
          </a:p>
        </p:txBody>
      </p:sp>
      <p:sp>
        <p:nvSpPr>
          <p:cNvPr id="56" name="t14"/>
          <p:cNvSpPr txBox="1"/>
          <p:nvPr/>
        </p:nvSpPr>
        <p:spPr>
          <a:xfrm>
            <a:off x="665860" y="4492395"/>
            <a:ext cx="2925841" cy="523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10" b="0">
                <a:solidFill>
                  <a:srgbClr val="4D4F4F"/>
                </a:solidFill>
                <a:latin typeface="NanumGothic"/>
                <a:ea typeface="NanumGothic"/>
              </a:rPr>
              <a:t>• 2050 탄소중립의 실천의 정책실현</a:t>
            </a:r>
          </a:p>
          <a:p>
            <a:pPr algn="l">
              <a:lnSpc>
                <a:spcPct val="124000"/>
              </a:lnSpc>
            </a:pPr>
            <a:r>
              <a:rPr sz="910" b="0">
                <a:solidFill>
                  <a:srgbClr val="4D4F4F"/>
                </a:solidFill>
                <a:latin typeface="NanumGothic"/>
                <a:ea typeface="NanumGothic"/>
              </a:rPr>
              <a:t>• 청정그린에너지 생산으로 저탄소 탄소중립국가로 도약</a:t>
            </a:r>
          </a:p>
          <a:p>
            <a:pPr algn="l">
              <a:lnSpc>
                <a:spcPct val="124000"/>
              </a:lnSpc>
            </a:pPr>
            <a:r>
              <a:rPr sz="910" b="0">
                <a:solidFill>
                  <a:srgbClr val="4D4F4F"/>
                </a:solidFill>
                <a:latin typeface="NanumGothic"/>
                <a:ea typeface="NanumGothic"/>
              </a:rPr>
              <a:t>• 정부의 신재생에너지 보급정책에 기여</a:t>
            </a:r>
          </a:p>
        </p:txBody>
      </p:sp>
      <p:sp>
        <p:nvSpPr>
          <p:cNvPr id="57" name="t15"/>
          <p:cNvSpPr txBox="1"/>
          <p:nvPr/>
        </p:nvSpPr>
        <p:spPr>
          <a:xfrm>
            <a:off x="3742843" y="4514027"/>
            <a:ext cx="2509187" cy="529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>
                <a:solidFill>
                  <a:srgbClr val="494C4B"/>
                </a:solidFill>
                <a:latin typeface="NanumGothic"/>
                <a:ea typeface="NanumGothic"/>
              </a:rPr>
              <a:t>• 한국도로공사와 사업시행자의 공익사업 실현</a:t>
            </a:r>
          </a:p>
          <a:p>
            <a:pPr algn="l">
              <a:lnSpc>
                <a:spcPct val="126000"/>
              </a:lnSpc>
            </a:pPr>
            <a:r>
              <a:rPr sz="900" b="0">
                <a:solidFill>
                  <a:srgbClr val="494C4B"/>
                </a:solidFill>
                <a:latin typeface="NanumGothic"/>
                <a:ea typeface="NanumGothic"/>
              </a:rPr>
              <a:t>• 호적발전 대비 C02 약 7천만톤 저감효과 기대</a:t>
            </a:r>
          </a:p>
          <a:p>
            <a:pPr algn="l">
              <a:lnSpc>
                <a:spcPct val="126000"/>
              </a:lnSpc>
            </a:pPr>
            <a:r>
              <a:rPr sz="900" b="0">
                <a:solidFill>
                  <a:srgbClr val="494C4B"/>
                </a:solidFill>
                <a:latin typeface="NanumGothic"/>
                <a:ea typeface="NanumGothic"/>
              </a:rPr>
              <a:t>• 신규 일자리 500개의 고용창출효과 7</a:t>
            </a:r>
          </a:p>
        </p:txBody>
      </p:sp>
      <p:sp>
        <p:nvSpPr>
          <p:cNvPr id="58" name="t16"/>
          <p:cNvSpPr txBox="1"/>
          <p:nvPr/>
        </p:nvSpPr>
        <p:spPr>
          <a:xfrm>
            <a:off x="1702483" y="5241693"/>
            <a:ext cx="894002" cy="1745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1">
                <a:solidFill>
                  <a:srgbClr val="353839"/>
                </a:solidFill>
                <a:latin typeface="NanumGothic"/>
                <a:ea typeface="NanumGothic"/>
              </a:rPr>
              <a:t>환경개선 효과</a:t>
            </a:r>
          </a:p>
        </p:txBody>
      </p:sp>
      <p:sp>
        <p:nvSpPr>
          <p:cNvPr id="59" name="t17"/>
          <p:cNvSpPr txBox="1"/>
          <p:nvPr/>
        </p:nvSpPr>
        <p:spPr>
          <a:xfrm>
            <a:off x="4555678" y="5265295"/>
            <a:ext cx="1338853" cy="168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738"/>
                </a:solidFill>
                <a:latin typeface="NanumGothic"/>
                <a:ea typeface="NanumGothic"/>
              </a:rPr>
              <a:t>유휴부지의 가용자산화</a:t>
            </a:r>
          </a:p>
        </p:txBody>
      </p:sp>
      <p:sp>
        <p:nvSpPr>
          <p:cNvPr id="60" name="t18"/>
          <p:cNvSpPr txBox="1"/>
          <p:nvPr/>
        </p:nvSpPr>
        <p:spPr>
          <a:xfrm>
            <a:off x="661611" y="5507813"/>
            <a:ext cx="2808993" cy="532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000"/>
              </a:lnSpc>
            </a:pPr>
            <a:r>
              <a:rPr sz="860" b="0">
                <a:solidFill>
                  <a:srgbClr val="494B4A"/>
                </a:solidFill>
                <a:latin typeface="NanumGothic"/>
                <a:ea typeface="NanumGothic"/>
              </a:rPr>
              <a:t>• 신에너지전환으로 국2 은실2 卜스감축목표(NDC) 실천</a:t>
            </a:r>
          </a:p>
          <a:p>
            <a:pPr algn="l">
              <a:lnSpc>
                <a:spcPct val="133000"/>
              </a:lnSpc>
            </a:pPr>
            <a:r>
              <a:rPr sz="860" b="0">
                <a:solidFill>
                  <a:srgbClr val="494B4A"/>
                </a:solidFill>
                <a:latin typeface="NanumGothic"/>
                <a:ea typeface="NanumGothic"/>
              </a:rPr>
              <a:t>• “환경오염 Zero" 목표로 친환경 발전소 건립</a:t>
            </a:r>
          </a:p>
          <a:p>
            <a:pPr algn="l">
              <a:lnSpc>
                <a:spcPct val="133000"/>
              </a:lnSpc>
            </a:pPr>
            <a:r>
              <a:rPr sz="860" b="0">
                <a:solidFill>
                  <a:srgbClr val="494B4A"/>
                </a:solidFill>
                <a:latin typeface="NanumGothic"/>
                <a:ea typeface="NanumGothic"/>
              </a:rPr>
              <a:t>• 경&amp;}OI 우수6뼈 주변과 조화로운 발전소 건립</a:t>
            </a:r>
          </a:p>
        </p:txBody>
      </p:sp>
      <p:sp>
        <p:nvSpPr>
          <p:cNvPr id="61" name="t19"/>
          <p:cNvSpPr txBox="1"/>
          <p:nvPr/>
        </p:nvSpPr>
        <p:spPr>
          <a:xfrm>
            <a:off x="3738243" y="5537994"/>
            <a:ext cx="2601252" cy="532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10" b="0">
                <a:solidFill>
                  <a:srgbClr val="4A4B4B"/>
                </a:solidFill>
                <a:latin typeface="NanumGothic"/>
                <a:ea typeface="NanumGothic"/>
              </a:rPr>
              <a:t>• 한국도로공사 유휴부지를 활용 신부가가치 창출</a:t>
            </a:r>
          </a:p>
          <a:p>
            <a:pPr algn="l">
              <a:lnSpc>
                <a:spcPct val="126000"/>
              </a:lnSpc>
            </a:pPr>
            <a:r>
              <a:rPr sz="910" b="0">
                <a:solidFill>
                  <a:srgbClr val="4A4B4B"/>
                </a:solidFill>
                <a:latin typeface="NanumGothic"/>
                <a:ea typeface="NanumGothic"/>
              </a:rPr>
              <a:t>• 본사업에 직접 지역주민을 참여 수익 공유</a:t>
            </a:r>
          </a:p>
          <a:p>
            <a:pPr algn="l">
              <a:lnSpc>
                <a:spcPct val="126000"/>
              </a:lnSpc>
            </a:pPr>
            <a:r>
              <a:rPr sz="910" b="0">
                <a:solidFill>
                  <a:srgbClr val="4A4B4B"/>
                </a:solidFill>
                <a:latin typeface="NanumGothic"/>
                <a:ea typeface="NanumGothic"/>
              </a:rPr>
              <a:t>• 유휴부지를 이용 환경친회적인 청정에너지 생산</a:t>
            </a:r>
          </a:p>
        </p:txBody>
      </p:sp>
      <p:sp>
        <p:nvSpPr>
          <p:cNvPr id="62" name="t20"/>
          <p:cNvSpPr txBox="1"/>
          <p:nvPr/>
        </p:nvSpPr>
        <p:spPr>
          <a:xfrm>
            <a:off x="746865" y="6293057"/>
            <a:ext cx="615959" cy="1761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14242"/>
                </a:solidFill>
                <a:latin typeface="NanumGothic"/>
                <a:ea typeface="NanumGothic"/>
              </a:rPr>
              <a:t>사업구도</a:t>
            </a:r>
          </a:p>
        </p:txBody>
      </p:sp>
      <p:sp>
        <p:nvSpPr>
          <p:cNvPr id="63" name="t21"/>
          <p:cNvSpPr txBox="1"/>
          <p:nvPr/>
        </p:nvSpPr>
        <p:spPr>
          <a:xfrm>
            <a:off x="1442056" y="6732656"/>
            <a:ext cx="864448" cy="1706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3D3F40"/>
                </a:solidFill>
                <a:latin typeface="NanumGothic"/>
                <a:ea typeface="NanumGothic"/>
              </a:rPr>
              <a:t>자본금(25%)</a:t>
            </a:r>
          </a:p>
        </p:txBody>
      </p:sp>
      <p:sp>
        <p:nvSpPr>
          <p:cNvPr id="64" name="t22"/>
          <p:cNvSpPr txBox="1"/>
          <p:nvPr/>
        </p:nvSpPr>
        <p:spPr>
          <a:xfrm>
            <a:off x="5401818" y="6774942"/>
            <a:ext cx="361188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D4041"/>
                </a:solidFill>
                <a:latin typeface="NanumGothic"/>
                <a:ea typeface="NanumGothic"/>
              </a:rPr>
              <a:t>EPC</a:t>
            </a:r>
          </a:p>
        </p:txBody>
      </p:sp>
      <p:sp>
        <p:nvSpPr>
          <p:cNvPr id="65" name="t23"/>
          <p:cNvSpPr txBox="1"/>
          <p:nvPr/>
        </p:nvSpPr>
        <p:spPr>
          <a:xfrm>
            <a:off x="5494272" y="7037117"/>
            <a:ext cx="562905" cy="310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850" b="0">
                <a:solidFill>
                  <a:srgbClr val="696D6D"/>
                </a:solidFill>
                <a:latin typeface="NanumGothic"/>
                <a:ea typeface="NanumGothic"/>
              </a:rPr>
              <a:t>저무</a:t>
            </a:r>
          </a:p>
          <a:p>
            <a:pPr algn="ctr">
              <a:lnSpc>
                <a:spcPct val="116000"/>
              </a:lnSpc>
            </a:pPr>
            <a:r>
              <a:rPr sz="850" b="0">
                <a:solidFill>
                  <a:srgbClr val="696D6D"/>
                </a:solidFill>
                <a:latin typeface="NanumGothic"/>
                <a:ea typeface="NanumGothic"/>
              </a:rPr>
              <a:t>건설업체</a:t>
            </a:r>
          </a:p>
        </p:txBody>
      </p:sp>
      <p:sp>
        <p:nvSpPr>
          <p:cNvPr id="66" name="t24"/>
          <p:cNvSpPr txBox="1"/>
          <p:nvPr/>
        </p:nvSpPr>
        <p:spPr>
          <a:xfrm>
            <a:off x="1826937" y="7173881"/>
            <a:ext cx="424690" cy="152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6B706F"/>
                </a:solidFill>
                <a:latin typeface="NanumGothic"/>
                <a:ea typeface="NanumGothic"/>
              </a:rPr>
              <a:t>신청자</a:t>
            </a:r>
          </a:p>
        </p:txBody>
      </p:sp>
      <p:sp>
        <p:nvSpPr>
          <p:cNvPr id="67" name="t25"/>
          <p:cNvSpPr txBox="1"/>
          <p:nvPr/>
        </p:nvSpPr>
        <p:spPr>
          <a:xfrm>
            <a:off x="3448110" y="7832598"/>
            <a:ext cx="630204" cy="2956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80" b="1">
                <a:solidFill>
                  <a:srgbClr val="2B3439"/>
                </a:solidFill>
                <a:latin typeface="NanumGothic"/>
                <a:ea typeface="NanumGothic"/>
              </a:rPr>
              <a:t>SPC</a:t>
            </a:r>
          </a:p>
        </p:txBody>
      </p:sp>
      <p:sp>
        <p:nvSpPr>
          <p:cNvPr id="68" name="t26"/>
          <p:cNvSpPr txBox="1"/>
          <p:nvPr/>
        </p:nvSpPr>
        <p:spPr>
          <a:xfrm>
            <a:off x="792470" y="7870077"/>
            <a:ext cx="877942" cy="1786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b="1">
                <a:solidFill>
                  <a:srgbClr val="393B3D"/>
                </a:solidFill>
                <a:latin typeface="NanumGothic"/>
                <a:ea typeface="NanumGothic"/>
              </a:rPr>
              <a:t>한국도로공사</a:t>
            </a:r>
          </a:p>
        </p:txBody>
      </p:sp>
      <p:sp>
        <p:nvSpPr>
          <p:cNvPr id="69" name="t27"/>
          <p:cNvSpPr txBox="1"/>
          <p:nvPr/>
        </p:nvSpPr>
        <p:spPr>
          <a:xfrm>
            <a:off x="5566982" y="7910388"/>
            <a:ext cx="1094979" cy="1488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3E4040"/>
                </a:solidFill>
                <a:latin typeface="NanumGothic"/>
                <a:ea typeface="NanumGothic"/>
              </a:rPr>
              <a:t>재무적 투자자(75%)</a:t>
            </a:r>
          </a:p>
        </p:txBody>
      </p:sp>
      <p:sp>
        <p:nvSpPr>
          <p:cNvPr id="70" name="t28"/>
          <p:cNvSpPr txBox="1"/>
          <p:nvPr/>
        </p:nvSpPr>
        <p:spPr>
          <a:xfrm>
            <a:off x="2151641" y="7987952"/>
            <a:ext cx="629327" cy="1500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B7070"/>
                </a:solidFill>
                <a:latin typeface="NanumGothic"/>
                <a:ea typeface="NanumGothic"/>
              </a:rPr>
              <a:t>임대료지급</a:t>
            </a:r>
          </a:p>
        </p:txBody>
      </p:sp>
      <p:sp>
        <p:nvSpPr>
          <p:cNvPr id="71" name="t29"/>
          <p:cNvSpPr txBox="1"/>
          <p:nvPr/>
        </p:nvSpPr>
        <p:spPr>
          <a:xfrm>
            <a:off x="4574966" y="8002128"/>
            <a:ext cx="613625" cy="1464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E6E"/>
                </a:solidFill>
                <a:latin typeface="NanumGothic"/>
                <a:ea typeface="NanumGothic"/>
              </a:rPr>
              <a:t>원리금상환</a:t>
            </a:r>
          </a:p>
        </p:txBody>
      </p:sp>
      <p:sp>
        <p:nvSpPr>
          <p:cNvPr id="72" name="t30"/>
          <p:cNvSpPr txBox="1"/>
          <p:nvPr/>
        </p:nvSpPr>
        <p:spPr>
          <a:xfrm>
            <a:off x="2197430" y="8321900"/>
            <a:ext cx="518771" cy="148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66969"/>
                </a:solidFill>
                <a:latin typeface="NanumGothic"/>
                <a:ea typeface="NanumGothic"/>
              </a:rPr>
              <a:t>부지임대</a:t>
            </a:r>
          </a:p>
        </p:txBody>
      </p:sp>
      <p:sp>
        <p:nvSpPr>
          <p:cNvPr id="73" name="t31"/>
          <p:cNvSpPr txBox="1"/>
          <p:nvPr/>
        </p:nvSpPr>
        <p:spPr>
          <a:xfrm>
            <a:off x="3343780" y="8332222"/>
            <a:ext cx="775750" cy="1757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1">
                <a:solidFill>
                  <a:srgbClr val="515152"/>
                </a:solidFill>
                <a:latin typeface="NanumGothic"/>
                <a:ea typeface="NanumGothic"/>
              </a:rPr>
              <a:t>및 유지관리</a:t>
            </a:r>
          </a:p>
        </p:txBody>
      </p:sp>
      <p:sp>
        <p:nvSpPr>
          <p:cNvPr id="74" name="t32"/>
          <p:cNvSpPr txBox="1"/>
          <p:nvPr/>
        </p:nvSpPr>
        <p:spPr>
          <a:xfrm>
            <a:off x="4729734" y="8333994"/>
            <a:ext cx="306324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E6E"/>
                </a:solidFill>
                <a:latin typeface="NanumGothic"/>
                <a:ea typeface="NanumGothic"/>
              </a:rPr>
              <a:t>대출</a:t>
            </a:r>
          </a:p>
        </p:txBody>
      </p:sp>
      <p:sp>
        <p:nvSpPr>
          <p:cNvPr id="75" name="t33"/>
          <p:cNvSpPr txBox="1"/>
          <p:nvPr/>
        </p:nvSpPr>
        <p:spPr>
          <a:xfrm>
            <a:off x="1500927" y="9012516"/>
            <a:ext cx="770641" cy="1831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>
                <a:solidFill>
                  <a:srgbClr val="3A3C3E"/>
                </a:solidFill>
                <a:latin typeface="NanumGothic"/>
                <a:ea typeface="NanumGothic"/>
              </a:rPr>
              <a:t>공급사업자</a:t>
            </a:r>
          </a:p>
        </p:txBody>
      </p:sp>
      <p:sp>
        <p:nvSpPr>
          <p:cNvPr id="76" name="t34"/>
          <p:cNvSpPr txBox="1"/>
          <p:nvPr/>
        </p:nvSpPr>
        <p:spPr>
          <a:xfrm>
            <a:off x="5199951" y="9036142"/>
            <a:ext cx="744472" cy="1770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83B3C"/>
                </a:solidFill>
                <a:latin typeface="NanumGothic"/>
                <a:ea typeface="NanumGothic"/>
              </a:rPr>
              <a:t>전기사용자</a:t>
            </a:r>
          </a:p>
        </p:txBody>
      </p:sp>
      <p:sp>
        <p:nvSpPr>
          <p:cNvPr id="77" name="t35"/>
          <p:cNvSpPr txBox="1"/>
          <p:nvPr/>
        </p:nvSpPr>
        <p:spPr>
          <a:xfrm>
            <a:off x="3436579" y="9259543"/>
            <a:ext cx="507973" cy="1455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>
                <a:solidFill>
                  <a:srgbClr val="6B6E6F"/>
                </a:solidFill>
                <a:latin typeface="NanumGothic"/>
                <a:ea typeface="NanumGothic"/>
              </a:rPr>
              <a:t>전력판매</a:t>
            </a:r>
          </a:p>
        </p:txBody>
      </p:sp>
      <p:sp>
        <p:nvSpPr>
          <p:cNvPr id="78" name="t36"/>
          <p:cNvSpPr txBox="1"/>
          <p:nvPr/>
        </p:nvSpPr>
        <p:spPr>
          <a:xfrm>
            <a:off x="1552853" y="9275342"/>
            <a:ext cx="703294" cy="312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737676"/>
                </a:solidFill>
                <a:latin typeface="NanumGothic"/>
                <a:ea typeface="NanumGothic"/>
              </a:rPr>
              <a:t>전력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737676"/>
                </a:solidFill>
                <a:latin typeface="NanumGothic"/>
                <a:ea typeface="NanumGothic"/>
              </a:rPr>
              <a:t>중개사업자</a:t>
            </a:r>
          </a:p>
        </p:txBody>
      </p:sp>
      <p:sp>
        <p:nvSpPr>
          <p:cNvPr id="79" name="t37"/>
          <p:cNvSpPr txBox="1"/>
          <p:nvPr/>
        </p:nvSpPr>
        <p:spPr>
          <a:xfrm>
            <a:off x="5540075" y="9333738"/>
            <a:ext cx="4166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676969"/>
                </a:solidFill>
                <a:latin typeface="NanumGothic"/>
                <a:ea typeface="NanumGothic"/>
              </a:rPr>
              <a:t>RE100</a:t>
            </a:r>
          </a:p>
        </p:txBody>
      </p:sp>
      <p:sp>
        <p:nvSpPr>
          <p:cNvPr id="80" name="t38"/>
          <p:cNvSpPr txBox="1"/>
          <p:nvPr/>
        </p:nvSpPr>
        <p:spPr>
          <a:xfrm>
            <a:off x="3436510" y="9593107"/>
            <a:ext cx="513372" cy="1470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C6D6D"/>
                </a:solidFill>
                <a:latin typeface="NanumGothic"/>
                <a:ea typeface="NanumGothic"/>
              </a:rPr>
              <a:t>대금지급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