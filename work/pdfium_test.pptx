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406640" cy="10533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4238244" y="2313432"/>
            <a:ext cx="2464308" cy="1440180"/>
          </a:xfrm>
          <a:prstGeom prst="rect">
            <a:avLst/>
          </a:prstGeom>
          <a:solidFill>
            <a:srgbClr val="B7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1275588" y="6675120"/>
            <a:ext cx="1138428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51A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1280160" y="8951976"/>
            <a:ext cx="1138428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44A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522976" y="7850124"/>
            <a:ext cx="1129284" cy="745236"/>
          </a:xfrm>
          <a:prstGeom prst="rect">
            <a:avLst/>
          </a:prstGeom>
          <a:solidFill>
            <a:srgbClr val="FFFFFF"/>
          </a:solidFill>
          <a:ln w="18288">
            <a:solidFill>
              <a:srgbClr val="4EA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594360" y="5189220"/>
            <a:ext cx="3035808" cy="274320"/>
          </a:xfrm>
          <a:prstGeom prst="rect">
            <a:avLst/>
          </a:prstGeom>
          <a:solidFill>
            <a:srgbClr val="D5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603504" y="4165092"/>
            <a:ext cx="3031236" cy="274320"/>
          </a:xfrm>
          <a:prstGeom prst="rect">
            <a:avLst/>
          </a:prstGeom>
          <a:solidFill>
            <a:srgbClr val="D5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4992624" y="6702552"/>
            <a:ext cx="111556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55B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640080" y="7813548"/>
            <a:ext cx="111556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4BA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4978908" y="8979408"/>
            <a:ext cx="1115568" cy="745236"/>
          </a:xfrm>
          <a:prstGeom prst="rect">
            <a:avLst/>
          </a:prstGeom>
          <a:solidFill>
            <a:srgbClr val="FFFFFF"/>
          </a:solidFill>
          <a:ln w="18288">
            <a:solidFill>
              <a:srgbClr val="4CA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3671316" y="4192524"/>
            <a:ext cx="3054096" cy="265176"/>
          </a:xfrm>
          <a:prstGeom prst="rect">
            <a:avLst/>
          </a:prstGeom>
          <a:solidFill>
            <a:srgbClr val="CF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3666744" y="5216652"/>
            <a:ext cx="3054096" cy="260604"/>
          </a:xfrm>
          <a:prstGeom prst="rect">
            <a:avLst/>
          </a:prstGeom>
          <a:solidFill>
            <a:srgbClr val="CF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603504" y="1088136"/>
            <a:ext cx="763524" cy="749808"/>
          </a:xfrm>
          <a:prstGeom prst="rect">
            <a:avLst/>
          </a:prstGeom>
          <a:solidFill>
            <a:srgbClr val="0D8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0" descr="p1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350008"/>
            <a:ext cx="2450592" cy="1394460"/>
          </a:xfrm>
          <a:prstGeom prst="rect">
            <a:avLst/>
          </a:prstGeom>
        </p:spPr>
      </p:pic>
      <p:pic>
        <p:nvPicPr>
          <p:cNvPr id="15" name="i1" descr="p1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91440"/>
            <a:ext cx="265176" cy="438912"/>
          </a:xfrm>
          <a:prstGeom prst="rect">
            <a:avLst/>
          </a:prstGeom>
        </p:spPr>
      </p:pic>
      <p:pic>
        <p:nvPicPr>
          <p:cNvPr id="16" name="i2" descr="p1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012" y="196596"/>
            <a:ext cx="982980" cy="434340"/>
          </a:xfrm>
          <a:prstGeom prst="rect">
            <a:avLst/>
          </a:prstGeom>
        </p:spPr>
      </p:pic>
      <p:pic>
        <p:nvPicPr>
          <p:cNvPr id="17" name="i3" descr="p1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10896"/>
            <a:ext cx="246888" cy="64008"/>
          </a:xfrm>
          <a:prstGeom prst="rect">
            <a:avLst/>
          </a:prstGeom>
        </p:spPr>
      </p:pic>
      <p:pic>
        <p:nvPicPr>
          <p:cNvPr id="18" name="i4" descr="p1_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868680"/>
            <a:ext cx="137160" cy="137160"/>
          </a:xfrm>
          <a:prstGeom prst="rect">
            <a:avLst/>
          </a:prstGeom>
        </p:spPr>
      </p:pic>
      <p:pic>
        <p:nvPicPr>
          <p:cNvPr id="19" name="i5" descr="p1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1097280"/>
            <a:ext cx="5353812" cy="54864"/>
          </a:xfrm>
          <a:prstGeom prst="rect">
            <a:avLst/>
          </a:prstGeom>
        </p:spPr>
      </p:pic>
      <p:pic>
        <p:nvPicPr>
          <p:cNvPr id="20" name="i6" descr="p1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824228"/>
            <a:ext cx="5353812" cy="54864"/>
          </a:xfrm>
          <a:prstGeom prst="rect">
            <a:avLst/>
          </a:prstGeom>
        </p:spPr>
      </p:pic>
      <p:pic>
        <p:nvPicPr>
          <p:cNvPr id="21" name="i7" descr="p1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" y="2016252"/>
            <a:ext cx="141732" cy="137160"/>
          </a:xfrm>
          <a:prstGeom prst="rect">
            <a:avLst/>
          </a:prstGeom>
        </p:spPr>
      </p:pic>
      <p:pic>
        <p:nvPicPr>
          <p:cNvPr id="22" name="i8" descr="p1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2313432"/>
            <a:ext cx="6144768" cy="1476756"/>
          </a:xfrm>
          <a:prstGeom prst="rect">
            <a:avLst/>
          </a:prstGeom>
        </p:spPr>
      </p:pic>
      <p:pic>
        <p:nvPicPr>
          <p:cNvPr id="23" name="i9" descr="p1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932" y="3936492"/>
            <a:ext cx="137160" cy="137160"/>
          </a:xfrm>
          <a:prstGeom prst="rect">
            <a:avLst/>
          </a:prstGeom>
        </p:spPr>
      </p:pic>
      <p:pic>
        <p:nvPicPr>
          <p:cNvPr id="24" name="i10" descr="p1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" y="6309360"/>
            <a:ext cx="137160" cy="141732"/>
          </a:xfrm>
          <a:prstGeom prst="rect">
            <a:avLst/>
          </a:prstGeom>
        </p:spPr>
      </p:pic>
      <p:pic>
        <p:nvPicPr>
          <p:cNvPr id="25" name="i11" descr="p1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4540" y="6871716"/>
            <a:ext cx="3360420" cy="2377440"/>
          </a:xfrm>
          <a:prstGeom prst="rect">
            <a:avLst/>
          </a:prstGeom>
        </p:spPr>
      </p:pic>
      <p:pic>
        <p:nvPicPr>
          <p:cNvPr id="26" name="i12" descr="p1_i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4752" y="7008876"/>
            <a:ext cx="274320" cy="315468"/>
          </a:xfrm>
          <a:prstGeom prst="rect">
            <a:avLst/>
          </a:prstGeom>
        </p:spPr>
      </p:pic>
      <p:pic>
        <p:nvPicPr>
          <p:cNvPr id="27" name="i13" descr="p1_i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964" y="8220456"/>
            <a:ext cx="672084" cy="210312"/>
          </a:xfrm>
          <a:prstGeom prst="rect">
            <a:avLst/>
          </a:prstGeom>
        </p:spPr>
      </p:pic>
      <p:pic>
        <p:nvPicPr>
          <p:cNvPr id="28" name="i14" descr="p1_i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1556" y="8234172"/>
            <a:ext cx="681228" cy="342900"/>
          </a:xfrm>
          <a:prstGeom prst="rect">
            <a:avLst/>
          </a:prstGeom>
        </p:spPr>
      </p:pic>
      <p:pic>
        <p:nvPicPr>
          <p:cNvPr id="29" name="i15" descr="p1_i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97780" y="9317736"/>
            <a:ext cx="306324" cy="306324"/>
          </a:xfrm>
          <a:prstGeom prst="rect">
            <a:avLst/>
          </a:prstGeom>
        </p:spPr>
      </p:pic>
      <p:pic>
        <p:nvPicPr>
          <p:cNvPr id="30" name="i16" descr="p1_i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6040" y="9390888"/>
            <a:ext cx="2112264" cy="237744"/>
          </a:xfrm>
          <a:prstGeom prst="rect">
            <a:avLst/>
          </a:prstGeom>
        </p:spPr>
      </p:pic>
      <p:pic>
        <p:nvPicPr>
          <p:cNvPr id="31" name="i17" descr="p1_i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77340" y="9454896"/>
            <a:ext cx="534924" cy="114300"/>
          </a:xfrm>
          <a:prstGeom prst="rect">
            <a:avLst/>
          </a:prstGeom>
        </p:spPr>
      </p:pic>
      <p:pic>
        <p:nvPicPr>
          <p:cNvPr id="32" name="i18" descr="p1_i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23560" y="9500616"/>
            <a:ext cx="192024" cy="114300"/>
          </a:xfrm>
          <a:prstGeom prst="rect">
            <a:avLst/>
          </a:prstGeom>
        </p:spPr>
      </p:pic>
      <p:pic>
        <p:nvPicPr>
          <p:cNvPr id="33" name="i19" descr="p1_i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3388" y="10035540"/>
            <a:ext cx="146304" cy="105156"/>
          </a:xfrm>
          <a:prstGeom prst="rect">
            <a:avLst/>
          </a:prstGeom>
        </p:spPr>
      </p:pic>
      <p:cxnSp>
        <p:nvCxnSpPr>
          <p:cNvPr id="34" name="l0"/>
          <p:cNvCxnSpPr/>
          <p:nvPr/>
        </p:nvCxnSpPr>
        <p:spPr>
          <a:xfrm>
            <a:off x="4224528" y="2288286"/>
            <a:ext cx="2505456" cy="0"/>
          </a:xfrm>
          <a:prstGeom prst="line">
            <a:avLst/>
          </a:prstGeom>
          <a:ln w="22860">
            <a:solidFill>
              <a:srgbClr val="BB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1"/>
          <p:cNvCxnSpPr/>
          <p:nvPr/>
        </p:nvCxnSpPr>
        <p:spPr>
          <a:xfrm>
            <a:off x="603504" y="3323844"/>
            <a:ext cx="726948" cy="0"/>
          </a:xfrm>
          <a:prstGeom prst="line">
            <a:avLst/>
          </a:prstGeom>
          <a:ln w="9144">
            <a:solidFill>
              <a:srgbClr val="B5B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2"/>
          <p:cNvCxnSpPr/>
          <p:nvPr/>
        </p:nvCxnSpPr>
        <p:spPr>
          <a:xfrm>
            <a:off x="4572000" y="5127498"/>
            <a:ext cx="333756" cy="0"/>
          </a:xfrm>
          <a:prstGeom prst="line">
            <a:avLst/>
          </a:prstGeom>
          <a:ln w="6350">
            <a:solidFill>
              <a:srgbClr val="D8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3"/>
          <p:cNvCxnSpPr/>
          <p:nvPr/>
        </p:nvCxnSpPr>
        <p:spPr>
          <a:xfrm>
            <a:off x="4910328" y="5127498"/>
            <a:ext cx="370332" cy="0"/>
          </a:xfrm>
          <a:prstGeom prst="line">
            <a:avLst/>
          </a:prstGeom>
          <a:ln w="635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4"/>
          <p:cNvCxnSpPr/>
          <p:nvPr/>
        </p:nvCxnSpPr>
        <p:spPr>
          <a:xfrm>
            <a:off x="5422392" y="5132070"/>
            <a:ext cx="448056" cy="0"/>
          </a:xfrm>
          <a:prstGeom prst="line">
            <a:avLst/>
          </a:prstGeom>
          <a:ln w="6350">
            <a:solidFill>
              <a:srgbClr val="D8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5"/>
          <p:cNvCxnSpPr/>
          <p:nvPr/>
        </p:nvCxnSpPr>
        <p:spPr>
          <a:xfrm>
            <a:off x="5303520" y="6151626"/>
            <a:ext cx="553212" cy="0"/>
          </a:xfrm>
          <a:prstGeom prst="line">
            <a:avLst/>
          </a:prstGeom>
          <a:ln w="6350">
            <a:solidFill>
              <a:srgbClr val="DAE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6"/>
          <p:cNvCxnSpPr/>
          <p:nvPr/>
        </p:nvCxnSpPr>
        <p:spPr>
          <a:xfrm>
            <a:off x="6743700" y="1138428"/>
            <a:ext cx="0" cy="745236"/>
          </a:xfrm>
          <a:prstGeom prst="line">
            <a:avLst/>
          </a:prstGeom>
          <a:ln w="18288">
            <a:solidFill>
              <a:srgbClr val="449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7"/>
          <p:cNvCxnSpPr/>
          <p:nvPr/>
        </p:nvCxnSpPr>
        <p:spPr>
          <a:xfrm>
            <a:off x="4210812" y="2290572"/>
            <a:ext cx="0" cy="1481328"/>
          </a:xfrm>
          <a:prstGeom prst="line">
            <a:avLst/>
          </a:prstGeom>
          <a:ln w="18288">
            <a:solidFill>
              <a:srgbClr val="B3B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0"/>
          <p:cNvSpPr txBox="1"/>
          <p:nvPr/>
        </p:nvSpPr>
        <p:spPr>
          <a:xfrm>
            <a:off x="1235056" y="219644"/>
            <a:ext cx="1053306" cy="3002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10" b="1">
                <a:solidFill>
                  <a:srgbClr val="495050"/>
                </a:solidFill>
                <a:latin typeface="NanumGothic"/>
                <a:ea typeface="NanumGothic"/>
              </a:rPr>
              <a:t>건실계획</a:t>
            </a:r>
          </a:p>
        </p:txBody>
      </p:sp>
      <p:sp>
        <p:nvSpPr>
          <p:cNvPr id="43" name="t1"/>
          <p:cNvSpPr txBox="1"/>
          <p:nvPr/>
        </p:nvSpPr>
        <p:spPr>
          <a:xfrm>
            <a:off x="5238066" y="623365"/>
            <a:ext cx="1256352" cy="142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434544"/>
                </a:solidFill>
                <a:latin typeface="NanumGothic"/>
                <a:ea typeface="NanumGothic"/>
              </a:rPr>
              <a:t>고속도로 민간투자 태양광</a:t>
            </a:r>
          </a:p>
        </p:txBody>
      </p:sp>
      <p:sp>
        <p:nvSpPr>
          <p:cNvPr id="44" name="t2"/>
          <p:cNvSpPr txBox="1"/>
          <p:nvPr/>
        </p:nvSpPr>
        <p:spPr>
          <a:xfrm>
            <a:off x="6433032" y="650874"/>
            <a:ext cx="367590" cy="1056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ACAFAF"/>
                </a:solidFill>
                <a:latin typeface="NanumGothic"/>
                <a:ea typeface="NanumGothic"/>
              </a:rPr>
              <a:t>발전사업</a:t>
            </a:r>
          </a:p>
        </p:txBody>
      </p:sp>
      <p:sp>
        <p:nvSpPr>
          <p:cNvPr id="45" name="t3"/>
          <p:cNvSpPr txBox="1"/>
          <p:nvPr/>
        </p:nvSpPr>
        <p:spPr>
          <a:xfrm>
            <a:off x="778896" y="852452"/>
            <a:ext cx="899099" cy="1755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3B3D3D"/>
                </a:solidFill>
                <a:latin typeface="NanumGothic"/>
                <a:ea typeface="NanumGothic"/>
              </a:rPr>
              <a:t>사업신청 목적</a:t>
            </a:r>
          </a:p>
        </p:txBody>
      </p:sp>
      <p:sp>
        <p:nvSpPr>
          <p:cNvPr id="46" name="t4"/>
          <p:cNvSpPr txBox="1"/>
          <p:nvPr/>
        </p:nvSpPr>
        <p:spPr>
          <a:xfrm>
            <a:off x="1428966" y="1178658"/>
            <a:ext cx="4795846" cy="5936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969" b="0">
                <a:solidFill>
                  <a:srgbClr val="383A39"/>
                </a:solidFill>
                <a:latin typeface="NanumGothic"/>
                <a:ea typeface="NanumGothic"/>
              </a:rPr>
              <a:t>• 한국도로공사가 보유한 성토부의 가용자산을 활용하여 신재생에너지 생산 및 전기 보급</a:t>
            </a:r>
          </a:p>
          <a:p>
            <a:pPr algn="ctr">
              <a:lnSpc>
                <a:spcPct val="132000"/>
              </a:lnSpc>
            </a:pPr>
            <a:r>
              <a:rPr sz="969" b="0">
                <a:solidFill>
                  <a:srgbClr val="383A39"/>
                </a:solidFill>
                <a:latin typeface="NanumGothic"/>
                <a:ea typeface="NanumGothic"/>
              </a:rPr>
              <a:t>2050 탄소중립의 실천', “국가온실기스감축목표(NDC)"의 신에너지 국가정책에 기여</a:t>
            </a:r>
          </a:p>
          <a:p>
            <a:pPr algn="ctr">
              <a:lnSpc>
                <a:spcPct val="132000"/>
              </a:lnSpc>
            </a:pPr>
            <a:r>
              <a:rPr sz="969" b="0">
                <a:solidFill>
                  <a:srgbClr val="383A39"/>
                </a:solidFill>
                <a:latin typeface="NanumGothic"/>
                <a:ea typeface="NanumGothic"/>
              </a:rPr>
              <a:t>• 유휴지신을 활용하여 청정에너지 생산, 신수익 창출 및 신규 일자리 등 사회적 가치실현</a:t>
            </a:r>
          </a:p>
        </p:txBody>
      </p:sp>
      <p:sp>
        <p:nvSpPr>
          <p:cNvPr id="47" name="t5"/>
          <p:cNvSpPr txBox="1"/>
          <p:nvPr/>
        </p:nvSpPr>
        <p:spPr>
          <a:xfrm>
            <a:off x="737858" y="1387684"/>
            <a:ext cx="605161" cy="1730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C5E8F5"/>
                </a:solidFill>
                <a:latin typeface="NanumGothic"/>
                <a:ea typeface="NanumGothic"/>
              </a:rPr>
              <a:t>중점사항</a:t>
            </a:r>
          </a:p>
        </p:txBody>
      </p:sp>
      <p:sp>
        <p:nvSpPr>
          <p:cNvPr id="48" name="t6"/>
          <p:cNvSpPr txBox="1"/>
          <p:nvPr/>
        </p:nvSpPr>
        <p:spPr>
          <a:xfrm>
            <a:off x="769725" y="1999949"/>
            <a:ext cx="615959" cy="1761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73939"/>
                </a:solidFill>
                <a:latin typeface="NanumGothic"/>
                <a:ea typeface="NanumGothic"/>
              </a:rPr>
              <a:t>사업개요</a:t>
            </a:r>
          </a:p>
        </p:txBody>
      </p:sp>
      <p:sp>
        <p:nvSpPr>
          <p:cNvPr id="49" name="t7"/>
          <p:cNvSpPr txBox="1"/>
          <p:nvPr/>
        </p:nvSpPr>
        <p:spPr>
          <a:xfrm>
            <a:off x="632421" y="2265464"/>
            <a:ext cx="808558" cy="10812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20" b="0">
                <a:solidFill>
                  <a:srgbClr val="494C4C"/>
                </a:solidFill>
                <a:latin typeface="NanumGothic"/>
                <a:ea typeface="NanumGothic"/>
              </a:rPr>
              <a:t>사 업 명</a:t>
            </a:r>
          </a:p>
          <a:p>
            <a:pPr algn="l">
              <a:lnSpc>
                <a:spcPct val="126000"/>
              </a:lnSpc>
            </a:pPr>
            <a:r>
              <a:rPr sz="1120" b="0">
                <a:solidFill>
                  <a:srgbClr val="494C4C"/>
                </a:solidFill>
                <a:latin typeface="NanumGothic"/>
                <a:ea typeface="NanumGothic"/>
              </a:rPr>
              <a:t>발주 기관</a:t>
            </a:r>
          </a:p>
          <a:p>
            <a:pPr algn="l">
              <a:lnSpc>
                <a:spcPct val="126000"/>
              </a:lnSpc>
            </a:pPr>
            <a:r>
              <a:rPr sz="1120" b="0">
                <a:solidFill>
                  <a:srgbClr val="494C4C"/>
                </a:solidFill>
                <a:latin typeface="NanumGothic"/>
                <a:ea typeface="NanumGothic"/>
              </a:rPr>
              <a:t>사업 방식</a:t>
            </a:r>
          </a:p>
          <a:p>
            <a:pPr algn="l">
              <a:lnSpc>
                <a:spcPct val="126000"/>
              </a:lnSpc>
            </a:pPr>
            <a:r>
              <a:rPr sz="1120" b="0">
                <a:solidFill>
                  <a:srgbClr val="494C4C"/>
                </a:solidFill>
                <a:latin typeface="NanumGothic"/>
                <a:ea typeface="NanumGothic"/>
              </a:rPr>
              <a:t>설치 부지</a:t>
            </a:r>
          </a:p>
          <a:p>
            <a:pPr algn="l">
              <a:lnSpc>
                <a:spcPct val="126000"/>
              </a:lnSpc>
            </a:pPr>
            <a:r>
              <a:rPr sz="1120" b="0">
                <a:solidFill>
                  <a:srgbClr val="494C4C"/>
                </a:solidFill>
                <a:latin typeface="NanumGothic"/>
                <a:ea typeface="NanumGothic"/>
              </a:rPr>
              <a:t>설 치 용량</a:t>
            </a:r>
          </a:p>
        </p:txBody>
      </p:sp>
      <p:sp>
        <p:nvSpPr>
          <p:cNvPr id="50" name="t8"/>
          <p:cNvSpPr txBox="1"/>
          <p:nvPr/>
        </p:nvSpPr>
        <p:spPr>
          <a:xfrm>
            <a:off x="1360723" y="2263361"/>
            <a:ext cx="2337840" cy="1080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919" b="0">
                <a:solidFill>
                  <a:srgbClr val="4B4D4C"/>
                </a:solidFill>
                <a:latin typeface="NanumGothic"/>
                <a:ea typeface="NanumGothic"/>
              </a:rPr>
              <a:t>2023년 고속도로 민간투자 태양광 발전사업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B4D4C"/>
                </a:solidFill>
                <a:latin typeface="NanumGothic"/>
                <a:ea typeface="NanumGothic"/>
              </a:rPr>
              <a:t>한국도로공사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B4D4C"/>
                </a:solidFill>
                <a:latin typeface="NanumGothic"/>
                <a:ea typeface="NanumGothic"/>
              </a:rPr>
              <a:t>BOT(Bui ld—Operate—Transper)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B4D4C"/>
                </a:solidFill>
                <a:latin typeface="NanumGothic"/>
                <a:ea typeface="NanumGothic"/>
              </a:rPr>
              <a:t>경21 평택시 칠고동 42-1일원 외 14개소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B4D4C"/>
                </a:solidFill>
                <a:latin typeface="NanumGothic"/>
                <a:ea typeface="NanumGothic"/>
              </a:rPr>
              <a:t>10ⅳ朳/</a:t>
            </a:r>
          </a:p>
        </p:txBody>
      </p:sp>
      <p:sp>
        <p:nvSpPr>
          <p:cNvPr id="51" name="t9"/>
          <p:cNvSpPr txBox="1"/>
          <p:nvPr/>
        </p:nvSpPr>
        <p:spPr>
          <a:xfrm>
            <a:off x="1355982" y="3368479"/>
            <a:ext cx="1984941" cy="3572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000"/>
              </a:lnSpc>
            </a:pPr>
            <a:r>
              <a:rPr sz="940" b="0">
                <a:solidFill>
                  <a:srgbClr val="454747"/>
                </a:solidFill>
                <a:latin typeface="NanumGothic"/>
                <a:ea typeface="NanumGothic"/>
              </a:rPr>
              <a:t>건설기간 : 실시협약 체결 후 18개월</a:t>
            </a:r>
          </a:p>
          <a:p>
            <a:pPr algn="l">
              <a:lnSpc>
                <a:spcPct val="121000"/>
              </a:lnSpc>
            </a:pPr>
            <a:r>
              <a:rPr sz="940" b="0">
                <a:solidFill>
                  <a:srgbClr val="454747"/>
                </a:solidFill>
                <a:latin typeface="NanumGothic"/>
                <a:ea typeface="NanumGothic"/>
              </a:rPr>
              <a:t>운영기간 . 건설71간 완료 후 20년</a:t>
            </a:r>
          </a:p>
        </p:txBody>
      </p:sp>
      <p:sp>
        <p:nvSpPr>
          <p:cNvPr id="52" name="t10"/>
          <p:cNvSpPr txBox="1"/>
          <p:nvPr/>
        </p:nvSpPr>
        <p:spPr>
          <a:xfrm>
            <a:off x="627827" y="3457956"/>
            <a:ext cx="736823" cy="179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3A3D3E"/>
                </a:solidFill>
                <a:latin typeface="NanumGothic"/>
                <a:ea typeface="NanumGothic"/>
              </a:rPr>
              <a:t>사업 기간</a:t>
            </a:r>
          </a:p>
        </p:txBody>
      </p:sp>
      <p:sp>
        <p:nvSpPr>
          <p:cNvPr id="53" name="t11"/>
          <p:cNvSpPr txBox="1"/>
          <p:nvPr/>
        </p:nvSpPr>
        <p:spPr>
          <a:xfrm>
            <a:off x="760500" y="3919965"/>
            <a:ext cx="1037551" cy="1779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373939"/>
                </a:solidFill>
                <a:latin typeface="NanumGothic"/>
                <a:ea typeface="NanumGothic"/>
              </a:rPr>
              <a:t>사업의 기대효과</a:t>
            </a:r>
          </a:p>
        </p:txBody>
      </p:sp>
      <p:sp>
        <p:nvSpPr>
          <p:cNvPr id="54" name="t12"/>
          <p:cNvSpPr txBox="1"/>
          <p:nvPr/>
        </p:nvSpPr>
        <p:spPr>
          <a:xfrm>
            <a:off x="1373296" y="4222129"/>
            <a:ext cx="1552407" cy="1746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303434"/>
                </a:solidFill>
                <a:latin typeface="NanumGothic"/>
                <a:ea typeface="NanumGothic"/>
              </a:rPr>
              <a:t>징부°l 신에너지 정책 실현</a:t>
            </a:r>
          </a:p>
        </p:txBody>
      </p:sp>
      <p:sp>
        <p:nvSpPr>
          <p:cNvPr id="55" name="t13"/>
          <p:cNvSpPr txBox="1"/>
          <p:nvPr/>
        </p:nvSpPr>
        <p:spPr>
          <a:xfrm>
            <a:off x="4423108" y="4250360"/>
            <a:ext cx="1608390" cy="1682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23737"/>
                </a:solidFill>
                <a:latin typeface="NanumGothic"/>
                <a:ea typeface="NanumGothic"/>
              </a:rPr>
              <a:t>공공기관의 사회적 가치실현</a:t>
            </a:r>
          </a:p>
        </p:txBody>
      </p:sp>
      <p:sp>
        <p:nvSpPr>
          <p:cNvPr id="56" name="t14"/>
          <p:cNvSpPr txBox="1"/>
          <p:nvPr/>
        </p:nvSpPr>
        <p:spPr>
          <a:xfrm>
            <a:off x="670429" y="4492380"/>
            <a:ext cx="2921329" cy="523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10" b="0">
                <a:solidFill>
                  <a:srgbClr val="404242"/>
                </a:solidFill>
                <a:latin typeface="NanumGothic"/>
                <a:ea typeface="NanumGothic"/>
              </a:rPr>
              <a:t>• 2050 탄소중립의 실천의 정책실현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04242"/>
                </a:solidFill>
                <a:latin typeface="NanumGothic"/>
                <a:ea typeface="NanumGothic"/>
              </a:rPr>
              <a:t>• 청정그린에너지 생산으로 저탄소 탄소중립국2 로 도약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04242"/>
                </a:solidFill>
                <a:latin typeface="NanumGothic"/>
                <a:ea typeface="NanumGothic"/>
              </a:rPr>
              <a:t>• 정부의 신재생에너지 보급정책에 71여</a:t>
            </a:r>
          </a:p>
        </p:txBody>
      </p:sp>
      <p:sp>
        <p:nvSpPr>
          <p:cNvPr id="57" name="t15"/>
          <p:cNvSpPr txBox="1"/>
          <p:nvPr/>
        </p:nvSpPr>
        <p:spPr>
          <a:xfrm>
            <a:off x="3742831" y="4519910"/>
            <a:ext cx="2514025" cy="52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10" b="0">
                <a:solidFill>
                  <a:srgbClr val="424544"/>
                </a:solidFill>
                <a:latin typeface="NanumGothic"/>
                <a:ea typeface="NanumGothic"/>
              </a:rPr>
              <a:t>• 한국도로공사와 사업시행자의 공익사업 실현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24544"/>
                </a:solidFill>
                <a:latin typeface="NanumGothic"/>
                <a:ea typeface="NanumGothic"/>
              </a:rPr>
              <a:t>• 회석발전 대비 C02 약 7천만톤 저감효과 기대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24544"/>
                </a:solidFill>
                <a:latin typeface="NanumGothic"/>
                <a:ea typeface="NanumGothic"/>
              </a:rPr>
              <a:t>• 신규 일자리 500개의 고용창출효과 기대</a:t>
            </a:r>
          </a:p>
        </p:txBody>
      </p:sp>
      <p:sp>
        <p:nvSpPr>
          <p:cNvPr id="58" name="t16"/>
          <p:cNvSpPr txBox="1"/>
          <p:nvPr/>
        </p:nvSpPr>
        <p:spPr>
          <a:xfrm>
            <a:off x="1707099" y="5246387"/>
            <a:ext cx="888904" cy="1735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2D3131"/>
                </a:solidFill>
                <a:latin typeface="NanumGothic"/>
                <a:ea typeface="NanumGothic"/>
              </a:rPr>
              <a:t>환경개선 효과</a:t>
            </a:r>
          </a:p>
        </p:txBody>
      </p:sp>
      <p:sp>
        <p:nvSpPr>
          <p:cNvPr id="59" name="t17"/>
          <p:cNvSpPr txBox="1"/>
          <p:nvPr/>
        </p:nvSpPr>
        <p:spPr>
          <a:xfrm>
            <a:off x="4555652" y="5269793"/>
            <a:ext cx="1343746" cy="1692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D3132"/>
                </a:solidFill>
                <a:latin typeface="NanumGothic"/>
                <a:ea typeface="NanumGothic"/>
              </a:rPr>
              <a:t>유휴부지의 가용지산화</a:t>
            </a:r>
          </a:p>
        </p:txBody>
      </p:sp>
      <p:sp>
        <p:nvSpPr>
          <p:cNvPr id="60" name="t18"/>
          <p:cNvSpPr txBox="1"/>
          <p:nvPr/>
        </p:nvSpPr>
        <p:spPr>
          <a:xfrm>
            <a:off x="661376" y="5515641"/>
            <a:ext cx="2818739" cy="524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>
                <a:solidFill>
                  <a:srgbClr val="3F4040"/>
                </a:solidFill>
                <a:latin typeface="NanumGothic"/>
                <a:ea typeface="NanumGothic"/>
              </a:rPr>
              <a:t>• 신에너지진한으로 국2 온실가스감축목표(NDC) 실천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3F4040"/>
                </a:solidFill>
                <a:latin typeface="NanumGothic"/>
                <a:ea typeface="NanumGothic"/>
              </a:rPr>
              <a:t>• “환경오염 Zero” 목표로 친환경 발전소 건립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3F4040"/>
                </a:solidFill>
                <a:latin typeface="NanumGothic"/>
                <a:ea typeface="NanumGothic"/>
              </a:rPr>
              <a:t>• 경&amp;YOI 우수하며 주변과 조화로운 발전소 건립</a:t>
            </a:r>
          </a:p>
        </p:txBody>
      </p:sp>
      <p:sp>
        <p:nvSpPr>
          <p:cNvPr id="61" name="t19"/>
          <p:cNvSpPr txBox="1"/>
          <p:nvPr/>
        </p:nvSpPr>
        <p:spPr>
          <a:xfrm>
            <a:off x="3738231" y="5543193"/>
            <a:ext cx="2606081" cy="528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0" b="0">
                <a:solidFill>
                  <a:srgbClr val="404241"/>
                </a:solidFill>
                <a:latin typeface="NanumGothic"/>
                <a:ea typeface="NanumGothic"/>
              </a:rPr>
              <a:t>• 한국도로공사 유휴부자를 활용 신부가가치 창출</a:t>
            </a:r>
          </a:p>
          <a:p>
            <a:pPr algn="l">
              <a:lnSpc>
                <a:spcPct val="125000"/>
              </a:lnSpc>
            </a:pPr>
            <a:r>
              <a:rPr sz="910" b="0">
                <a:solidFill>
                  <a:srgbClr val="404241"/>
                </a:solidFill>
                <a:latin typeface="NanumGothic"/>
                <a:ea typeface="NanumGothic"/>
              </a:rPr>
              <a:t>• 본사업에 직접 지역주민을 참여 수익 공유</a:t>
            </a:r>
          </a:p>
          <a:p>
            <a:pPr algn="l">
              <a:lnSpc>
                <a:spcPct val="125000"/>
              </a:lnSpc>
            </a:pPr>
            <a:r>
              <a:rPr sz="910" b="0">
                <a:solidFill>
                  <a:srgbClr val="404241"/>
                </a:solidFill>
                <a:latin typeface="NanumGothic"/>
                <a:ea typeface="NanumGothic"/>
              </a:rPr>
              <a:t>• 유휴부지를 이용 환경친호적인 청정에너지 생산</a:t>
            </a:r>
          </a:p>
        </p:txBody>
      </p:sp>
      <p:sp>
        <p:nvSpPr>
          <p:cNvPr id="62" name="t20"/>
          <p:cNvSpPr txBox="1"/>
          <p:nvPr/>
        </p:nvSpPr>
        <p:spPr>
          <a:xfrm>
            <a:off x="751505" y="6297820"/>
            <a:ext cx="610560" cy="17461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3E3F3F"/>
                </a:solidFill>
                <a:latin typeface="NanumGothic"/>
                <a:ea typeface="NanumGothic"/>
              </a:rPr>
              <a:t>사업구도</a:t>
            </a:r>
          </a:p>
        </p:txBody>
      </p:sp>
      <p:sp>
        <p:nvSpPr>
          <p:cNvPr id="63" name="t21"/>
          <p:cNvSpPr txBox="1"/>
          <p:nvPr/>
        </p:nvSpPr>
        <p:spPr>
          <a:xfrm>
            <a:off x="1447354" y="6739246"/>
            <a:ext cx="851160" cy="1544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A3C3D"/>
                </a:solidFill>
                <a:latin typeface="NanumGothic"/>
                <a:ea typeface="NanumGothic"/>
              </a:rPr>
              <a:t>자본금(25%6)</a:t>
            </a:r>
          </a:p>
        </p:txBody>
      </p:sp>
      <p:sp>
        <p:nvSpPr>
          <p:cNvPr id="64" name="t22"/>
          <p:cNvSpPr txBox="1"/>
          <p:nvPr/>
        </p:nvSpPr>
        <p:spPr>
          <a:xfrm>
            <a:off x="5401818" y="6779514"/>
            <a:ext cx="365760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E4042"/>
                </a:solidFill>
                <a:latin typeface="NanumGothic"/>
                <a:ea typeface="NanumGothic"/>
              </a:rPr>
              <a:t>EPC</a:t>
            </a:r>
          </a:p>
        </p:txBody>
      </p:sp>
      <p:sp>
        <p:nvSpPr>
          <p:cNvPr id="65" name="t23"/>
          <p:cNvSpPr txBox="1"/>
          <p:nvPr/>
        </p:nvSpPr>
        <p:spPr>
          <a:xfrm>
            <a:off x="1827156" y="7024041"/>
            <a:ext cx="488795" cy="301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10" b="0">
                <a:solidFill>
                  <a:srgbClr val="676C6B"/>
                </a:solidFill>
                <a:latin typeface="NanumGothic"/>
                <a:ea typeface="NanumGothic"/>
              </a:rPr>
              <a:t>사업</a:t>
            </a:r>
          </a:p>
          <a:p>
            <a:pPr algn="l">
              <a:lnSpc>
                <a:spcPct val="106000"/>
              </a:lnSpc>
            </a:pPr>
            <a:r>
              <a:rPr sz="910" b="0">
                <a:solidFill>
                  <a:srgbClr val="676C6B"/>
                </a:solidFill>
                <a:latin typeface="NanumGothic"/>
                <a:ea typeface="NanumGothic"/>
              </a:rPr>
              <a:t>신청자</a:t>
            </a:r>
          </a:p>
        </p:txBody>
      </p:sp>
      <p:sp>
        <p:nvSpPr>
          <p:cNvPr id="66" name="t24"/>
          <p:cNvSpPr txBox="1"/>
          <p:nvPr/>
        </p:nvSpPr>
        <p:spPr>
          <a:xfrm>
            <a:off x="5498909" y="7041346"/>
            <a:ext cx="556889" cy="309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840" b="0">
                <a:solidFill>
                  <a:srgbClr val="67696A"/>
                </a:solidFill>
                <a:latin typeface="NanumGothic"/>
                <a:ea typeface="NanumGothic"/>
              </a:rPr>
              <a:t>저무</a:t>
            </a:r>
          </a:p>
          <a:p>
            <a:pPr algn="ctr">
              <a:lnSpc>
                <a:spcPct val="117000"/>
              </a:lnSpc>
            </a:pPr>
            <a:r>
              <a:rPr sz="840" b="0">
                <a:solidFill>
                  <a:srgbClr val="67696A"/>
                </a:solidFill>
                <a:latin typeface="NanumGothic"/>
                <a:ea typeface="NanumGothic"/>
              </a:rPr>
              <a:t>건설업체</a:t>
            </a:r>
          </a:p>
        </p:txBody>
      </p:sp>
      <p:sp>
        <p:nvSpPr>
          <p:cNvPr id="67" name="t25"/>
          <p:cNvSpPr txBox="1"/>
          <p:nvPr/>
        </p:nvSpPr>
        <p:spPr>
          <a:xfrm>
            <a:off x="4491204" y="7196939"/>
            <a:ext cx="251745" cy="774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" b="0">
                <a:solidFill>
                  <a:srgbClr val="7E8384"/>
                </a:solidFill>
                <a:latin typeface="NanumGothic"/>
                <a:ea typeface="NanumGothic"/>
              </a:rPr>
              <a:t>누\갖b</a:t>
            </a:r>
          </a:p>
        </p:txBody>
      </p:sp>
      <p:sp>
        <p:nvSpPr>
          <p:cNvPr id="68" name="t26"/>
          <p:cNvSpPr txBox="1"/>
          <p:nvPr/>
        </p:nvSpPr>
        <p:spPr>
          <a:xfrm>
            <a:off x="3452408" y="7831836"/>
            <a:ext cx="62892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20" b="1">
                <a:solidFill>
                  <a:srgbClr val="293237"/>
                </a:solidFill>
                <a:latin typeface="NanumGothic"/>
                <a:ea typeface="NanumGothic"/>
              </a:rPr>
              <a:t>SPC</a:t>
            </a:r>
          </a:p>
        </p:txBody>
      </p:sp>
      <p:sp>
        <p:nvSpPr>
          <p:cNvPr id="69" name="t27"/>
          <p:cNvSpPr txBox="1"/>
          <p:nvPr/>
        </p:nvSpPr>
        <p:spPr>
          <a:xfrm>
            <a:off x="792424" y="7874522"/>
            <a:ext cx="883066" cy="1797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363839"/>
                </a:solidFill>
                <a:latin typeface="NanumGothic"/>
                <a:ea typeface="NanumGothic"/>
              </a:rPr>
              <a:t>한국도로공사</a:t>
            </a:r>
          </a:p>
        </p:txBody>
      </p:sp>
      <p:sp>
        <p:nvSpPr>
          <p:cNvPr id="70" name="t28"/>
          <p:cNvSpPr txBox="1"/>
          <p:nvPr/>
        </p:nvSpPr>
        <p:spPr>
          <a:xfrm>
            <a:off x="5571554" y="7910388"/>
            <a:ext cx="1094979" cy="1488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83B3B"/>
                </a:solidFill>
                <a:latin typeface="NanumGothic"/>
                <a:ea typeface="NanumGothic"/>
              </a:rPr>
              <a:t>재무적 투자자(75%)</a:t>
            </a:r>
          </a:p>
        </p:txBody>
      </p:sp>
      <p:sp>
        <p:nvSpPr>
          <p:cNvPr id="71" name="t29"/>
          <p:cNvSpPr txBox="1"/>
          <p:nvPr/>
        </p:nvSpPr>
        <p:spPr>
          <a:xfrm>
            <a:off x="2151641" y="7987952"/>
            <a:ext cx="629327" cy="1500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26566"/>
                </a:solidFill>
                <a:latin typeface="NanumGothic"/>
                <a:ea typeface="NanumGothic"/>
              </a:rPr>
              <a:t>임대료지급</a:t>
            </a:r>
          </a:p>
        </p:txBody>
      </p:sp>
      <p:sp>
        <p:nvSpPr>
          <p:cNvPr id="72" name="t30"/>
          <p:cNvSpPr txBox="1"/>
          <p:nvPr/>
        </p:nvSpPr>
        <p:spPr>
          <a:xfrm>
            <a:off x="4574911" y="8006547"/>
            <a:ext cx="618859" cy="1476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757777"/>
                </a:solidFill>
                <a:latin typeface="NanumGothic"/>
                <a:ea typeface="NanumGothic"/>
              </a:rPr>
              <a:t>원리금상환</a:t>
            </a:r>
          </a:p>
        </p:txBody>
      </p:sp>
      <p:sp>
        <p:nvSpPr>
          <p:cNvPr id="73" name="t31"/>
          <p:cNvSpPr txBox="1"/>
          <p:nvPr/>
        </p:nvSpPr>
        <p:spPr>
          <a:xfrm>
            <a:off x="2197361" y="8326280"/>
            <a:ext cx="524171" cy="1500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717374"/>
                </a:solidFill>
                <a:latin typeface="NanumGothic"/>
                <a:ea typeface="NanumGothic"/>
              </a:rPr>
              <a:t>부지임대</a:t>
            </a:r>
          </a:p>
        </p:txBody>
      </p:sp>
      <p:sp>
        <p:nvSpPr>
          <p:cNvPr id="74" name="t32"/>
          <p:cNvSpPr txBox="1"/>
          <p:nvPr/>
        </p:nvSpPr>
        <p:spPr>
          <a:xfrm>
            <a:off x="3343780" y="8336794"/>
            <a:ext cx="775750" cy="1757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4A4B4B"/>
                </a:solidFill>
                <a:latin typeface="NanumGothic"/>
                <a:ea typeface="NanumGothic"/>
              </a:rPr>
              <a:t>및 유지관리</a:t>
            </a:r>
          </a:p>
        </p:txBody>
      </p:sp>
      <p:sp>
        <p:nvSpPr>
          <p:cNvPr id="75" name="t33"/>
          <p:cNvSpPr txBox="1"/>
          <p:nvPr/>
        </p:nvSpPr>
        <p:spPr>
          <a:xfrm>
            <a:off x="4734306" y="8338566"/>
            <a:ext cx="3063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7676"/>
                </a:solidFill>
                <a:latin typeface="NanumGothic"/>
                <a:ea typeface="NanumGothic"/>
              </a:rPr>
              <a:t>대출</a:t>
            </a:r>
          </a:p>
        </p:txBody>
      </p:sp>
      <p:sp>
        <p:nvSpPr>
          <p:cNvPr id="76" name="t34"/>
          <p:cNvSpPr txBox="1"/>
          <p:nvPr/>
        </p:nvSpPr>
        <p:spPr>
          <a:xfrm>
            <a:off x="1500927" y="9017088"/>
            <a:ext cx="770641" cy="1831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353738"/>
                </a:solidFill>
                <a:latin typeface="NanumGothic"/>
                <a:ea typeface="NanumGothic"/>
              </a:rPr>
              <a:t>공급사업자</a:t>
            </a:r>
          </a:p>
        </p:txBody>
      </p:sp>
      <p:sp>
        <p:nvSpPr>
          <p:cNvPr id="77" name="t35"/>
          <p:cNvSpPr txBox="1"/>
          <p:nvPr/>
        </p:nvSpPr>
        <p:spPr>
          <a:xfrm>
            <a:off x="5204523" y="9040714"/>
            <a:ext cx="744472" cy="177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53739"/>
                </a:solidFill>
                <a:latin typeface="NanumGothic"/>
                <a:ea typeface="NanumGothic"/>
              </a:rPr>
              <a:t>전기사용자</a:t>
            </a:r>
          </a:p>
        </p:txBody>
      </p:sp>
      <p:sp>
        <p:nvSpPr>
          <p:cNvPr id="78" name="t36"/>
          <p:cNvSpPr txBox="1"/>
          <p:nvPr/>
        </p:nvSpPr>
        <p:spPr>
          <a:xfrm>
            <a:off x="3436510" y="9263923"/>
            <a:ext cx="513372" cy="147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163"/>
                </a:solidFill>
                <a:latin typeface="NanumGothic"/>
                <a:ea typeface="NanumGothic"/>
              </a:rPr>
              <a:t>전력판매</a:t>
            </a:r>
          </a:p>
        </p:txBody>
      </p:sp>
      <p:sp>
        <p:nvSpPr>
          <p:cNvPr id="79" name="t37"/>
          <p:cNvSpPr txBox="1"/>
          <p:nvPr/>
        </p:nvSpPr>
        <p:spPr>
          <a:xfrm>
            <a:off x="1721358" y="9284970"/>
            <a:ext cx="3063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16666"/>
                </a:solidFill>
                <a:latin typeface="NanumGothic"/>
                <a:ea typeface="NanumGothic"/>
              </a:rPr>
              <a:t>전력</a:t>
            </a:r>
          </a:p>
        </p:txBody>
      </p:sp>
      <p:sp>
        <p:nvSpPr>
          <p:cNvPr id="80" name="t38"/>
          <p:cNvSpPr txBox="1"/>
          <p:nvPr/>
        </p:nvSpPr>
        <p:spPr>
          <a:xfrm>
            <a:off x="5544647" y="9338310"/>
            <a:ext cx="4166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6B6F6D"/>
                </a:solidFill>
                <a:latin typeface="NanumGothic"/>
                <a:ea typeface="NanumGothic"/>
              </a:rPr>
              <a:t>RE100</a:t>
            </a:r>
          </a:p>
        </p:txBody>
      </p:sp>
      <p:sp>
        <p:nvSpPr>
          <p:cNvPr id="81" name="t39"/>
          <p:cNvSpPr txBox="1"/>
          <p:nvPr/>
        </p:nvSpPr>
        <p:spPr>
          <a:xfrm>
            <a:off x="3441151" y="9597871"/>
            <a:ext cx="507973" cy="1455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16364"/>
                </a:solidFill>
                <a:latin typeface="NanumGothic"/>
                <a:ea typeface="NanumGothic"/>
              </a:rPr>
              <a:t>대금지급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