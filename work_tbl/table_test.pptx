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406640" cy="10533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621792" y="1595628"/>
            <a:ext cx="3035808" cy="269748"/>
          </a:xfrm>
          <a:prstGeom prst="rect">
            <a:avLst/>
          </a:prstGeom>
          <a:solidFill>
            <a:srgbClr val="D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3694176" y="1623060"/>
            <a:ext cx="3040380" cy="260604"/>
          </a:xfrm>
          <a:prstGeom prst="rect">
            <a:avLst/>
          </a:prstGeom>
          <a:solidFill>
            <a:srgbClr val="D2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3680460" y="5138928"/>
            <a:ext cx="3031236" cy="260604"/>
          </a:xfrm>
          <a:prstGeom prst="rect">
            <a:avLst/>
          </a:prstGeom>
          <a:solidFill>
            <a:srgbClr val="D1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937260" y="5207508"/>
            <a:ext cx="955548" cy="393192"/>
          </a:xfrm>
          <a:prstGeom prst="rect">
            <a:avLst/>
          </a:prstGeom>
          <a:solidFill>
            <a:srgbClr val="FFFFFF"/>
          </a:solidFill>
          <a:ln w="13716">
            <a:solidFill>
              <a:srgbClr val="ACA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2093976" y="5554980"/>
            <a:ext cx="233172" cy="1184148"/>
          </a:xfrm>
          <a:prstGeom prst="rect">
            <a:avLst/>
          </a:prstGeom>
          <a:solidFill>
            <a:srgbClr val="8FB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3163824" y="6181344"/>
            <a:ext cx="233172" cy="566928"/>
          </a:xfrm>
          <a:prstGeom prst="rect">
            <a:avLst/>
          </a:prstGeom>
          <a:solidFill>
            <a:srgbClr val="92C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ollapse-table"/>
          <p:cNvGraphicFramePr>
            <a:graphicFrameLocks noGrp="1"/>
          </p:cNvGraphicFramePr>
          <p:nvPr/>
        </p:nvGraphicFramePr>
        <p:xfrm>
          <a:off x="2852928" y="7772400"/>
          <a:ext cx="3854196" cy="2066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22376"/>
                <a:gridCol w="3131820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B3E3E"/>
                          </a:solidFill>
                          <a:latin typeface="맑은 고딕"/>
                          <a:ea typeface="맑은 고딕"/>
                        </a:rPr>
                        <a:t>발생 일 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0" b="0">
                          <a:solidFill>
                            <a:srgbClr val="4C4E4D"/>
                          </a:solidFill>
                          <a:latin typeface="맑은 고딕"/>
                          <a:ea typeface="맑은 고딕"/>
                        </a:rPr>
                        <a:t>2023년 4월 29일 밤 11시 30분경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3F4242"/>
                          </a:solidFill>
                          <a:latin typeface="맑은 고딕"/>
                          <a:ea typeface="맑은 고딕"/>
                        </a:rPr>
                        <a:t>발생 위치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0">
                          <a:solidFill>
                            <a:srgbClr val="4F5150"/>
                          </a:solidFill>
                          <a:latin typeface="맑은 고딕"/>
                          <a:ea typeface="맑은 고딕"/>
                        </a:rPr>
                        <a:t>인천핑역시 서구 원당동 검단신도시 안단테 아파트 신축 현장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04242"/>
                          </a:solidFill>
                          <a:latin typeface="맑은 고딕"/>
                          <a:ea typeface="맑은 고딕"/>
                        </a:rPr>
                        <a:t>피 해 규모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40" b="0">
                          <a:solidFill>
                            <a:srgbClr val="4F5151"/>
                          </a:solidFill>
                          <a:latin typeface="맑은 고딕"/>
                          <a:ea typeface="맑은 고딕"/>
                        </a:rPr>
                        <a:t>지하주치장 2개층 지붕 구조물 총 970m2 파손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474B4B"/>
                          </a:solidFill>
                          <a:latin typeface="맑은 고딕"/>
                          <a:ea typeface="맑은 고딕"/>
                        </a:rPr>
                        <a:t>관할 기관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525554"/>
                          </a:solidFill>
                          <a:latin typeface="맑은 고딕"/>
                          <a:ea typeface="맑은 고딕"/>
                        </a:rPr>
                        <a:t>인천굉역시 서구청, 인천경찰청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20" b="1">
                          <a:solidFill>
                            <a:srgbClr val="3D3F40"/>
                          </a:solidFill>
                          <a:latin typeface="맑은 고딕"/>
                          <a:ea typeface="맑은 고딕"/>
                        </a:rPr>
                        <a:t>발생상황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484A49"/>
                          </a:solidFill>
                          <a:latin typeface="맑은 고딕"/>
                          <a:ea typeface="맑은 고딕"/>
                        </a:rPr>
                        <a:t>지呑주치장 1층 지붕층인 어린이 놀이터 예정</a:t>
                      </a:r>
                    </a:p>
                    <a:p>
                      <a:pPr algn="l"/>
                      <a:r>
                        <a:rPr sz="1030" b="0">
                          <a:solidFill>
                            <a:srgbClr val="484A49"/>
                          </a:solidFill>
                          <a:latin typeface="맑은 고딕"/>
                          <a:ea typeface="맑은 고딕"/>
                        </a:rPr>
                        <a:t>지점과 지6주치장 2층의 지붕층이 연쇄적으로 붕괴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404243"/>
                          </a:solidFill>
                          <a:latin typeface="맑은 고딕"/>
                          <a:ea typeface="맑은 고딕"/>
                        </a:rPr>
                        <a:t>발 생 원인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4B4D4C"/>
                          </a:solidFill>
                          <a:latin typeface="맑은 고딕"/>
                          <a:ea typeface="맑은 고딕"/>
                        </a:rPr>
                        <a:t>• 설계•감리•시공등총처적부실로 인한전단보강철근의 미설치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4B4D4C"/>
                          </a:solidFill>
                          <a:latin typeface="맑은 고딕"/>
                          <a:ea typeface="맑은 고딕"/>
                        </a:rPr>
                        <a:t>• 붕과구간 콘크리트 강도부족 등 품질관리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4B4D4C"/>
                          </a:solidFill>
                          <a:latin typeface="맑은 고딕"/>
                          <a:ea typeface="맑은 고딕"/>
                        </a:rPr>
                        <a:t>• 공사고정에서 추가도는 하중을 적게 고려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4B4D4C"/>
                          </a:solidFill>
                          <a:latin typeface="맑은 고딕"/>
                          <a:ea typeface="맑은 고딕"/>
                        </a:rPr>
                        <a:t>• 골~卜 완료될 때까지 지히주치장 정21안전점검을 미실시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natural-disaster-table"/>
          <p:cNvGraphicFramePr>
            <a:graphicFrameLocks noGrp="1"/>
          </p:cNvGraphicFramePr>
          <p:nvPr/>
        </p:nvGraphicFramePr>
        <p:xfrm>
          <a:off x="621792" y="1595628"/>
          <a:ext cx="3035808" cy="30769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76072"/>
                <a:gridCol w="1152144"/>
                <a:gridCol w="130759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D8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313535"/>
                          </a:solidFill>
                          <a:latin typeface="맑은 고딕"/>
                          <a:ea typeface="맑은 고딕"/>
                        </a:rPr>
                        <a:t>자연재난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  <a:tr h="978408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404142"/>
                          </a:solidFill>
                          <a:latin typeface="맑은 고딕"/>
                          <a:ea typeface="맑은 고딕"/>
                        </a:rPr>
                        <a:t>풍수해</a:t>
                      </a:r>
                    </a:p>
                    <a:p>
                      <a:pPr algn="l"/>
                      <a:r>
                        <a:rPr sz="1080" b="0">
                          <a:solidFill>
                            <a:srgbClr val="404142"/>
                          </a:solidFill>
                          <a:latin typeface="맑은 고딕"/>
                          <a:ea typeface="맑은 고딕"/>
                        </a:rPr>
                        <a:t>산사태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060" b="0">
                          <a:solidFill>
                            <a:srgbClr val="3C3E3E"/>
                          </a:solidFill>
                          <a:latin typeface="맑은 고딕"/>
                          <a:ea typeface="맑은 고딕"/>
                        </a:rPr>
                        <a:t>폭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C3E3E"/>
                          </a:solidFill>
                          <a:latin typeface="맑은 고딕"/>
                          <a:ea typeface="맑은 고딕"/>
                        </a:rPr>
                        <a:t>대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C3E3E"/>
                          </a:solidFill>
                          <a:latin typeface="맑은 고딕"/>
                          <a:ea typeface="맑은 고딕"/>
                        </a:rPr>
                        <a:t>염</a:t>
                      </a:r>
                    </a:p>
                    <a:p>
                      <a:pPr algn="l"/>
                      <a:r>
                        <a:rPr sz="1060" b="0">
                          <a:solidFill>
                            <a:srgbClr val="3C3E3E"/>
                          </a:solidFill>
                          <a:latin typeface="맑은 고딕"/>
                          <a:ea typeface="맑은 고딕"/>
                        </a:rPr>
                        <a:t>설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4A4C4B"/>
                          </a:solidFill>
                          <a:latin typeface="맑은 고딕"/>
                          <a:ea typeface="맑은 고딕"/>
                        </a:rPr>
                        <a:t>• 구조물 피로 증대</a:t>
                      </a:r>
                    </a:p>
                    <a:p>
                      <a:pPr algn="l"/>
                      <a:r>
                        <a:rPr sz="930" b="0">
                          <a:solidFill>
                            <a:srgbClr val="4A4C4B"/>
                          </a:solidFill>
                          <a:latin typeface="맑은 고딕"/>
                          <a:ea typeface="맑은 고딕"/>
                        </a:rPr>
                        <a:t>• 감전사고 유발</a:t>
                      </a:r>
                    </a:p>
                    <a:p>
                      <a:pPr algn="l"/>
                      <a:r>
                        <a:rPr sz="930" b="0">
                          <a:solidFill>
                            <a:srgbClr val="4A4C4B"/>
                          </a:solidFill>
                          <a:latin typeface="맑은 고딕"/>
                          <a:ea typeface="맑은 고딕"/>
                        </a:rPr>
                        <a:t>• 각종 시설물 손상</a:t>
                      </a:r>
                    </a:p>
                    <a:p>
                      <a:pPr algn="l"/>
                      <a:r>
                        <a:rPr sz="930" b="0">
                          <a:solidFill>
                            <a:srgbClr val="4A4C4B"/>
                          </a:solidFill>
                          <a:latin typeface="맑은 고딕"/>
                          <a:ea typeface="맑은 고딕"/>
                        </a:rPr>
                        <a:t>• 전) 자재 절연력 약화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928116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424546"/>
                          </a:solidFill>
                          <a:latin typeface="맑은 고딕"/>
                          <a:ea typeface="맑은 고딕"/>
                        </a:rPr>
                        <a:t>낙</a:t>
                      </a:r>
                    </a:p>
                    <a:p>
                      <a:pPr algn="l"/>
                      <a:r>
                        <a:rPr sz="1080" b="0">
                          <a:solidFill>
                            <a:srgbClr val="424546"/>
                          </a:solidFill>
                          <a:latin typeface="맑은 고딕"/>
                          <a:ea typeface="맑은 고딕"/>
                        </a:rPr>
                        <a:t>지</a:t>
                      </a:r>
                    </a:p>
                    <a:p>
                      <a:pPr algn="l"/>
                      <a:r>
                        <a:rPr sz="1080" b="0">
                          <a:solidFill>
                            <a:srgbClr val="424546"/>
                          </a:solidFill>
                          <a:latin typeface="맑은 고딕"/>
                          <a:ea typeface="맑은 고딕"/>
                        </a:rPr>
                        <a:t>진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 b="0">
                          <a:solidFill>
                            <a:srgbClr val="3A3C3C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4E504F"/>
                          </a:solidFill>
                          <a:latin typeface="맑은 고딕"/>
                          <a:ea typeface="맑은 고딕"/>
                        </a:rPr>
                        <a:t>• 화天牀卜고 유발</a:t>
                      </a:r>
                    </a:p>
                    <a:p>
                      <a:pPr algn="l"/>
                      <a:r>
                        <a:rPr sz="1080" b="0">
                          <a:solidFill>
                            <a:srgbClr val="4E504F"/>
                          </a:solidFill>
                          <a:latin typeface="맑은 고딕"/>
                          <a:ea typeface="맑은 고딕"/>
                        </a:rPr>
                        <a:t>• 근구자 안전사고</a:t>
                      </a:r>
                    </a:p>
                    <a:p>
                      <a:pPr algn="l"/>
                      <a:r>
                        <a:rPr sz="1080" b="0">
                          <a:solidFill>
                            <a:srgbClr val="4E504F"/>
                          </a:solidFill>
                          <a:latin typeface="맑은 고딕"/>
                          <a:ea typeface="맑은 고딕"/>
                        </a:rPr>
                        <a:t>• 구조물 변형 불량</a:t>
                      </a:r>
                    </a:p>
                    <a:p>
                      <a:pPr algn="l"/>
                      <a:r>
                        <a:rPr sz="1080" b="0">
                          <a:solidFill>
                            <a:srgbClr val="4E504F"/>
                          </a:solidFill>
                          <a:latin typeface="맑은 고딕"/>
                          <a:ea typeface="맑은 고딕"/>
                        </a:rPr>
                        <a:t>• 각종 시설물 손상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i0" descr="p3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906524"/>
            <a:ext cx="1207008" cy="1856232"/>
          </a:xfrm>
          <a:prstGeom prst="rect">
            <a:avLst/>
          </a:prstGeom>
        </p:spPr>
      </p:pic>
      <p:pic>
        <p:nvPicPr>
          <p:cNvPr id="11" name="i1" descr="p3_i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121408"/>
            <a:ext cx="1211580" cy="2537460"/>
          </a:xfrm>
          <a:prstGeom prst="rect">
            <a:avLst/>
          </a:prstGeom>
        </p:spPr>
      </p:pic>
      <p:pic>
        <p:nvPicPr>
          <p:cNvPr id="12" name="i2" descr="p3_i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3762756"/>
            <a:ext cx="1211580" cy="914400"/>
          </a:xfrm>
          <a:prstGeom prst="rect">
            <a:avLst/>
          </a:prstGeom>
        </p:spPr>
      </p:pic>
      <p:pic>
        <p:nvPicPr>
          <p:cNvPr id="13" name="i3" descr="p3_i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7795260"/>
            <a:ext cx="2162556" cy="1975104"/>
          </a:xfrm>
          <a:prstGeom prst="rect">
            <a:avLst/>
          </a:prstGeom>
        </p:spPr>
      </p:pic>
      <p:pic>
        <p:nvPicPr>
          <p:cNvPr id="14" name="i4" descr="p3_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5584" y="210312"/>
            <a:ext cx="964692" cy="429768"/>
          </a:xfrm>
          <a:prstGeom prst="rect">
            <a:avLst/>
          </a:prstGeom>
        </p:spPr>
      </p:pic>
      <p:pic>
        <p:nvPicPr>
          <p:cNvPr id="15" name="i5" descr="p3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716" y="1920240"/>
            <a:ext cx="644652" cy="201168"/>
          </a:xfrm>
          <a:prstGeom prst="rect">
            <a:avLst/>
          </a:prstGeom>
        </p:spPr>
      </p:pic>
      <p:pic>
        <p:nvPicPr>
          <p:cNvPr id="16" name="i6" descr="p3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2304" y="2039112"/>
            <a:ext cx="1156716" cy="640080"/>
          </a:xfrm>
          <a:prstGeom prst="rect">
            <a:avLst/>
          </a:prstGeom>
        </p:spPr>
      </p:pic>
      <p:pic>
        <p:nvPicPr>
          <p:cNvPr id="17" name="i7" descr="p3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1044" y="2217420"/>
            <a:ext cx="123444" cy="297180"/>
          </a:xfrm>
          <a:prstGeom prst="rect">
            <a:avLst/>
          </a:prstGeom>
        </p:spPr>
      </p:pic>
      <p:pic>
        <p:nvPicPr>
          <p:cNvPr id="18" name="i8" descr="p3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5364" y="2217420"/>
            <a:ext cx="123444" cy="301752"/>
          </a:xfrm>
          <a:prstGeom prst="rect">
            <a:avLst/>
          </a:prstGeom>
        </p:spPr>
      </p:pic>
      <p:pic>
        <p:nvPicPr>
          <p:cNvPr id="19" name="i9" descr="p3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5364" y="2843784"/>
            <a:ext cx="178308" cy="553212"/>
          </a:xfrm>
          <a:prstGeom prst="rect">
            <a:avLst/>
          </a:prstGeom>
        </p:spPr>
      </p:pic>
      <p:pic>
        <p:nvPicPr>
          <p:cNvPr id="20" name="i10" descr="p3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6472" y="3154680"/>
            <a:ext cx="118872" cy="96012"/>
          </a:xfrm>
          <a:prstGeom prst="rect">
            <a:avLst/>
          </a:prstGeom>
        </p:spPr>
      </p:pic>
      <p:pic>
        <p:nvPicPr>
          <p:cNvPr id="21" name="i11" descr="p3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836" y="3877056"/>
            <a:ext cx="196596" cy="813816"/>
          </a:xfrm>
          <a:prstGeom prst="rect">
            <a:avLst/>
          </a:prstGeom>
        </p:spPr>
      </p:pic>
      <p:pic>
        <p:nvPicPr>
          <p:cNvPr id="22" name="i12" descr="p3_i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1900" y="4069080"/>
            <a:ext cx="123444" cy="306324"/>
          </a:xfrm>
          <a:prstGeom prst="rect">
            <a:avLst/>
          </a:prstGeom>
        </p:spPr>
      </p:pic>
      <p:pic>
        <p:nvPicPr>
          <p:cNvPr id="23" name="i13" descr="p3_i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5364" y="4073652"/>
            <a:ext cx="118872" cy="301752"/>
          </a:xfrm>
          <a:prstGeom prst="rect">
            <a:avLst/>
          </a:prstGeom>
        </p:spPr>
      </p:pic>
      <p:pic>
        <p:nvPicPr>
          <p:cNvPr id="24" name="i14" descr="p3_i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4688" y="4430268"/>
            <a:ext cx="681228" cy="123444"/>
          </a:xfrm>
          <a:prstGeom prst="rect">
            <a:avLst/>
          </a:prstGeom>
        </p:spPr>
      </p:pic>
      <p:pic>
        <p:nvPicPr>
          <p:cNvPr id="25" name="i15" descr="p3_i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8932" y="5106924"/>
            <a:ext cx="3031236" cy="777240"/>
          </a:xfrm>
          <a:prstGeom prst="rect">
            <a:avLst/>
          </a:prstGeom>
        </p:spPr>
      </p:pic>
      <p:pic>
        <p:nvPicPr>
          <p:cNvPr id="26" name="i16" descr="p3_i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67328" y="5783580"/>
            <a:ext cx="708660" cy="192024"/>
          </a:xfrm>
          <a:prstGeom prst="rect">
            <a:avLst/>
          </a:prstGeom>
        </p:spPr>
      </p:pic>
      <p:pic>
        <p:nvPicPr>
          <p:cNvPr id="27" name="i17" descr="p3_i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9536" y="6272784"/>
            <a:ext cx="1234440" cy="461772"/>
          </a:xfrm>
          <a:prstGeom prst="rect">
            <a:avLst/>
          </a:prstGeom>
        </p:spPr>
      </p:pic>
      <p:pic>
        <p:nvPicPr>
          <p:cNvPr id="28" name="i18" descr="p3_i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31720" y="6368796"/>
            <a:ext cx="832104" cy="374904"/>
          </a:xfrm>
          <a:prstGeom prst="rect">
            <a:avLst/>
          </a:prstGeom>
        </p:spPr>
      </p:pic>
      <p:pic>
        <p:nvPicPr>
          <p:cNvPr id="29" name="i19" descr="p3_i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24528" y="6368796"/>
            <a:ext cx="836676" cy="192024"/>
          </a:xfrm>
          <a:prstGeom prst="rect">
            <a:avLst/>
          </a:prstGeom>
        </p:spPr>
      </p:pic>
      <p:pic>
        <p:nvPicPr>
          <p:cNvPr id="30" name="i20" descr="p3_i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88" y="7274052"/>
            <a:ext cx="3026664" cy="82296"/>
          </a:xfrm>
          <a:prstGeom prst="rect">
            <a:avLst/>
          </a:prstGeom>
        </p:spPr>
      </p:pic>
      <p:pic>
        <p:nvPicPr>
          <p:cNvPr id="31" name="i21" descr="p3_i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7749540"/>
            <a:ext cx="2322576" cy="2066544"/>
          </a:xfrm>
          <a:prstGeom prst="rect">
            <a:avLst/>
          </a:prstGeom>
        </p:spPr>
      </p:pic>
      <p:cxnSp>
        <p:nvCxnSpPr>
          <p:cNvPr id="32" name="l1"/>
          <p:cNvCxnSpPr/>
          <p:nvPr/>
        </p:nvCxnSpPr>
        <p:spPr>
          <a:xfrm>
            <a:off x="3730752" y="2823210"/>
            <a:ext cx="507492" cy="0"/>
          </a:xfrm>
          <a:prstGeom prst="line">
            <a:avLst/>
          </a:prstGeom>
          <a:ln w="6350">
            <a:solidFill>
              <a:srgbClr val="AFB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3"/>
          <p:cNvCxnSpPr/>
          <p:nvPr/>
        </p:nvCxnSpPr>
        <p:spPr>
          <a:xfrm>
            <a:off x="3726180" y="3751326"/>
            <a:ext cx="507492" cy="0"/>
          </a:xfrm>
          <a:prstGeom prst="line">
            <a:avLst/>
          </a:prstGeom>
          <a:ln w="6350">
            <a:solidFill>
              <a:srgbClr val="A6AA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4"/>
          <p:cNvCxnSpPr/>
          <p:nvPr/>
        </p:nvCxnSpPr>
        <p:spPr>
          <a:xfrm>
            <a:off x="1188720" y="4693158"/>
            <a:ext cx="1188720" cy="0"/>
          </a:xfrm>
          <a:prstGeom prst="line">
            <a:avLst/>
          </a:prstGeom>
          <a:ln w="13716">
            <a:solidFill>
              <a:srgbClr val="D5DF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5"/>
          <p:cNvCxnSpPr/>
          <p:nvPr/>
        </p:nvCxnSpPr>
        <p:spPr>
          <a:xfrm>
            <a:off x="4155948" y="4718304"/>
            <a:ext cx="1412748" cy="0"/>
          </a:xfrm>
          <a:prstGeom prst="line">
            <a:avLst/>
          </a:prstGeom>
          <a:ln w="9144">
            <a:solidFill>
              <a:srgbClr val="D5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6"/>
          <p:cNvCxnSpPr/>
          <p:nvPr/>
        </p:nvCxnSpPr>
        <p:spPr>
          <a:xfrm>
            <a:off x="3726180" y="5616702"/>
            <a:ext cx="2331720" cy="0"/>
          </a:xfrm>
          <a:prstGeom prst="line">
            <a:avLst/>
          </a:prstGeom>
          <a:ln w="13716">
            <a:solidFill>
              <a:srgbClr val="BBBD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7"/>
          <p:cNvCxnSpPr/>
          <p:nvPr/>
        </p:nvCxnSpPr>
        <p:spPr>
          <a:xfrm>
            <a:off x="5216652" y="6204204"/>
            <a:ext cx="969264" cy="0"/>
          </a:xfrm>
          <a:prstGeom prst="line">
            <a:avLst/>
          </a:prstGeom>
          <a:ln w="9144">
            <a:solidFill>
              <a:srgbClr val="C5C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8"/>
          <p:cNvCxnSpPr/>
          <p:nvPr/>
        </p:nvCxnSpPr>
        <p:spPr>
          <a:xfrm>
            <a:off x="3918204" y="6375654"/>
            <a:ext cx="292608" cy="0"/>
          </a:xfrm>
          <a:prstGeom prst="line">
            <a:avLst/>
          </a:prstGeom>
          <a:ln w="6350">
            <a:solidFill>
              <a:srgbClr val="C1C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9"/>
          <p:cNvCxnSpPr/>
          <p:nvPr/>
        </p:nvCxnSpPr>
        <p:spPr>
          <a:xfrm>
            <a:off x="5335524" y="6789420"/>
            <a:ext cx="763524" cy="0"/>
          </a:xfrm>
          <a:prstGeom prst="line">
            <a:avLst/>
          </a:prstGeom>
          <a:ln w="9144">
            <a:solidFill>
              <a:srgbClr val="C1C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10"/>
          <p:cNvCxnSpPr/>
          <p:nvPr/>
        </p:nvCxnSpPr>
        <p:spPr>
          <a:xfrm>
            <a:off x="6103620" y="6791706"/>
            <a:ext cx="566928" cy="0"/>
          </a:xfrm>
          <a:prstGeom prst="line">
            <a:avLst/>
          </a:prstGeom>
          <a:ln w="6350">
            <a:solidFill>
              <a:srgbClr val="B7B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11"/>
          <p:cNvCxnSpPr/>
          <p:nvPr/>
        </p:nvCxnSpPr>
        <p:spPr>
          <a:xfrm>
            <a:off x="5902452" y="7363206"/>
            <a:ext cx="420624" cy="0"/>
          </a:xfrm>
          <a:prstGeom prst="line">
            <a:avLst/>
          </a:prstGeom>
          <a:ln w="6350">
            <a:solidFill>
              <a:srgbClr val="D4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16"/>
          <p:cNvCxnSpPr/>
          <p:nvPr/>
        </p:nvCxnSpPr>
        <p:spPr>
          <a:xfrm>
            <a:off x="3637026" y="5152644"/>
            <a:ext cx="0" cy="297180"/>
          </a:xfrm>
          <a:prstGeom prst="line">
            <a:avLst/>
          </a:prstGeom>
          <a:ln w="6350">
            <a:solidFill>
              <a:srgbClr val="C3C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17"/>
          <p:cNvCxnSpPr/>
          <p:nvPr/>
        </p:nvCxnSpPr>
        <p:spPr>
          <a:xfrm>
            <a:off x="3632454" y="5454396"/>
            <a:ext cx="0" cy="1892808"/>
          </a:xfrm>
          <a:prstGeom prst="line">
            <a:avLst/>
          </a:prstGeom>
          <a:ln w="13716">
            <a:solidFill>
              <a:srgbClr val="C2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18"/>
          <p:cNvCxnSpPr/>
          <p:nvPr/>
        </p:nvCxnSpPr>
        <p:spPr>
          <a:xfrm>
            <a:off x="4304538" y="5614416"/>
            <a:ext cx="0" cy="365760"/>
          </a:xfrm>
          <a:prstGeom prst="line">
            <a:avLst/>
          </a:prstGeom>
          <a:ln w="6350">
            <a:solidFill>
              <a:srgbClr val="9F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19"/>
          <p:cNvCxnSpPr/>
          <p:nvPr/>
        </p:nvCxnSpPr>
        <p:spPr>
          <a:xfrm>
            <a:off x="6083046" y="5623560"/>
            <a:ext cx="0" cy="365760"/>
          </a:xfrm>
          <a:prstGeom prst="line">
            <a:avLst/>
          </a:prstGeom>
          <a:ln w="6350">
            <a:solidFill>
              <a:srgbClr val="98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20"/>
          <p:cNvCxnSpPr/>
          <p:nvPr/>
        </p:nvCxnSpPr>
        <p:spPr>
          <a:xfrm>
            <a:off x="5486400" y="6204204"/>
            <a:ext cx="0" cy="365760"/>
          </a:xfrm>
          <a:prstGeom prst="line">
            <a:avLst/>
          </a:prstGeom>
          <a:ln w="9144">
            <a:solidFill>
              <a:srgbClr val="A7A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21"/>
          <p:cNvCxnSpPr/>
          <p:nvPr/>
        </p:nvCxnSpPr>
        <p:spPr>
          <a:xfrm>
            <a:off x="5484114" y="6789420"/>
            <a:ext cx="0" cy="352044"/>
          </a:xfrm>
          <a:prstGeom prst="line">
            <a:avLst/>
          </a:prstGeom>
          <a:ln w="6350">
            <a:solidFill>
              <a:srgbClr val="A9A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22"/>
          <p:cNvCxnSpPr/>
          <p:nvPr/>
        </p:nvCxnSpPr>
        <p:spPr>
          <a:xfrm>
            <a:off x="587502" y="7776972"/>
            <a:ext cx="0" cy="644652"/>
          </a:xfrm>
          <a:prstGeom prst="line">
            <a:avLst/>
          </a:prstGeom>
          <a:ln w="6350">
            <a:solidFill>
              <a:srgbClr val="C1CB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0"/>
          <p:cNvSpPr txBox="1"/>
          <p:nvPr/>
        </p:nvSpPr>
        <p:spPr>
          <a:xfrm>
            <a:off x="5243072" y="642858"/>
            <a:ext cx="1246577" cy="1332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>
                <a:solidFill>
                  <a:srgbClr val="4A4C4B"/>
                </a:solidFill>
                <a:latin typeface="맑은 고딕"/>
                <a:ea typeface="맑은 고딕"/>
              </a:rPr>
              <a:t>고속도로 민간투자 태양광</a:t>
            </a:r>
          </a:p>
        </p:txBody>
      </p:sp>
      <p:sp>
        <p:nvSpPr>
          <p:cNvPr id="50" name="t1"/>
          <p:cNvSpPr txBox="1"/>
          <p:nvPr/>
        </p:nvSpPr>
        <p:spPr>
          <a:xfrm>
            <a:off x="6428785" y="665494"/>
            <a:ext cx="359113" cy="98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>
                <a:solidFill>
                  <a:srgbClr val="ADB0B0"/>
                </a:solidFill>
                <a:latin typeface="맑은 고딕"/>
                <a:ea typeface="맑은 고딕"/>
              </a:rPr>
              <a:t>발전사입</a:t>
            </a:r>
          </a:p>
        </p:txBody>
      </p:sp>
      <p:sp>
        <p:nvSpPr>
          <p:cNvPr id="51" name="t2"/>
          <p:cNvSpPr txBox="1"/>
          <p:nvPr/>
        </p:nvSpPr>
        <p:spPr>
          <a:xfrm>
            <a:off x="600820" y="812787"/>
            <a:ext cx="3638918" cy="734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60" b="0">
                <a:solidFill>
                  <a:srgbClr val="3B3E3D"/>
                </a:solidFill>
                <a:latin typeface="맑은 고딕"/>
                <a:ea typeface="맑은 고딕"/>
              </a:rPr>
              <a:t>1. 건설안전 관리</a:t>
            </a:r>
          </a:p>
          <a:p>
            <a:pPr algn="l">
              <a:lnSpc>
                <a:spcPct val="150000"/>
              </a:lnSpc>
            </a:pPr>
            <a:r>
              <a:rPr sz="1060" b="0">
                <a:solidFill>
                  <a:srgbClr val="3B3E3D"/>
                </a:solidFill>
                <a:latin typeface="맑은 고딕"/>
                <a:ea typeface="맑은 고딕"/>
              </a:rPr>
              <a:t>1.1 건설 중 발생 가능한 각종 재난,사고 등 위험요소 분석</a:t>
            </a:r>
          </a:p>
          <a:p>
            <a:pPr algn="l">
              <a:lnSpc>
                <a:spcPct val="150000"/>
              </a:lnSpc>
            </a:pPr>
            <a:r>
              <a:rPr sz="1060" b="0">
                <a:solidFill>
                  <a:srgbClr val="3B3E3D"/>
                </a:solidFill>
                <a:latin typeface="맑은 고딕"/>
                <a:ea typeface="맑은 고딕"/>
              </a:rPr>
              <a:t>(1) 건설 중 발생 가능한 각종 재난</a:t>
            </a:r>
          </a:p>
        </p:txBody>
      </p:sp>
      <p:sp>
        <p:nvSpPr>
          <p:cNvPr id="52" name="t4"/>
          <p:cNvSpPr txBox="1"/>
          <p:nvPr/>
        </p:nvSpPr>
        <p:spPr>
          <a:xfrm>
            <a:off x="4930436" y="1675869"/>
            <a:ext cx="631947" cy="171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2E3131"/>
                </a:solidFill>
                <a:latin typeface="맑은 고딕"/>
                <a:ea typeface="맑은 고딕"/>
              </a:rPr>
              <a:t>사회재난</a:t>
            </a:r>
          </a:p>
        </p:txBody>
      </p:sp>
      <p:sp>
        <p:nvSpPr>
          <p:cNvPr id="53" name="t5"/>
          <p:cNvSpPr txBox="1"/>
          <p:nvPr/>
        </p:nvSpPr>
        <p:spPr>
          <a:xfrm>
            <a:off x="5494132" y="2020833"/>
            <a:ext cx="1247208" cy="700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공시현장 화재 피급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자재 및 시설물 손상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근로자 안전사고</a:t>
            </a:r>
          </a:p>
          <a:p>
            <a:pPr algn="l">
              <a:lnSpc>
                <a:spcPct val="130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감전사고 유발</a:t>
            </a:r>
          </a:p>
        </p:txBody>
      </p:sp>
      <p:sp>
        <p:nvSpPr>
          <p:cNvPr id="54" name="t8"/>
          <p:cNvSpPr txBox="1"/>
          <p:nvPr/>
        </p:nvSpPr>
        <p:spPr>
          <a:xfrm>
            <a:off x="5489539" y="2949488"/>
            <a:ext cx="1101365" cy="697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880" b="0">
                <a:solidFill>
                  <a:srgbClr val="444646"/>
                </a:solidFill>
                <a:latin typeface="맑은 고딕"/>
                <a:ea typeface="맑은 고딕"/>
              </a:rPr>
              <a:t>• 현장 접근성 악화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44646"/>
                </a:solidFill>
                <a:latin typeface="맑은 고딕"/>
                <a:ea typeface="맑은 고딕"/>
              </a:rPr>
              <a:t>• 자재 수급 지연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44646"/>
                </a:solidFill>
                <a:latin typeface="맑은 고딕"/>
                <a:ea typeface="맑은 고딕"/>
              </a:rPr>
              <a:t>• 교통 우회로 확보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44646"/>
                </a:solidFill>
                <a:latin typeface="맑은 고딕"/>
                <a:ea typeface="맑은 고딕"/>
              </a:rPr>
              <a:t>• 공사 중지 발생</a:t>
            </a:r>
          </a:p>
        </p:txBody>
      </p:sp>
      <p:sp>
        <p:nvSpPr>
          <p:cNvPr id="55" name="t11"/>
          <p:cNvSpPr txBox="1"/>
          <p:nvPr/>
        </p:nvSpPr>
        <p:spPr>
          <a:xfrm>
            <a:off x="3755623" y="3304032"/>
            <a:ext cx="227319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73A39"/>
                </a:solidFill>
                <a:latin typeface="맑은 고딕"/>
                <a:ea typeface="맑은 고딕"/>
              </a:rPr>
              <a:t>재</a:t>
            </a:r>
          </a:p>
        </p:txBody>
      </p:sp>
      <p:sp>
        <p:nvSpPr>
          <p:cNvPr id="56" name="t12"/>
          <p:cNvSpPr txBox="1"/>
          <p:nvPr/>
        </p:nvSpPr>
        <p:spPr>
          <a:xfrm>
            <a:off x="4039087" y="3304032"/>
            <a:ext cx="227319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83C3C"/>
                </a:solidFill>
                <a:latin typeface="맑은 고딕"/>
                <a:ea typeface="맑은 고딕"/>
              </a:rPr>
              <a:t>난</a:t>
            </a:r>
          </a:p>
        </p:txBody>
      </p:sp>
      <p:sp>
        <p:nvSpPr>
          <p:cNvPr id="57" name="t14"/>
          <p:cNvSpPr txBox="1"/>
          <p:nvPr/>
        </p:nvSpPr>
        <p:spPr>
          <a:xfrm>
            <a:off x="5485016" y="3876574"/>
            <a:ext cx="1164295" cy="5292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869" b="0">
                <a:solidFill>
                  <a:srgbClr val="4F5151"/>
                </a:solidFill>
                <a:latin typeface="맑은 고딕"/>
                <a:ea typeface="맑은 고딕"/>
              </a:rPr>
              <a:t>• 근로자 추락사고</a:t>
            </a:r>
          </a:p>
          <a:p>
            <a:pPr algn="l">
              <a:lnSpc>
                <a:spcPct val="131000"/>
              </a:lnSpc>
            </a:pPr>
            <a:r>
              <a:rPr sz="869" b="0">
                <a:solidFill>
                  <a:srgbClr val="4F5151"/>
                </a:solidFill>
                <a:latin typeface="맑은 고딕"/>
                <a:ea typeface="맑은 고딕"/>
              </a:rPr>
              <a:t>• 공사장 낙하물사고</a:t>
            </a:r>
          </a:p>
          <a:p>
            <a:pPr algn="l">
              <a:lnSpc>
                <a:spcPct val="131000"/>
              </a:lnSpc>
            </a:pPr>
            <a:r>
              <a:rPr sz="869" b="0">
                <a:solidFill>
                  <a:srgbClr val="4F5151"/>
                </a:solidFill>
                <a:latin typeface="맑은 고딕"/>
                <a:ea typeface="맑은 고딕"/>
              </a:rPr>
              <a:t>• 구조물 변형 불량</a:t>
            </a:r>
          </a:p>
        </p:txBody>
      </p:sp>
      <p:sp>
        <p:nvSpPr>
          <p:cNvPr id="58" name="t17"/>
          <p:cNvSpPr txBox="1"/>
          <p:nvPr/>
        </p:nvSpPr>
        <p:spPr>
          <a:xfrm>
            <a:off x="582433" y="4853323"/>
            <a:ext cx="1587869" cy="172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>
                <a:solidFill>
                  <a:srgbClr val="383B3A"/>
                </a:solidFill>
                <a:latin typeface="맑은 고딕"/>
                <a:ea typeface="맑은 고딕"/>
              </a:rPr>
              <a:t>(기 태양광 공사현장 사고</a:t>
            </a:r>
          </a:p>
        </p:txBody>
      </p:sp>
      <p:sp>
        <p:nvSpPr>
          <p:cNvPr id="59" name="t18"/>
          <p:cNvSpPr txBox="1"/>
          <p:nvPr/>
        </p:nvSpPr>
        <p:spPr>
          <a:xfrm>
            <a:off x="4789169" y="5193028"/>
            <a:ext cx="877829" cy="1615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43839"/>
                </a:solidFill>
                <a:latin typeface="맑은 고딕"/>
                <a:ea typeface="맑은 고딕"/>
              </a:rPr>
              <a:t>시망사고 현황</a:t>
            </a:r>
          </a:p>
        </p:txBody>
      </p:sp>
      <p:sp>
        <p:nvSpPr>
          <p:cNvPr id="60" name="t19"/>
          <p:cNvSpPr txBox="1"/>
          <p:nvPr/>
        </p:nvSpPr>
        <p:spPr>
          <a:xfrm>
            <a:off x="2523331" y="5221094"/>
            <a:ext cx="1065652" cy="119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909594"/>
                </a:solidFill>
                <a:latin typeface="맑은 고딕"/>
                <a:ea typeface="맑은 고딕"/>
              </a:rPr>
              <a:t>*기타:익사. 끼임. 감전 등</a:t>
            </a:r>
          </a:p>
        </p:txBody>
      </p:sp>
      <p:sp>
        <p:nvSpPr>
          <p:cNvPr id="61" name="t20"/>
          <p:cNvSpPr txBox="1"/>
          <p:nvPr/>
        </p:nvSpPr>
        <p:spPr>
          <a:xfrm>
            <a:off x="1205826" y="5211774"/>
            <a:ext cx="734645" cy="385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000"/>
              </a:lnSpc>
            </a:pPr>
            <a:r>
              <a:rPr sz="840" b="0">
                <a:solidFill>
                  <a:srgbClr val="3E4041"/>
                </a:solidFill>
                <a:latin typeface="맑은 고딕"/>
                <a:ea typeface="맑은 고딕"/>
              </a:rPr>
              <a:t>추락사 26명</a:t>
            </a:r>
          </a:p>
          <a:p>
            <a:pPr algn="l">
              <a:lnSpc>
                <a:spcPct val="147000"/>
              </a:lnSpc>
            </a:pPr>
            <a:r>
              <a:rPr sz="840" b="0">
                <a:solidFill>
                  <a:srgbClr val="3E4041"/>
                </a:solidFill>
                <a:latin typeface="맑은 고딕"/>
                <a:ea typeface="맑은 고딕"/>
              </a:rPr>
              <a:t>기타 4명</a:t>
            </a:r>
          </a:p>
        </p:txBody>
      </p:sp>
      <p:sp>
        <p:nvSpPr>
          <p:cNvPr id="62" name="t21"/>
          <p:cNvSpPr txBox="1"/>
          <p:nvPr/>
        </p:nvSpPr>
        <p:spPr>
          <a:xfrm>
            <a:off x="694303" y="5261610"/>
            <a:ext cx="185988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4F595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63" name="t22"/>
          <p:cNvSpPr txBox="1"/>
          <p:nvPr/>
        </p:nvSpPr>
        <p:spPr>
          <a:xfrm>
            <a:off x="3756685" y="5437532"/>
            <a:ext cx="1522174" cy="144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484A49"/>
                </a:solidFill>
                <a:latin typeface="맑은 고딕"/>
                <a:ea typeface="맑은 고딕"/>
              </a:rPr>
              <a:t>• 신재생에너지원별 생이주71</a:t>
            </a:r>
          </a:p>
        </p:txBody>
      </p:sp>
      <p:sp>
        <p:nvSpPr>
          <p:cNvPr id="64" name="t23"/>
          <p:cNvSpPr txBox="1"/>
          <p:nvPr/>
        </p:nvSpPr>
        <p:spPr>
          <a:xfrm>
            <a:off x="6175936" y="5418242"/>
            <a:ext cx="599025" cy="578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8000"/>
              </a:lnSpc>
            </a:pPr>
            <a:r>
              <a:rPr sz="790" b="0">
                <a:solidFill>
                  <a:srgbClr val="4D4F4F"/>
                </a:solidFill>
                <a:latin typeface="맑은 고딕"/>
                <a:ea typeface="맑은 고딕"/>
              </a:rPr>
              <a:t>(단위 : 명)</a:t>
            </a:r>
          </a:p>
          <a:p>
            <a:pPr algn="ctr">
              <a:lnSpc>
                <a:spcPct val="158000"/>
              </a:lnSpc>
            </a:pPr>
            <a:r>
              <a:rPr sz="790" b="0">
                <a:solidFill>
                  <a:srgbClr val="4D4F4F"/>
                </a:solidFill>
                <a:latin typeface="맑은 고딕"/>
                <a:ea typeface="맑은 고딕"/>
              </a:rPr>
              <a:t>합계</a:t>
            </a:r>
          </a:p>
          <a:p>
            <a:pPr algn="ctr">
              <a:lnSpc>
                <a:spcPct val="158000"/>
              </a:lnSpc>
            </a:pPr>
            <a:r>
              <a:rPr sz="790" b="0">
                <a:solidFill>
                  <a:srgbClr val="4D4F4F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65" name="t24"/>
          <p:cNvSpPr txBox="1"/>
          <p:nvPr/>
        </p:nvSpPr>
        <p:spPr>
          <a:xfrm>
            <a:off x="3883914" y="5631942"/>
            <a:ext cx="324612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3F40"/>
                </a:solidFill>
                <a:latin typeface="맑은 고딕"/>
                <a:ea typeface="맑은 고딕"/>
              </a:rPr>
              <a:t>설치</a:t>
            </a:r>
          </a:p>
        </p:txBody>
      </p:sp>
      <p:sp>
        <p:nvSpPr>
          <p:cNvPr id="66" name="t25"/>
          <p:cNvSpPr txBox="1"/>
          <p:nvPr/>
        </p:nvSpPr>
        <p:spPr>
          <a:xfrm>
            <a:off x="4469541" y="5615452"/>
            <a:ext cx="1687159" cy="384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940" b="0">
                <a:solidFill>
                  <a:srgbClr val="474B4B"/>
                </a:solidFill>
                <a:latin typeface="맑은 고딕"/>
                <a:ea typeface="맑은 고딕"/>
              </a:rPr>
              <a:t>저조 유지보수 분류불능</a:t>
            </a:r>
          </a:p>
          <a:p>
            <a:pPr algn="l">
              <a:lnSpc>
                <a:spcPct val="131000"/>
              </a:lnSpc>
            </a:pPr>
            <a:r>
              <a:rPr sz="940" b="0">
                <a:solidFill>
                  <a:srgbClr val="474B4B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7" name="t26"/>
          <p:cNvSpPr txBox="1"/>
          <p:nvPr/>
        </p:nvSpPr>
        <p:spPr>
          <a:xfrm>
            <a:off x="694303" y="5746242"/>
            <a:ext cx="185988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0686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68" name="t27"/>
          <p:cNvSpPr txBox="1"/>
          <p:nvPr/>
        </p:nvSpPr>
        <p:spPr>
          <a:xfrm>
            <a:off x="5138013" y="5832348"/>
            <a:ext cx="157276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0505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69" name="t28"/>
          <p:cNvSpPr txBox="1"/>
          <p:nvPr/>
        </p:nvSpPr>
        <p:spPr>
          <a:xfrm>
            <a:off x="5746363" y="5837682"/>
            <a:ext cx="121980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6F7572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0" name="t29"/>
          <p:cNvSpPr txBox="1"/>
          <p:nvPr/>
        </p:nvSpPr>
        <p:spPr>
          <a:xfrm>
            <a:off x="3752312" y="5985461"/>
            <a:ext cx="1583060" cy="4031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1000"/>
              </a:lnSpc>
            </a:pPr>
            <a:r>
              <a:rPr sz="860" b="0">
                <a:solidFill>
                  <a:srgbClr val="505353"/>
                </a:solidFill>
                <a:latin typeface="맑은 고딕"/>
                <a:ea typeface="맑은 고딕"/>
              </a:rPr>
              <a:t>• 신재생에너지원별 발생형태</a:t>
            </a:r>
          </a:p>
          <a:p>
            <a:pPr algn="l">
              <a:lnSpc>
                <a:spcPct val="151000"/>
              </a:lnSpc>
            </a:pPr>
            <a:r>
              <a:rPr sz="860" b="0">
                <a:solidFill>
                  <a:srgbClr val="505353"/>
                </a:solidFill>
                <a:latin typeface="맑은 고딕"/>
                <a:ea typeface="맑은 고딕"/>
              </a:rPr>
              <a:t>추락사 익사</a:t>
            </a:r>
          </a:p>
        </p:txBody>
      </p:sp>
      <p:sp>
        <p:nvSpPr>
          <p:cNvPr id="71" name="t30"/>
          <p:cNvSpPr txBox="1"/>
          <p:nvPr/>
        </p:nvSpPr>
        <p:spPr>
          <a:xfrm>
            <a:off x="6171364" y="5997685"/>
            <a:ext cx="599025" cy="585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790" b="0">
                <a:solidFill>
                  <a:srgbClr val="606463"/>
                </a:solidFill>
                <a:latin typeface="맑은 고딕"/>
                <a:ea typeface="맑은 고딕"/>
              </a:rPr>
              <a:t>(단위 : 명)</a:t>
            </a:r>
          </a:p>
          <a:p>
            <a:pPr algn="ctr">
              <a:lnSpc>
                <a:spcPct val="160000"/>
              </a:lnSpc>
            </a:pPr>
            <a:r>
              <a:rPr sz="790" b="0">
                <a:solidFill>
                  <a:srgbClr val="606463"/>
                </a:solidFill>
                <a:latin typeface="맑은 고딕"/>
                <a:ea typeface="맑은 고딕"/>
              </a:rPr>
              <a:t>합계</a:t>
            </a:r>
          </a:p>
          <a:p>
            <a:pPr algn="ctr">
              <a:lnSpc>
                <a:spcPct val="160000"/>
              </a:lnSpc>
            </a:pPr>
            <a:r>
              <a:rPr sz="790" b="0">
                <a:solidFill>
                  <a:srgbClr val="606463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72" name="t31"/>
          <p:cNvSpPr txBox="1"/>
          <p:nvPr/>
        </p:nvSpPr>
        <p:spPr>
          <a:xfrm>
            <a:off x="740023" y="6198870"/>
            <a:ext cx="135696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5C6361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3" name="t32"/>
          <p:cNvSpPr txBox="1"/>
          <p:nvPr/>
        </p:nvSpPr>
        <p:spPr>
          <a:xfrm>
            <a:off x="5055031" y="6198260"/>
            <a:ext cx="382676" cy="384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7000"/>
              </a:lnSpc>
            </a:pPr>
            <a:r>
              <a:rPr sz="900" b="0">
                <a:solidFill>
                  <a:srgbClr val="424747"/>
                </a:solidFill>
                <a:latin typeface="맑은 고딕"/>
                <a:ea typeface="맑은 고딕"/>
              </a:rPr>
              <a:t>끼임</a:t>
            </a:r>
          </a:p>
          <a:p>
            <a:pPr algn="ctr">
              <a:lnSpc>
                <a:spcPct val="137000"/>
              </a:lnSpc>
            </a:pPr>
            <a:r>
              <a:rPr sz="900" b="0">
                <a:solidFill>
                  <a:srgbClr val="424747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4" name="t33"/>
          <p:cNvSpPr txBox="1"/>
          <p:nvPr/>
        </p:nvSpPr>
        <p:spPr>
          <a:xfrm>
            <a:off x="5640524" y="6193613"/>
            <a:ext cx="522900" cy="394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7000"/>
              </a:lnSpc>
            </a:pPr>
            <a:r>
              <a:rPr sz="860" b="0">
                <a:solidFill>
                  <a:srgbClr val="4B4F4F"/>
                </a:solidFill>
                <a:latin typeface="맑은 고딕"/>
                <a:ea typeface="맑은 고딕"/>
              </a:rPr>
              <a:t>감전 등</a:t>
            </a:r>
          </a:p>
          <a:p>
            <a:pPr algn="ctr">
              <a:lnSpc>
                <a:spcPct val="147000"/>
              </a:lnSpc>
            </a:pPr>
            <a:r>
              <a:rPr sz="860" b="0">
                <a:solidFill>
                  <a:srgbClr val="4B4F4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5" name="t34"/>
          <p:cNvSpPr txBox="1"/>
          <p:nvPr/>
        </p:nvSpPr>
        <p:spPr>
          <a:xfrm>
            <a:off x="1090970" y="6305550"/>
            <a:ext cx="158008" cy="149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93A3B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6" name="t35"/>
          <p:cNvSpPr txBox="1"/>
          <p:nvPr/>
        </p:nvSpPr>
        <p:spPr>
          <a:xfrm>
            <a:off x="2704886" y="6360414"/>
            <a:ext cx="144292" cy="149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8FA04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7" name="t36"/>
          <p:cNvSpPr txBox="1"/>
          <p:nvPr/>
        </p:nvSpPr>
        <p:spPr>
          <a:xfrm>
            <a:off x="3931005" y="6408420"/>
            <a:ext cx="212140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D5F5E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78" name="t37"/>
          <p:cNvSpPr txBox="1"/>
          <p:nvPr/>
        </p:nvSpPr>
        <p:spPr>
          <a:xfrm>
            <a:off x="1635038" y="6451854"/>
            <a:ext cx="139720" cy="149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5A615E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9" name="t38"/>
          <p:cNvSpPr txBox="1"/>
          <p:nvPr/>
        </p:nvSpPr>
        <p:spPr>
          <a:xfrm>
            <a:off x="3751124" y="6576462"/>
            <a:ext cx="1728086" cy="597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30" b="0">
                <a:solidFill>
                  <a:srgbClr val="565857"/>
                </a:solidFill>
                <a:latin typeface="맑은 고딕"/>
                <a:ea typeface="맑은 고딕"/>
              </a:rPr>
              <a:t>• 신재~지원별 기인물현황</a:t>
            </a:r>
          </a:p>
          <a:p>
            <a:pPr algn="ctr">
              <a:lnSpc>
                <a:spcPct val="125000"/>
              </a:lnSpc>
            </a:pPr>
            <a:r>
              <a:rPr sz="1030" b="0">
                <a:solidFill>
                  <a:srgbClr val="565857"/>
                </a:solidFill>
                <a:latin typeface="맑은 고딕"/>
                <a:ea typeface="맑은 고딕"/>
              </a:rPr>
              <a:t>사다리</a:t>
            </a:r>
          </a:p>
          <a:p>
            <a:pPr algn="ctr">
              <a:lnSpc>
                <a:spcPct val="125000"/>
              </a:lnSpc>
            </a:pPr>
            <a:r>
              <a:rPr sz="1030" b="0">
                <a:solidFill>
                  <a:srgbClr val="56585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0" name="t39"/>
          <p:cNvSpPr txBox="1"/>
          <p:nvPr/>
        </p:nvSpPr>
        <p:spPr>
          <a:xfrm>
            <a:off x="6166464" y="6618040"/>
            <a:ext cx="553454" cy="136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5B5E5D"/>
                </a:solidFill>
                <a:latin typeface="맑은 고딕"/>
                <a:ea typeface="맑은 고딕"/>
              </a:rPr>
              <a:t>(단위 : 명)</a:t>
            </a:r>
          </a:p>
        </p:txBody>
      </p:sp>
      <p:sp>
        <p:nvSpPr>
          <p:cNvPr id="81" name="t40"/>
          <p:cNvSpPr txBox="1"/>
          <p:nvPr/>
        </p:nvSpPr>
        <p:spPr>
          <a:xfrm>
            <a:off x="735451" y="6665214"/>
            <a:ext cx="135696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748080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82" name="t41"/>
          <p:cNvSpPr txBox="1"/>
          <p:nvPr/>
        </p:nvSpPr>
        <p:spPr>
          <a:xfrm>
            <a:off x="1000079" y="6759702"/>
            <a:ext cx="334304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424546"/>
                </a:solidFill>
                <a:latin typeface="맑은 고딕"/>
                <a:ea typeface="맑은 고딕"/>
              </a:rPr>
              <a:t>2017</a:t>
            </a:r>
          </a:p>
        </p:txBody>
      </p:sp>
      <p:sp>
        <p:nvSpPr>
          <p:cNvPr id="83" name="t42"/>
          <p:cNvSpPr txBox="1"/>
          <p:nvPr/>
        </p:nvSpPr>
        <p:spPr>
          <a:xfrm>
            <a:off x="1535065" y="6764446"/>
            <a:ext cx="328987" cy="135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3F4242"/>
                </a:solidFill>
                <a:latin typeface="맑은 고딕"/>
                <a:ea typeface="맑은 고딕"/>
              </a:rPr>
              <a:t>2018</a:t>
            </a:r>
          </a:p>
        </p:txBody>
      </p:sp>
      <p:sp>
        <p:nvSpPr>
          <p:cNvPr id="84" name="t43"/>
          <p:cNvSpPr txBox="1"/>
          <p:nvPr/>
        </p:nvSpPr>
        <p:spPr>
          <a:xfrm>
            <a:off x="2069989" y="6769018"/>
            <a:ext cx="328987" cy="135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404444"/>
                </a:solidFill>
                <a:latin typeface="맑은 고딕"/>
                <a:ea typeface="맑은 고딕"/>
              </a:rPr>
              <a:t>2019</a:t>
            </a:r>
          </a:p>
        </p:txBody>
      </p:sp>
      <p:sp>
        <p:nvSpPr>
          <p:cNvPr id="85" name="t44"/>
          <p:cNvSpPr txBox="1"/>
          <p:nvPr/>
        </p:nvSpPr>
        <p:spPr>
          <a:xfrm>
            <a:off x="2604913" y="6773590"/>
            <a:ext cx="328987" cy="135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>
                <a:solidFill>
                  <a:srgbClr val="4A4C4C"/>
                </a:solidFill>
                <a:latin typeface="맑은 고딕"/>
                <a:ea typeface="맑은 고딕"/>
              </a:rPr>
              <a:t>2020</a:t>
            </a:r>
          </a:p>
        </p:txBody>
      </p:sp>
      <p:sp>
        <p:nvSpPr>
          <p:cNvPr id="86" name="t45"/>
          <p:cNvSpPr txBox="1"/>
          <p:nvPr/>
        </p:nvSpPr>
        <p:spPr>
          <a:xfrm>
            <a:off x="3140060" y="6778783"/>
            <a:ext cx="317162" cy="1308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474949"/>
                </a:solidFill>
                <a:latin typeface="맑은 고딕"/>
                <a:ea typeface="맑은 고딕"/>
              </a:rPr>
              <a:t>2021</a:t>
            </a:r>
          </a:p>
        </p:txBody>
      </p:sp>
      <p:sp>
        <p:nvSpPr>
          <p:cNvPr id="87" name="t46"/>
          <p:cNvSpPr txBox="1"/>
          <p:nvPr/>
        </p:nvSpPr>
        <p:spPr>
          <a:xfrm>
            <a:off x="3879890" y="6773387"/>
            <a:ext cx="385693" cy="393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7000"/>
              </a:lnSpc>
            </a:pPr>
            <a:r>
              <a:rPr sz="919" b="0">
                <a:solidFill>
                  <a:srgbClr val="414443"/>
                </a:solidFill>
                <a:latin typeface="맑은 고딕"/>
                <a:ea typeface="맑은 고딕"/>
              </a:rPr>
              <a:t>지붕</a:t>
            </a:r>
          </a:p>
          <a:p>
            <a:pPr algn="l">
              <a:lnSpc>
                <a:spcPct val="137000"/>
              </a:lnSpc>
            </a:pPr>
            <a:r>
              <a:rPr sz="919" b="0">
                <a:solidFill>
                  <a:srgbClr val="414443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88" name="t47"/>
          <p:cNvSpPr txBox="1"/>
          <p:nvPr/>
        </p:nvSpPr>
        <p:spPr>
          <a:xfrm>
            <a:off x="5055031" y="6776847"/>
            <a:ext cx="387248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434547"/>
                </a:solidFill>
                <a:latin typeface="맑은 고딕"/>
                <a:ea typeface="맑은 고딕"/>
              </a:rPr>
              <a:t>전주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434547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9" name="t48"/>
          <p:cNvSpPr txBox="1"/>
          <p:nvPr/>
        </p:nvSpPr>
        <p:spPr>
          <a:xfrm>
            <a:off x="5516392" y="6778264"/>
            <a:ext cx="1182684" cy="401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60" b="0">
                <a:solidFill>
                  <a:srgbClr val="4B4D4E"/>
                </a:solidFill>
                <a:latin typeface="맑은 고딕"/>
                <a:ea typeface="맑은 고딕"/>
              </a:rPr>
              <a:t>기EK비계등) 합계</a:t>
            </a:r>
          </a:p>
          <a:p>
            <a:pPr algn="l">
              <a:lnSpc>
                <a:spcPct val="134000"/>
              </a:lnSpc>
            </a:pPr>
            <a:r>
              <a:rPr sz="960" b="0">
                <a:solidFill>
                  <a:srgbClr val="4B4D4E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90" name="t49"/>
          <p:cNvSpPr txBox="1"/>
          <p:nvPr/>
        </p:nvSpPr>
        <p:spPr>
          <a:xfrm>
            <a:off x="848865" y="6946216"/>
            <a:ext cx="2670075" cy="1446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454748"/>
                </a:solidFill>
                <a:latin typeface="맑은 고딕"/>
                <a:ea typeface="맑은 고딕"/>
              </a:rPr>
              <a:t>나, 태양광 공사현장 사망사고의 86.7%는 추락사로서</a:t>
            </a:r>
          </a:p>
        </p:txBody>
      </p:sp>
      <p:sp>
        <p:nvSpPr>
          <p:cNvPr id="91" name="t50"/>
          <p:cNvSpPr txBox="1"/>
          <p:nvPr/>
        </p:nvSpPr>
        <p:spPr>
          <a:xfrm>
            <a:off x="5782391" y="6997446"/>
            <a:ext cx="16056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4A4E4D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92" name="t51"/>
          <p:cNvSpPr txBox="1"/>
          <p:nvPr/>
        </p:nvSpPr>
        <p:spPr>
          <a:xfrm>
            <a:off x="1013397" y="7119786"/>
            <a:ext cx="1518648" cy="1459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14444"/>
                </a:solidFill>
                <a:latin typeface="맑은 고딕"/>
                <a:ea typeface="맑은 고딕"/>
              </a:rPr>
              <a:t>이에 대한 안전계획을 수립함</a:t>
            </a:r>
          </a:p>
        </p:txBody>
      </p:sp>
      <p:sp>
        <p:nvSpPr>
          <p:cNvPr id="93" name="t52"/>
          <p:cNvSpPr txBox="1"/>
          <p:nvPr/>
        </p:nvSpPr>
        <p:spPr>
          <a:xfrm>
            <a:off x="5626898" y="7171058"/>
            <a:ext cx="1089219" cy="1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05E"/>
                </a:solidFill>
                <a:latin typeface="맑은 고딕"/>
                <a:ea typeface="맑은 고딕"/>
              </a:rPr>
              <a:t>* 출처 : 안전보건공단</a:t>
            </a:r>
          </a:p>
        </p:txBody>
      </p:sp>
      <p:sp>
        <p:nvSpPr>
          <p:cNvPr id="94" name="t53"/>
          <p:cNvSpPr txBox="1"/>
          <p:nvPr/>
        </p:nvSpPr>
        <p:spPr>
          <a:xfrm>
            <a:off x="568677" y="7495826"/>
            <a:ext cx="4185249" cy="173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393B3A"/>
                </a:solidFill>
                <a:latin typeface="맑은 고딕"/>
                <a:ea typeface="맑은 고딕"/>
              </a:rPr>
              <a:t>(3) 최근 발생한 대형 건설사고(검단신도시 아파트 건설현장 붕괴사고)</a:t>
            </a:r>
          </a:p>
        </p:txBody>
      </p:sp>
      <p:sp>
        <p:nvSpPr>
          <p:cNvPr id="95" name="t60"/>
          <p:cNvSpPr txBox="1"/>
          <p:nvPr/>
        </p:nvSpPr>
        <p:spPr>
          <a:xfrm>
            <a:off x="6401749" y="10003634"/>
            <a:ext cx="377221" cy="191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5A5D5D"/>
                </a:solidFill>
                <a:latin typeface="맑은 고딕"/>
                <a:ea typeface="맑은 고딕"/>
              </a:rPr>
              <a:t>137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3680460" y="1933956"/>
            <a:ext cx="3040380" cy="1911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B5B8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589788" y="6373368"/>
            <a:ext cx="6112764" cy="283464"/>
          </a:xfrm>
          <a:prstGeom prst="rect">
            <a:avLst/>
          </a:prstGeom>
          <a:solidFill>
            <a:srgbClr val="D1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585216" y="7292340"/>
            <a:ext cx="3040380" cy="269748"/>
          </a:xfrm>
          <a:prstGeom prst="rect">
            <a:avLst/>
          </a:prstGeom>
          <a:solidFill>
            <a:srgbClr val="D5E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80644" y="8215884"/>
            <a:ext cx="3040380" cy="265176"/>
          </a:xfrm>
          <a:prstGeom prst="rect">
            <a:avLst/>
          </a:prstGeom>
          <a:solidFill>
            <a:srgbClr val="D6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3662172" y="7315200"/>
            <a:ext cx="3035808" cy="260604"/>
          </a:xfrm>
          <a:prstGeom prst="rect">
            <a:avLst/>
          </a:prstGeom>
          <a:solidFill>
            <a:srgbClr val="D1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3657600" y="8238744"/>
            <a:ext cx="3035808" cy="256032"/>
          </a:xfrm>
          <a:prstGeom prst="rect">
            <a:avLst/>
          </a:prstGeom>
          <a:solidFill>
            <a:srgbClr val="D2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594360" y="1101852"/>
            <a:ext cx="777240" cy="731520"/>
          </a:xfrm>
          <a:prstGeom prst="rect">
            <a:avLst/>
          </a:prstGeom>
          <a:solidFill>
            <a:srgbClr val="11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5308092" y="2025396"/>
            <a:ext cx="562356" cy="438912"/>
          </a:xfrm>
          <a:prstGeom prst="rect">
            <a:avLst/>
          </a:prstGeom>
          <a:solidFill>
            <a:srgbClr val="FFFFFF"/>
          </a:solidFill>
          <a:ln w="18288">
            <a:solidFill>
              <a:srgbClr val="8AC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5303520" y="2761488"/>
            <a:ext cx="562356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AB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4526280" y="2756916"/>
            <a:ext cx="55778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7B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6089904" y="2029968"/>
            <a:ext cx="553212" cy="438912"/>
          </a:xfrm>
          <a:prstGeom prst="rect">
            <a:avLst/>
          </a:prstGeom>
          <a:solidFill>
            <a:srgbClr val="FFFFFF"/>
          </a:solidFill>
          <a:ln w="18288">
            <a:solidFill>
              <a:srgbClr val="93C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3758184" y="2752344"/>
            <a:ext cx="55321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1B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2"/>
          <p:cNvSpPr/>
          <p:nvPr/>
        </p:nvSpPr>
        <p:spPr>
          <a:xfrm>
            <a:off x="6089904" y="2761488"/>
            <a:ext cx="5486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7B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13"/>
          <p:cNvSpPr/>
          <p:nvPr/>
        </p:nvSpPr>
        <p:spPr>
          <a:xfrm>
            <a:off x="3762756" y="2020824"/>
            <a:ext cx="553212" cy="434340"/>
          </a:xfrm>
          <a:prstGeom prst="rect">
            <a:avLst/>
          </a:prstGeom>
          <a:solidFill>
            <a:srgbClr val="FFFFFF"/>
          </a:solidFill>
          <a:ln w="18288">
            <a:solidFill>
              <a:srgbClr val="90C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14"/>
          <p:cNvSpPr/>
          <p:nvPr/>
        </p:nvSpPr>
        <p:spPr>
          <a:xfrm>
            <a:off x="4526280" y="2002536"/>
            <a:ext cx="562356" cy="214884"/>
          </a:xfrm>
          <a:prstGeom prst="rect">
            <a:avLst/>
          </a:prstGeom>
          <a:solidFill>
            <a:srgbClr val="73C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safety-table"/>
          <p:cNvGraphicFramePr>
            <a:graphicFrameLocks noGrp="1"/>
          </p:cNvGraphicFramePr>
          <p:nvPr/>
        </p:nvGraphicFramePr>
        <p:xfrm>
          <a:off x="585216" y="1906524"/>
          <a:ext cx="3049524" cy="18973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32104"/>
                <a:gridCol w="221742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160" b="1">
                          <a:solidFill>
                            <a:srgbClr val="2F3231"/>
                          </a:solidFill>
                          <a:latin typeface="맑은 고딕"/>
                          <a:ea typeface="맑은 고딕"/>
                        </a:rPr>
                        <a:t>사고형태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60" b="1">
                          <a:solidFill>
                            <a:srgbClr val="333737"/>
                          </a:solidFill>
                          <a:latin typeface="맑은 고딕"/>
                          <a:ea typeface="맑은 고딕"/>
                        </a:rPr>
                        <a:t>방지대책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CCD8D8"/>
                    </a:solidFill>
                  </a:tcPr>
                </a:tc>
              </a:tr>
              <a:tr h="553212">
                <a:tc>
                  <a:txBody>
                    <a:bodyPr wrap="square"/>
                    <a:lstStyle/>
                    <a:p>
                      <a:pPr algn="ctr"/>
                      <a:r>
                        <a:rPr sz="880" b="1">
                          <a:solidFill>
                            <a:srgbClr val="F7DDCA"/>
                          </a:solidFill>
                          <a:latin typeface="맑은 고딕"/>
                          <a:ea typeface="맑은 고딕"/>
                        </a:rPr>
                        <a:t>인적, 물적닉하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494C4B"/>
                          </a:solidFill>
                          <a:latin typeface="맑은 고딕"/>
                          <a:ea typeface="맑은 고딕"/>
                        </a:rPr>
                        <a:t>• 모듈, 구조물 영중 시 고속도로 하향 양중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494C4B"/>
                          </a:solidFill>
                          <a:latin typeface="맑은 고딕"/>
                          <a:ea typeface="맑은 고딕"/>
                        </a:rPr>
                        <a:t>• 크레인 작업반경내 입출입 통제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494C4B"/>
                          </a:solidFill>
                          <a:latin typeface="맑은 고딕"/>
                          <a:ea typeface="맑은 고딕"/>
                        </a:rPr>
                        <a:t>• 크레인 직업중량 및 허용재원 준수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ctr"/>
                      <a:r>
                        <a:rPr sz="1040" b="1">
                          <a:solidFill>
                            <a:srgbClr val="404243"/>
                          </a:solidFill>
                          <a:latin typeface="맑은 고딕"/>
                          <a:ea typeface="맑은 고딕"/>
                        </a:rPr>
                        <a:t>교 통 사 고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4A4C4B"/>
                          </a:solidFill>
                          <a:latin typeface="맑은 고딕"/>
                          <a:ea typeface="맑은 고딕"/>
                        </a:rPr>
                        <a:t>• 직업 전 직업특성에 맞는 안전교육 실시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4A4C4B"/>
                          </a:solidFill>
                          <a:latin typeface="맑은 고딕"/>
                          <a:ea typeface="맑은 고딕"/>
                        </a:rPr>
                        <a:t>• 작업자 고속도로 접근금지, 안전요원 배치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4A4C4B"/>
                          </a:solidFill>
                          <a:latin typeface="맑은 고딕"/>
                          <a:ea typeface="맑은 고딕"/>
                        </a:rPr>
                        <a:t>• 부처도로통행을우한30m의 초소폭원 유지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93C3D"/>
                          </a:solidFill>
                          <a:latin typeface="맑은 고딕"/>
                          <a:ea typeface="맑은 고딕"/>
                        </a:rPr>
                        <a:t>협 착 사 고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93C3D"/>
                          </a:solidFill>
                          <a:latin typeface="맑은 고딕"/>
                          <a:ea typeface="맑은 고딕"/>
                        </a:rPr>
                        <a:t>전 도 사 고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solidFill>
                      <a:srgbClr val="F0F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60" b="0">
                          <a:solidFill>
                            <a:srgbClr val="424444"/>
                          </a:solidFill>
                          <a:latin typeface="맑은 고딕"/>
                          <a:ea typeface="맑은 고딕"/>
                        </a:rPr>
                        <a:t>• 2인1조 직업, 자발적 위험인식 함양 교육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24444"/>
                          </a:solidFill>
                          <a:latin typeface="맑은 고딕"/>
                          <a:ea typeface="맑은 고딕"/>
                        </a:rPr>
                        <a:t>• 굴착7 는 전도예방을 위한 트르다식징腷 I 사용</a:t>
                      </a:r>
                    </a:p>
                    <a:p>
                      <a:pPr algn="l"/>
                      <a:r>
                        <a:rPr sz="760" b="0">
                          <a:solidFill>
                            <a:srgbClr val="424444"/>
                          </a:solidFill>
                          <a:latin typeface="맑은 고딕"/>
                          <a:ea typeface="맑은 고딕"/>
                        </a:rPr>
                        <a:t>• 소형자재도 가급적 크레인, 굴착기 운반</a:t>
                      </a:r>
                    </a:p>
                  </a:txBody>
                  <a:tcPr marL="18288" marR="18288" marT="9144" marB="9144" anchor="ctr">
                    <a:lnL w="9144" cap="flat" cmpd="sng" algn="ctr">
                      <a:solidFill>
                        <a:srgbClr val="B4B8B9"/>
                      </a:solidFill>
                    </a:lnL>
                    <a:lnR w="9144" cap="flat" cmpd="sng" algn="ctr">
                      <a:solidFill>
                        <a:srgbClr val="B4B8B9"/>
                      </a:solidFill>
                    </a:lnR>
                    <a:lnT w="9144" cap="flat" cmpd="sng" algn="ctr">
                      <a:solidFill>
                        <a:srgbClr val="B4B8B9"/>
                      </a:solidFill>
                    </a:lnT>
                    <a:lnB w="9144" cap="flat" cmpd="sng" algn="ctr">
                      <a:solidFill>
                        <a:srgbClr val="B4B8B9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" name="i0" descr="p5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1901952"/>
            <a:ext cx="818388" cy="809244"/>
          </a:xfrm>
          <a:prstGeom prst="rect">
            <a:avLst/>
          </a:prstGeom>
        </p:spPr>
      </p:pic>
      <p:pic>
        <p:nvPicPr>
          <p:cNvPr id="19" name="i1" descr="p5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205740"/>
            <a:ext cx="969264" cy="434340"/>
          </a:xfrm>
          <a:prstGeom prst="rect">
            <a:avLst/>
          </a:prstGeom>
        </p:spPr>
      </p:pic>
      <p:pic>
        <p:nvPicPr>
          <p:cNvPr id="20" name="i2" descr="p5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48" y="1906524"/>
            <a:ext cx="2203704" cy="64008"/>
          </a:xfrm>
          <a:prstGeom prst="rect">
            <a:avLst/>
          </a:prstGeom>
        </p:spPr>
      </p:pic>
      <p:pic>
        <p:nvPicPr>
          <p:cNvPr id="21" name="i3" descr="p5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828" y="2107692"/>
            <a:ext cx="210312" cy="320040"/>
          </a:xfrm>
          <a:prstGeom prst="rect">
            <a:avLst/>
          </a:prstGeom>
        </p:spPr>
      </p:pic>
      <p:pic>
        <p:nvPicPr>
          <p:cNvPr id="22" name="i4" descr="p5_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588" y="2231136"/>
            <a:ext cx="224028" cy="169164"/>
          </a:xfrm>
          <a:prstGeom prst="rect">
            <a:avLst/>
          </a:prstGeom>
        </p:spPr>
      </p:pic>
      <p:pic>
        <p:nvPicPr>
          <p:cNvPr id="23" name="i5" descr="p5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263140"/>
            <a:ext cx="164592" cy="77724"/>
          </a:xfrm>
          <a:prstGeom prst="rect">
            <a:avLst/>
          </a:prstGeom>
        </p:spPr>
      </p:pic>
      <p:pic>
        <p:nvPicPr>
          <p:cNvPr id="24" name="i6" descr="p5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1596" y="2532888"/>
            <a:ext cx="150876" cy="164592"/>
          </a:xfrm>
          <a:prstGeom prst="rect">
            <a:avLst/>
          </a:prstGeom>
        </p:spPr>
      </p:pic>
      <p:pic>
        <p:nvPicPr>
          <p:cNvPr id="25" name="i7" descr="p5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977640"/>
            <a:ext cx="137160" cy="137160"/>
          </a:xfrm>
          <a:prstGeom prst="rect">
            <a:avLst/>
          </a:prstGeom>
        </p:spPr>
      </p:pic>
      <p:pic>
        <p:nvPicPr>
          <p:cNvPr id="26" name="i8" descr="p5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4206240"/>
            <a:ext cx="6121908" cy="2112264"/>
          </a:xfrm>
          <a:prstGeom prst="rect">
            <a:avLst/>
          </a:prstGeom>
        </p:spPr>
      </p:pic>
      <p:pic>
        <p:nvPicPr>
          <p:cNvPr id="27" name="i9" descr="p5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7572" y="6670548"/>
            <a:ext cx="425196" cy="594360"/>
          </a:xfrm>
          <a:prstGeom prst="rect">
            <a:avLst/>
          </a:prstGeom>
        </p:spPr>
      </p:pic>
      <p:pic>
        <p:nvPicPr>
          <p:cNvPr id="28" name="i10" descr="p5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2524" y="6697980"/>
            <a:ext cx="420624" cy="534924"/>
          </a:xfrm>
          <a:prstGeom prst="rect">
            <a:avLst/>
          </a:prstGeom>
        </p:spPr>
      </p:pic>
      <p:pic>
        <p:nvPicPr>
          <p:cNvPr id="29" name="i11" descr="p5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5004" y="7598664"/>
            <a:ext cx="475488" cy="585216"/>
          </a:xfrm>
          <a:prstGeom prst="rect">
            <a:avLst/>
          </a:prstGeom>
        </p:spPr>
      </p:pic>
      <p:pic>
        <p:nvPicPr>
          <p:cNvPr id="30" name="i12" descr="p5_i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33088" y="7626096"/>
            <a:ext cx="320040" cy="507492"/>
          </a:xfrm>
          <a:prstGeom prst="rect">
            <a:avLst/>
          </a:prstGeom>
        </p:spPr>
      </p:pic>
      <p:pic>
        <p:nvPicPr>
          <p:cNvPr id="31" name="i13" descr="p5_i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9996" y="7740396"/>
            <a:ext cx="237744" cy="374904"/>
          </a:xfrm>
          <a:prstGeom prst="rect">
            <a:avLst/>
          </a:prstGeom>
        </p:spPr>
      </p:pic>
      <p:pic>
        <p:nvPicPr>
          <p:cNvPr id="32" name="i14" descr="p5_i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2980" y="8599932"/>
            <a:ext cx="740664" cy="397764"/>
          </a:xfrm>
          <a:prstGeom prst="rect">
            <a:avLst/>
          </a:prstGeom>
        </p:spPr>
      </p:pic>
      <p:pic>
        <p:nvPicPr>
          <p:cNvPr id="33" name="i15" descr="p5_i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9189720"/>
            <a:ext cx="6094476" cy="274320"/>
          </a:xfrm>
          <a:prstGeom prst="rect">
            <a:avLst/>
          </a:prstGeom>
        </p:spPr>
      </p:pic>
      <p:pic>
        <p:nvPicPr>
          <p:cNvPr id="34" name="i16" descr="p5_i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6072" y="9788652"/>
            <a:ext cx="6089904" cy="54864"/>
          </a:xfrm>
          <a:prstGeom prst="rect">
            <a:avLst/>
          </a:prstGeom>
        </p:spPr>
      </p:pic>
      <p:pic>
        <p:nvPicPr>
          <p:cNvPr id="35" name="i17" descr="p5_i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3388" y="10040112"/>
            <a:ext cx="141732" cy="105156"/>
          </a:xfrm>
          <a:prstGeom prst="rect">
            <a:avLst/>
          </a:prstGeom>
        </p:spPr>
      </p:pic>
      <p:cxnSp>
        <p:nvCxnSpPr>
          <p:cNvPr id="36" name="l0"/>
          <p:cNvCxnSpPr/>
          <p:nvPr/>
        </p:nvCxnSpPr>
        <p:spPr>
          <a:xfrm>
            <a:off x="4544568" y="2258568"/>
            <a:ext cx="530352" cy="0"/>
          </a:xfrm>
          <a:prstGeom prst="line">
            <a:avLst/>
          </a:prstGeom>
          <a:ln w="18288">
            <a:solidFill>
              <a:srgbClr val="85C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1"/>
          <p:cNvCxnSpPr/>
          <p:nvPr/>
        </p:nvCxnSpPr>
        <p:spPr>
          <a:xfrm>
            <a:off x="4539996" y="2448306"/>
            <a:ext cx="539496" cy="0"/>
          </a:xfrm>
          <a:prstGeom prst="line">
            <a:avLst/>
          </a:prstGeom>
          <a:ln w="22860">
            <a:solidFill>
              <a:srgbClr val="3FA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2"/>
          <p:cNvCxnSpPr/>
          <p:nvPr/>
        </p:nvCxnSpPr>
        <p:spPr>
          <a:xfrm>
            <a:off x="2994660" y="7271766"/>
            <a:ext cx="288036" cy="0"/>
          </a:xfrm>
          <a:prstGeom prst="line">
            <a:avLst/>
          </a:prstGeom>
          <a:ln w="6350">
            <a:solidFill>
              <a:srgbClr val="D8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3"/>
          <p:cNvCxnSpPr/>
          <p:nvPr/>
        </p:nvCxnSpPr>
        <p:spPr>
          <a:xfrm>
            <a:off x="4229100" y="7280910"/>
            <a:ext cx="498348" cy="0"/>
          </a:xfrm>
          <a:prstGeom prst="line">
            <a:avLst/>
          </a:prstGeom>
          <a:ln w="6350">
            <a:solidFill>
              <a:srgbClr val="D9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4"/>
          <p:cNvCxnSpPr/>
          <p:nvPr/>
        </p:nvCxnSpPr>
        <p:spPr>
          <a:xfrm>
            <a:off x="4969764" y="7283196"/>
            <a:ext cx="681228" cy="0"/>
          </a:xfrm>
          <a:prstGeom prst="line">
            <a:avLst/>
          </a:prstGeom>
          <a:ln w="9144">
            <a:solidFill>
              <a:srgbClr val="D7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5"/>
          <p:cNvCxnSpPr/>
          <p:nvPr/>
        </p:nvCxnSpPr>
        <p:spPr>
          <a:xfrm>
            <a:off x="5655564" y="7285482"/>
            <a:ext cx="1037844" cy="0"/>
          </a:xfrm>
          <a:prstGeom prst="line">
            <a:avLst/>
          </a:prstGeom>
          <a:ln w="6350">
            <a:solidFill>
              <a:srgbClr val="D5D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6"/>
          <p:cNvCxnSpPr/>
          <p:nvPr/>
        </p:nvCxnSpPr>
        <p:spPr>
          <a:xfrm>
            <a:off x="4046220" y="8199882"/>
            <a:ext cx="644652" cy="0"/>
          </a:xfrm>
          <a:prstGeom prst="line">
            <a:avLst/>
          </a:prstGeom>
          <a:ln w="6350">
            <a:solidFill>
              <a:srgbClr val="D8DF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7"/>
          <p:cNvCxnSpPr/>
          <p:nvPr/>
        </p:nvCxnSpPr>
        <p:spPr>
          <a:xfrm>
            <a:off x="5330952" y="8204454"/>
            <a:ext cx="288036" cy="0"/>
          </a:xfrm>
          <a:prstGeom prst="line">
            <a:avLst/>
          </a:prstGeom>
          <a:ln w="6350">
            <a:solidFill>
              <a:srgbClr val="D7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8"/>
          <p:cNvCxnSpPr/>
          <p:nvPr/>
        </p:nvCxnSpPr>
        <p:spPr>
          <a:xfrm>
            <a:off x="5628132" y="8206740"/>
            <a:ext cx="909828" cy="0"/>
          </a:xfrm>
          <a:prstGeom prst="line">
            <a:avLst/>
          </a:prstGeom>
          <a:ln w="9144">
            <a:solidFill>
              <a:srgbClr val="D8E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9"/>
          <p:cNvCxnSpPr/>
          <p:nvPr/>
        </p:nvCxnSpPr>
        <p:spPr>
          <a:xfrm>
            <a:off x="5097780" y="9123426"/>
            <a:ext cx="288036" cy="0"/>
          </a:xfrm>
          <a:prstGeom prst="line">
            <a:avLst/>
          </a:prstGeom>
          <a:ln w="6350">
            <a:solidFill>
              <a:srgbClr val="DB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10"/>
          <p:cNvCxnSpPr/>
          <p:nvPr/>
        </p:nvCxnSpPr>
        <p:spPr>
          <a:xfrm>
            <a:off x="6725412" y="1147572"/>
            <a:ext cx="0" cy="717804"/>
          </a:xfrm>
          <a:prstGeom prst="line">
            <a:avLst/>
          </a:prstGeom>
          <a:ln w="18288">
            <a:solidFill>
              <a:srgbClr val="49A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12"/>
          <p:cNvCxnSpPr/>
          <p:nvPr/>
        </p:nvCxnSpPr>
        <p:spPr>
          <a:xfrm>
            <a:off x="6704838" y="4256532"/>
            <a:ext cx="0" cy="1129284"/>
          </a:xfrm>
          <a:prstGeom prst="line">
            <a:avLst/>
          </a:prstGeom>
          <a:ln w="13716">
            <a:solidFill>
              <a:srgbClr val="B9B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13"/>
          <p:cNvCxnSpPr/>
          <p:nvPr/>
        </p:nvCxnSpPr>
        <p:spPr>
          <a:xfrm>
            <a:off x="596646" y="4526280"/>
            <a:ext cx="0" cy="420624"/>
          </a:xfrm>
          <a:prstGeom prst="line">
            <a:avLst/>
          </a:prstGeom>
          <a:ln w="6350">
            <a:solidFill>
              <a:srgbClr val="D6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14"/>
          <p:cNvCxnSpPr/>
          <p:nvPr/>
        </p:nvCxnSpPr>
        <p:spPr>
          <a:xfrm>
            <a:off x="596646" y="4965192"/>
            <a:ext cx="0" cy="594360"/>
          </a:xfrm>
          <a:prstGeom prst="line">
            <a:avLst/>
          </a:prstGeom>
          <a:ln w="635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15"/>
          <p:cNvCxnSpPr/>
          <p:nvPr/>
        </p:nvCxnSpPr>
        <p:spPr>
          <a:xfrm>
            <a:off x="3643884" y="6679692"/>
            <a:ext cx="0" cy="566928"/>
          </a:xfrm>
          <a:prstGeom prst="line">
            <a:avLst/>
          </a:prstGeom>
          <a:ln w="9144">
            <a:solidFill>
              <a:srgbClr val="BDC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16"/>
          <p:cNvCxnSpPr/>
          <p:nvPr/>
        </p:nvCxnSpPr>
        <p:spPr>
          <a:xfrm>
            <a:off x="5175504" y="6684264"/>
            <a:ext cx="0" cy="571500"/>
          </a:xfrm>
          <a:prstGeom prst="line">
            <a:avLst/>
          </a:prstGeom>
          <a:ln w="9144">
            <a:solidFill>
              <a:srgbClr val="BEC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17"/>
          <p:cNvCxnSpPr/>
          <p:nvPr/>
        </p:nvCxnSpPr>
        <p:spPr>
          <a:xfrm>
            <a:off x="2100834" y="6739128"/>
            <a:ext cx="0" cy="498348"/>
          </a:xfrm>
          <a:prstGeom prst="line">
            <a:avLst/>
          </a:prstGeom>
          <a:ln w="6350">
            <a:solidFill>
              <a:srgbClr val="B8B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18"/>
          <p:cNvCxnSpPr/>
          <p:nvPr/>
        </p:nvCxnSpPr>
        <p:spPr>
          <a:xfrm>
            <a:off x="2098548" y="7584948"/>
            <a:ext cx="0" cy="576072"/>
          </a:xfrm>
          <a:prstGeom prst="line">
            <a:avLst/>
          </a:prstGeom>
          <a:ln w="9144">
            <a:solidFill>
              <a:srgbClr val="BCC0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19"/>
          <p:cNvCxnSpPr/>
          <p:nvPr/>
        </p:nvCxnSpPr>
        <p:spPr>
          <a:xfrm>
            <a:off x="5168646" y="7603236"/>
            <a:ext cx="0" cy="571500"/>
          </a:xfrm>
          <a:prstGeom prst="line">
            <a:avLst/>
          </a:prstGeom>
          <a:ln w="6350">
            <a:solidFill>
              <a:srgbClr val="B3B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l20"/>
          <p:cNvCxnSpPr/>
          <p:nvPr/>
        </p:nvCxnSpPr>
        <p:spPr>
          <a:xfrm>
            <a:off x="2093976" y="8508492"/>
            <a:ext cx="0" cy="566928"/>
          </a:xfrm>
          <a:prstGeom prst="line">
            <a:avLst/>
          </a:prstGeom>
          <a:ln w="9144">
            <a:solidFill>
              <a:srgbClr val="BAB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21"/>
          <p:cNvCxnSpPr/>
          <p:nvPr/>
        </p:nvCxnSpPr>
        <p:spPr>
          <a:xfrm>
            <a:off x="6677406" y="9235440"/>
            <a:ext cx="0" cy="598932"/>
          </a:xfrm>
          <a:prstGeom prst="line">
            <a:avLst/>
          </a:prstGeom>
          <a:ln w="6350">
            <a:solidFill>
              <a:srgbClr val="C7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0"/>
          <p:cNvSpPr txBox="1"/>
          <p:nvPr/>
        </p:nvSpPr>
        <p:spPr>
          <a:xfrm>
            <a:off x="5224762" y="638224"/>
            <a:ext cx="1251415" cy="1337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484A49"/>
                </a:solidFill>
                <a:latin typeface="맑은 고딕"/>
                <a:ea typeface="맑은 고딕"/>
              </a:rPr>
              <a:t>고속도로 민간투자 태양광</a:t>
            </a:r>
          </a:p>
        </p:txBody>
      </p:sp>
      <p:sp>
        <p:nvSpPr>
          <p:cNvPr id="58" name="t1"/>
          <p:cNvSpPr txBox="1"/>
          <p:nvPr/>
        </p:nvSpPr>
        <p:spPr>
          <a:xfrm>
            <a:off x="6419641" y="660922"/>
            <a:ext cx="359113" cy="98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>
                <a:solidFill>
                  <a:srgbClr val="ACB0AF"/>
                </a:solidFill>
                <a:latin typeface="맑은 고딕"/>
                <a:ea typeface="맑은 고딕"/>
              </a:rPr>
              <a:t>발전사입</a:t>
            </a:r>
          </a:p>
        </p:txBody>
      </p:sp>
      <p:sp>
        <p:nvSpPr>
          <p:cNvPr id="59" name="t2"/>
          <p:cNvSpPr txBox="1"/>
          <p:nvPr/>
        </p:nvSpPr>
        <p:spPr>
          <a:xfrm>
            <a:off x="591528" y="857257"/>
            <a:ext cx="1885642" cy="173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414242"/>
                </a:solidFill>
                <a:latin typeface="맑은 고딕"/>
                <a:ea typeface="맑은 고딕"/>
              </a:rPr>
              <a:t>(4) 안전대책 및 안전점검 계획</a:t>
            </a:r>
          </a:p>
        </p:txBody>
      </p:sp>
      <p:sp>
        <p:nvSpPr>
          <p:cNvPr id="60" name="t3"/>
          <p:cNvSpPr txBox="1"/>
          <p:nvPr/>
        </p:nvSpPr>
        <p:spPr>
          <a:xfrm>
            <a:off x="1429458" y="1179515"/>
            <a:ext cx="4830735" cy="591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00" b="0">
                <a:solidFill>
                  <a:srgbClr val="3C3E3E"/>
                </a:solidFill>
                <a:latin typeface="맑은 고딕"/>
                <a:ea typeface="맑은 고딕"/>
              </a:rPr>
              <a:t>• 고속도로 주행치량의 안전에 영힝℃l 없도록, 고속도로와 이격하여 부처도로에서 공시수행</a:t>
            </a:r>
          </a:p>
          <a:p>
            <a:pPr algn="l">
              <a:lnSpc>
                <a:spcPct val="142000"/>
              </a:lnSpc>
            </a:pPr>
            <a:r>
              <a:rPr sz="900" b="0">
                <a:solidFill>
                  <a:srgbClr val="3C3E3E"/>
                </a:solidFill>
                <a:latin typeface="맑은 고딕"/>
                <a:ea typeface="맑은 고딕"/>
              </a:rPr>
              <a:t>• 부처도로를 통행히는 주민, 농민의 안전사고 예방을 위하여 농한기 시공계획 수립</a:t>
            </a:r>
          </a:p>
          <a:p>
            <a:pPr algn="l">
              <a:lnSpc>
                <a:spcPct val="142000"/>
              </a:lnSpc>
            </a:pPr>
            <a:r>
              <a:rPr sz="900" b="0">
                <a:solidFill>
                  <a:srgbClr val="3C3E3E"/>
                </a:solidFill>
                <a:latin typeface="맑은 고딕"/>
                <a:ea typeface="맑은 고딕"/>
              </a:rPr>
              <a:t>• 공人구긴내 안전을 위하여 안전관리자 통제하에 직업 수행</a:t>
            </a:r>
          </a:p>
        </p:txBody>
      </p:sp>
      <p:sp>
        <p:nvSpPr>
          <p:cNvPr id="61" name="t4"/>
          <p:cNvSpPr txBox="1"/>
          <p:nvPr/>
        </p:nvSpPr>
        <p:spPr>
          <a:xfrm>
            <a:off x="733664" y="1388733"/>
            <a:ext cx="605199" cy="1646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CBE8F4"/>
                </a:solidFill>
                <a:latin typeface="맑은 고딕"/>
                <a:ea typeface="맑은 고딕"/>
              </a:rPr>
              <a:t>중점시항</a:t>
            </a:r>
          </a:p>
        </p:txBody>
      </p:sp>
      <p:sp>
        <p:nvSpPr>
          <p:cNvPr id="62" name="t6"/>
          <p:cNvSpPr txBox="1"/>
          <p:nvPr/>
        </p:nvSpPr>
        <p:spPr>
          <a:xfrm>
            <a:off x="4622133" y="2044258"/>
            <a:ext cx="417959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DBF4FB"/>
                </a:solidFill>
                <a:latin typeface="맑은 고딕"/>
                <a:ea typeface="맑은 고딕"/>
              </a:rPr>
              <a:t>인명사고</a:t>
            </a:r>
          </a:p>
        </p:txBody>
      </p:sp>
      <p:sp>
        <p:nvSpPr>
          <p:cNvPr id="63" name="t7"/>
          <p:cNvSpPr txBox="1"/>
          <p:nvPr/>
        </p:nvSpPr>
        <p:spPr>
          <a:xfrm>
            <a:off x="3854262" y="2101949"/>
            <a:ext cx="460313" cy="255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3000"/>
              </a:lnSpc>
            </a:pPr>
            <a:r>
              <a:rPr sz="660" b="0">
                <a:solidFill>
                  <a:srgbClr val="484B4B"/>
                </a:solidFill>
                <a:latin typeface="맑은 고딕"/>
                <a:ea typeface="맑은 고딕"/>
              </a:rPr>
              <a:t>교통사고</a:t>
            </a:r>
          </a:p>
          <a:p>
            <a:pPr algn="ctr">
              <a:lnSpc>
                <a:spcPct val="123000"/>
              </a:lnSpc>
            </a:pPr>
            <a:r>
              <a:rPr sz="660" b="0">
                <a:solidFill>
                  <a:srgbClr val="484B4B"/>
                </a:solidFill>
                <a:latin typeface="맑은 고딕"/>
                <a:ea typeface="맑은 고딕"/>
              </a:rPr>
              <a:t>발생</a:t>
            </a:r>
          </a:p>
        </p:txBody>
      </p:sp>
      <p:sp>
        <p:nvSpPr>
          <p:cNvPr id="64" name="t8"/>
          <p:cNvSpPr txBox="1"/>
          <p:nvPr/>
        </p:nvSpPr>
        <p:spPr>
          <a:xfrm>
            <a:off x="5372056" y="2116661"/>
            <a:ext cx="522170" cy="236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1000"/>
              </a:lnSpc>
            </a:pPr>
            <a:r>
              <a:rPr sz="670" b="0">
                <a:solidFill>
                  <a:srgbClr val="555858"/>
                </a:solidFill>
                <a:latin typeface="맑은 고딕"/>
                <a:ea typeface="맑은 고딕"/>
              </a:rPr>
              <a:t>119신고</a:t>
            </a:r>
          </a:p>
          <a:p>
            <a:pPr algn="l">
              <a:lnSpc>
                <a:spcPct val="111000"/>
              </a:lnSpc>
            </a:pPr>
            <a:r>
              <a:rPr sz="670" b="0">
                <a:solidFill>
                  <a:srgbClr val="555858"/>
                </a:solidFill>
                <a:latin typeface="맑은 고딕"/>
                <a:ea typeface="맑은 고딕"/>
              </a:rPr>
              <a:t>(초기대응)</a:t>
            </a:r>
          </a:p>
        </p:txBody>
      </p:sp>
      <p:sp>
        <p:nvSpPr>
          <p:cNvPr id="65" name="t9"/>
          <p:cNvSpPr txBox="1"/>
          <p:nvPr/>
        </p:nvSpPr>
        <p:spPr>
          <a:xfrm>
            <a:off x="6185821" y="2122162"/>
            <a:ext cx="412610" cy="1128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535755"/>
                </a:solidFill>
                <a:latin typeface="맑은 고딕"/>
                <a:ea typeface="맑은 고딕"/>
              </a:rPr>
              <a:t>대표이사</a:t>
            </a:r>
          </a:p>
        </p:txBody>
      </p:sp>
      <p:sp>
        <p:nvSpPr>
          <p:cNvPr id="66" name="t10"/>
          <p:cNvSpPr txBox="1"/>
          <p:nvPr/>
        </p:nvSpPr>
        <p:spPr>
          <a:xfrm>
            <a:off x="4622133" y="2291146"/>
            <a:ext cx="417959" cy="114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>
                <a:solidFill>
                  <a:srgbClr val="4A4C4C"/>
                </a:solidFill>
                <a:latin typeface="맑은 고딕"/>
                <a:ea typeface="맑은 고딕"/>
              </a:rPr>
              <a:t>단순사고</a:t>
            </a:r>
          </a:p>
        </p:txBody>
      </p:sp>
      <p:sp>
        <p:nvSpPr>
          <p:cNvPr id="67" name="t11"/>
          <p:cNvSpPr txBox="1"/>
          <p:nvPr/>
        </p:nvSpPr>
        <p:spPr>
          <a:xfrm>
            <a:off x="3849752" y="2837383"/>
            <a:ext cx="454383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0">
                <a:solidFill>
                  <a:srgbClr val="555958"/>
                </a:solidFill>
                <a:latin typeface="맑은 고딕"/>
                <a:ea typeface="맑은 고딕"/>
              </a:rPr>
              <a:t>재발방지</a:t>
            </a:r>
          </a:p>
          <a:p>
            <a:pPr algn="l">
              <a:lnSpc>
                <a:spcPct val="125000"/>
              </a:lnSpc>
            </a:pPr>
            <a:r>
              <a:rPr sz="650" b="0">
                <a:solidFill>
                  <a:srgbClr val="555958"/>
                </a:solidFill>
                <a:latin typeface="맑은 고딕"/>
                <a:ea typeface="맑은 고딕"/>
              </a:rPr>
              <a:t>조치시행</a:t>
            </a:r>
          </a:p>
        </p:txBody>
      </p:sp>
      <p:sp>
        <p:nvSpPr>
          <p:cNvPr id="68" name="t12"/>
          <p:cNvSpPr txBox="1"/>
          <p:nvPr/>
        </p:nvSpPr>
        <p:spPr>
          <a:xfrm>
            <a:off x="4622420" y="2844424"/>
            <a:ext cx="454383" cy="24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5A5E5E"/>
                </a:solidFill>
                <a:latin typeface="맑은 고딕"/>
                <a:ea typeface="맑은 고딕"/>
              </a:rPr>
              <a:t>안전관리</a:t>
            </a:r>
          </a:p>
          <a:p>
            <a:pPr algn="l">
              <a:lnSpc>
                <a:spcPct val="120000"/>
              </a:lnSpc>
            </a:pPr>
            <a:r>
              <a:rPr sz="650" b="0">
                <a:solidFill>
                  <a:srgbClr val="5A5E5E"/>
                </a:solidFill>
                <a:latin typeface="맑은 고딕"/>
                <a:ea typeface="맑은 고딕"/>
              </a:rPr>
              <a:t>팀장보고</a:t>
            </a:r>
          </a:p>
        </p:txBody>
      </p:sp>
      <p:sp>
        <p:nvSpPr>
          <p:cNvPr id="69" name="t13"/>
          <p:cNvSpPr txBox="1"/>
          <p:nvPr/>
        </p:nvSpPr>
        <p:spPr>
          <a:xfrm>
            <a:off x="5353841" y="2849511"/>
            <a:ext cx="547996" cy="247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60" b="0">
                <a:solidFill>
                  <a:srgbClr val="515352"/>
                </a:solidFill>
                <a:latin typeface="맑은 고딕"/>
                <a:ea typeface="맑은 고딕"/>
              </a:rPr>
              <a:t>도공</a:t>
            </a:r>
          </a:p>
          <a:p>
            <a:pPr algn="ctr">
              <a:lnSpc>
                <a:spcPct val="118000"/>
              </a:lnSpc>
            </a:pPr>
            <a:r>
              <a:rPr sz="660" b="0">
                <a:solidFill>
                  <a:srgbClr val="515352"/>
                </a:solidFill>
                <a:latin typeface="맑은 고딕"/>
                <a:ea typeface="맑은 고딕"/>
              </a:rPr>
              <a:t>사업개발처</a:t>
            </a:r>
          </a:p>
        </p:txBody>
      </p:sp>
      <p:sp>
        <p:nvSpPr>
          <p:cNvPr id="70" name="t14"/>
          <p:cNvSpPr txBox="1"/>
          <p:nvPr/>
        </p:nvSpPr>
        <p:spPr>
          <a:xfrm>
            <a:off x="6176838" y="2853760"/>
            <a:ext cx="460313" cy="2474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sz="660" b="0">
                <a:solidFill>
                  <a:srgbClr val="575B5A"/>
                </a:solidFill>
                <a:latin typeface="맑은 고딕"/>
                <a:ea typeface="맑은 고딕"/>
              </a:rPr>
              <a:t>도공</a:t>
            </a:r>
          </a:p>
          <a:p>
            <a:pPr algn="ctr">
              <a:lnSpc>
                <a:spcPct val="119000"/>
              </a:lnSpc>
            </a:pPr>
            <a:r>
              <a:rPr sz="660" b="0">
                <a:solidFill>
                  <a:srgbClr val="575B5A"/>
                </a:solidFill>
                <a:latin typeface="맑은 고딕"/>
                <a:ea typeface="맑은 고딕"/>
              </a:rPr>
              <a:t>관할지사</a:t>
            </a:r>
          </a:p>
        </p:txBody>
      </p:sp>
      <p:sp>
        <p:nvSpPr>
          <p:cNvPr id="71" name="t15"/>
          <p:cNvSpPr txBox="1"/>
          <p:nvPr/>
        </p:nvSpPr>
        <p:spPr>
          <a:xfrm>
            <a:off x="3752172" y="3265585"/>
            <a:ext cx="2633127" cy="522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>
                <a:solidFill>
                  <a:srgbClr val="474948"/>
                </a:solidFill>
                <a:latin typeface="맑은 고딕"/>
                <a:ea typeface="맑은 고딕"/>
              </a:rPr>
              <a:t>• 현장책임자 안전교육 0 수전71안전관리법 25조)</a:t>
            </a:r>
          </a:p>
          <a:p>
            <a:pPr algn="l">
              <a:lnSpc>
                <a:spcPct val="128000"/>
              </a:lnSpc>
            </a:pPr>
            <a:r>
              <a:rPr sz="880" b="0">
                <a:solidFill>
                  <a:srgbClr val="474948"/>
                </a:solidFill>
                <a:latin typeface="맑은 고딕"/>
                <a:ea typeface="맑은 고딕"/>
              </a:rPr>
              <a:t>• 직업팀은 도로치단 안전관리계획서를 별도 제출</a:t>
            </a:r>
          </a:p>
          <a:p>
            <a:pPr algn="l">
              <a:lnSpc>
                <a:spcPct val="128000"/>
              </a:lnSpc>
            </a:pPr>
            <a:r>
              <a:rPr sz="880" b="0">
                <a:solidFill>
                  <a:srgbClr val="474948"/>
                </a:solidFill>
                <a:latin typeface="맑은 고딕"/>
                <a:ea typeface="맑은 고딕"/>
              </a:rPr>
              <a:t>• 인명사고시 1 19 신고 선조치 후 보고</a:t>
            </a:r>
          </a:p>
        </p:txBody>
      </p:sp>
      <p:sp>
        <p:nvSpPr>
          <p:cNvPr id="72" name="t17"/>
          <p:cNvSpPr txBox="1"/>
          <p:nvPr/>
        </p:nvSpPr>
        <p:spPr>
          <a:xfrm>
            <a:off x="760995" y="3962487"/>
            <a:ext cx="2586095" cy="1669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383A39"/>
                </a:solidFill>
                <a:latin typeface="맑은 고딕"/>
                <a:ea typeface="맑은 고딕"/>
              </a:rPr>
              <a:t>서산시 안호리 태양광발전소 예시(성토부11)</a:t>
            </a:r>
          </a:p>
        </p:txBody>
      </p:sp>
      <p:sp>
        <p:nvSpPr>
          <p:cNvPr id="73" name="t18"/>
          <p:cNvSpPr txBox="1"/>
          <p:nvPr/>
        </p:nvSpPr>
        <p:spPr>
          <a:xfrm>
            <a:off x="772660" y="4262098"/>
            <a:ext cx="324705" cy="1109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747978"/>
                </a:solidFill>
                <a:latin typeface="맑은 고딕"/>
                <a:ea typeface="맑은 고딕"/>
              </a:rPr>
              <a:t>신호수</a:t>
            </a:r>
          </a:p>
        </p:txBody>
      </p:sp>
      <p:sp>
        <p:nvSpPr>
          <p:cNvPr id="74" name="t19"/>
          <p:cNvSpPr txBox="1"/>
          <p:nvPr/>
        </p:nvSpPr>
        <p:spPr>
          <a:xfrm>
            <a:off x="5901925" y="4288090"/>
            <a:ext cx="358358" cy="1224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>
                <a:solidFill>
                  <a:srgbClr val="7B7F7C"/>
                </a:solidFill>
                <a:latin typeface="맑은 고딕"/>
                <a:ea typeface="맑은 고딕"/>
              </a:rPr>
              <a:t>신호수</a:t>
            </a:r>
          </a:p>
        </p:txBody>
      </p:sp>
      <p:sp>
        <p:nvSpPr>
          <p:cNvPr id="75" name="t20"/>
          <p:cNvSpPr txBox="1"/>
          <p:nvPr/>
        </p:nvSpPr>
        <p:spPr>
          <a:xfrm>
            <a:off x="3308867" y="4788969"/>
            <a:ext cx="508904" cy="13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D7170"/>
                </a:solidFill>
                <a:latin typeface="맑은 고딕"/>
                <a:ea typeface="맑은 고딕"/>
              </a:rPr>
              <a:t>작업구역</a:t>
            </a:r>
          </a:p>
        </p:txBody>
      </p:sp>
      <p:sp>
        <p:nvSpPr>
          <p:cNvPr id="76" name="t21"/>
          <p:cNvSpPr txBox="1"/>
          <p:nvPr/>
        </p:nvSpPr>
        <p:spPr>
          <a:xfrm>
            <a:off x="4081881" y="5004816"/>
            <a:ext cx="1917496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7B9EAB"/>
                </a:solidFill>
                <a:latin typeface="맑은 고딕"/>
                <a:ea typeface="맑은 고딕"/>
              </a:rPr>
              <a:t>:주:耳국苳국 •=국후국그才 -4嵂 그</a:t>
            </a:r>
          </a:p>
        </p:txBody>
      </p:sp>
      <p:sp>
        <p:nvSpPr>
          <p:cNvPr id="77" name="t22"/>
          <p:cNvSpPr txBox="1"/>
          <p:nvPr/>
        </p:nvSpPr>
        <p:spPr>
          <a:xfrm>
            <a:off x="2559252" y="5323923"/>
            <a:ext cx="4424785" cy="540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90" b="0">
                <a:solidFill>
                  <a:srgbClr val="AAA99A"/>
                </a:solidFill>
                <a:latin typeface="맑은 고딕"/>
                <a:ea typeface="맑은 고딕"/>
              </a:rPr>
              <a:t>월i콘 들레才공言}f귀』</a:t>
            </a:r>
          </a:p>
        </p:txBody>
      </p:sp>
      <p:sp>
        <p:nvSpPr>
          <p:cNvPr id="78" name="t23"/>
          <p:cNvSpPr txBox="1"/>
          <p:nvPr/>
        </p:nvSpPr>
        <p:spPr>
          <a:xfrm>
            <a:off x="2955632" y="6440726"/>
            <a:ext cx="1428449" cy="165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484D4E"/>
                </a:solidFill>
                <a:latin typeface="맑은 고딕"/>
                <a:ea typeface="맑은 고딕"/>
              </a:rPr>
              <a:t>0 교통안내 표지판 설치</a:t>
            </a:r>
          </a:p>
        </p:txBody>
      </p:sp>
      <p:sp>
        <p:nvSpPr>
          <p:cNvPr id="79" name="t24"/>
          <p:cNvSpPr txBox="1"/>
          <p:nvPr/>
        </p:nvSpPr>
        <p:spPr>
          <a:xfrm>
            <a:off x="2142889" y="6668718"/>
            <a:ext cx="1571096" cy="564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69" b="0">
                <a:solidFill>
                  <a:srgbClr val="4D4F4E"/>
                </a:solidFill>
                <a:latin typeface="맑은 고딕"/>
                <a:ea typeface="맑은 고딕"/>
              </a:rPr>
              <a:t>• 공시구간 전방 설치</a:t>
            </a:r>
          </a:p>
          <a:p>
            <a:pPr algn="l">
              <a:lnSpc>
                <a:spcPct val="140000"/>
              </a:lnSpc>
            </a:pPr>
            <a:r>
              <a:rPr sz="869" b="0">
                <a:solidFill>
                  <a:srgbClr val="4D4F4E"/>
                </a:solidFill>
                <a:latin typeface="맑은 고딕"/>
                <a:ea typeface="맑은 고딕"/>
              </a:rPr>
              <a:t>• 부체도로 통행자 사전 인지</a:t>
            </a:r>
          </a:p>
          <a:p>
            <a:pPr algn="l">
              <a:lnSpc>
                <a:spcPct val="140000"/>
              </a:lnSpc>
            </a:pPr>
            <a:r>
              <a:rPr sz="869" b="0">
                <a:solidFill>
                  <a:srgbClr val="4D4F4E"/>
                </a:solidFill>
                <a:latin typeface="맑은 고딕"/>
                <a:ea typeface="맑은 고딕"/>
              </a:rPr>
              <a:t>• 각 필요 위치별로 설치</a:t>
            </a:r>
          </a:p>
        </p:txBody>
      </p:sp>
      <p:sp>
        <p:nvSpPr>
          <p:cNvPr id="80" name="t25"/>
          <p:cNvSpPr txBox="1"/>
          <p:nvPr/>
        </p:nvSpPr>
        <p:spPr>
          <a:xfrm>
            <a:off x="5215331" y="6686768"/>
            <a:ext cx="1556109" cy="56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1000"/>
              </a:lnSpc>
            </a:pPr>
            <a:r>
              <a:rPr sz="860" b="0">
                <a:solidFill>
                  <a:srgbClr val="484B4A"/>
                </a:solidFill>
                <a:latin typeface="맑은 고딕"/>
                <a:ea typeface="맑은 고딕"/>
              </a:rPr>
              <a:t>• 공사구간 전방 설치</a:t>
            </a:r>
          </a:p>
          <a:p>
            <a:pPr algn="l">
              <a:lnSpc>
                <a:spcPct val="141000"/>
              </a:lnSpc>
            </a:pPr>
            <a:r>
              <a:rPr sz="860" b="0">
                <a:solidFill>
                  <a:srgbClr val="484B4A"/>
                </a:solidFill>
                <a:latin typeface="맑은 고딕"/>
                <a:ea typeface="맑은 고딕"/>
              </a:rPr>
              <a:t>• 부처도로 통행자人l전 인지</a:t>
            </a:r>
          </a:p>
          <a:p>
            <a:pPr algn="l">
              <a:lnSpc>
                <a:spcPct val="141000"/>
              </a:lnSpc>
            </a:pPr>
            <a:r>
              <a:rPr sz="860" b="0">
                <a:solidFill>
                  <a:srgbClr val="484B4A"/>
                </a:solidFill>
                <a:latin typeface="맑은 고딕"/>
                <a:ea typeface="맑은 고딕"/>
              </a:rPr>
              <a:t>• 직업구역에 따라 수시 이동</a:t>
            </a:r>
          </a:p>
        </p:txBody>
      </p:sp>
      <p:sp>
        <p:nvSpPr>
          <p:cNvPr id="81" name="t26"/>
          <p:cNvSpPr txBox="1"/>
          <p:nvPr/>
        </p:nvSpPr>
        <p:spPr>
          <a:xfrm>
            <a:off x="4362419" y="7107936"/>
            <a:ext cx="128381" cy="94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>
                <a:solidFill>
                  <a:srgbClr val="B4A379"/>
                </a:solidFill>
                <a:latin typeface="맑은 고딕"/>
                <a:ea typeface="맑은 고딕"/>
              </a:rPr>
              <a:t>사</a:t>
            </a:r>
          </a:p>
        </p:txBody>
      </p:sp>
      <p:sp>
        <p:nvSpPr>
          <p:cNvPr id="82" name="t27"/>
          <p:cNvSpPr txBox="1"/>
          <p:nvPr/>
        </p:nvSpPr>
        <p:spPr>
          <a:xfrm>
            <a:off x="1584348" y="7356002"/>
            <a:ext cx="1255499" cy="158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23637"/>
                </a:solidFill>
                <a:latin typeface="맑은 고딕"/>
                <a:ea typeface="맑은 고딕"/>
              </a:rPr>
              <a:t>공사안내 표지판 설치</a:t>
            </a:r>
          </a:p>
        </p:txBody>
      </p:sp>
      <p:sp>
        <p:nvSpPr>
          <p:cNvPr id="83" name="t28"/>
          <p:cNvSpPr txBox="1"/>
          <p:nvPr/>
        </p:nvSpPr>
        <p:spPr>
          <a:xfrm>
            <a:off x="4542308" y="7373947"/>
            <a:ext cx="1490153" cy="1609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33737"/>
                </a:solidFill>
                <a:latin typeface="맑은 고딕"/>
                <a:ea typeface="맑은 고딕"/>
              </a:rPr>
              <a:t>PE드럼 러버콘, 윙카 설치</a:t>
            </a:r>
          </a:p>
        </p:txBody>
      </p:sp>
      <p:sp>
        <p:nvSpPr>
          <p:cNvPr id="84" name="t29"/>
          <p:cNvSpPr txBox="1"/>
          <p:nvPr/>
        </p:nvSpPr>
        <p:spPr>
          <a:xfrm>
            <a:off x="2138735" y="7583946"/>
            <a:ext cx="1543612" cy="566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1000"/>
              </a:lnSpc>
            </a:pPr>
            <a:r>
              <a:rPr sz="810" b="0">
                <a:solidFill>
                  <a:srgbClr val="4B4E4D"/>
                </a:solidFill>
                <a:latin typeface="맑은 고딕"/>
                <a:ea typeface="맑은 고딕"/>
              </a:rPr>
              <a:t>• 공시구간 전방 설치</a:t>
            </a:r>
          </a:p>
          <a:p>
            <a:pPr algn="l">
              <a:lnSpc>
                <a:spcPct val="151000"/>
              </a:lnSpc>
            </a:pPr>
            <a:r>
              <a:rPr sz="810" b="0">
                <a:solidFill>
                  <a:srgbClr val="4B4E4D"/>
                </a:solidFill>
                <a:latin typeface="맑은 고딕"/>
                <a:ea typeface="맑은 고딕"/>
              </a:rPr>
              <a:t>• 부처도로 통행자 사전인지</a:t>
            </a:r>
          </a:p>
          <a:p>
            <a:pPr algn="l">
              <a:lnSpc>
                <a:spcPct val="151000"/>
              </a:lnSpc>
            </a:pPr>
            <a:r>
              <a:rPr sz="810" b="0">
                <a:solidFill>
                  <a:srgbClr val="4B4E4D"/>
                </a:solidFill>
                <a:latin typeface="맑은 고딕"/>
                <a:ea typeface="맑은 고딕"/>
              </a:rPr>
              <a:t>• 공시나용진뢴!에 다bl여 명기</a:t>
            </a:r>
          </a:p>
        </p:txBody>
      </p:sp>
      <p:sp>
        <p:nvSpPr>
          <p:cNvPr id="85" name="t30"/>
          <p:cNvSpPr txBox="1"/>
          <p:nvPr/>
        </p:nvSpPr>
        <p:spPr>
          <a:xfrm>
            <a:off x="5210306" y="7617570"/>
            <a:ext cx="1465477" cy="5421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>
                <a:solidFill>
                  <a:srgbClr val="4A4D4C"/>
                </a:solidFill>
                <a:latin typeface="맑은 고딕"/>
                <a:ea typeface="맑은 고딕"/>
              </a:rPr>
              <a:t>• 공사구역 경계 설치</a:t>
            </a:r>
          </a:p>
          <a:p>
            <a:pPr algn="l">
              <a:lnSpc>
                <a:spcPct val="126000"/>
              </a:lnSpc>
            </a:pPr>
            <a:r>
              <a:rPr sz="930" b="0">
                <a:solidFill>
                  <a:srgbClr val="4A4D4C"/>
                </a:solidFill>
                <a:latin typeface="맑은 고딕"/>
                <a:ea typeface="맑은 고딕"/>
              </a:rPr>
              <a:t>• 야간 통행객의 안전을</a:t>
            </a:r>
          </a:p>
          <a:p>
            <a:pPr algn="l">
              <a:lnSpc>
                <a:spcPct val="126000"/>
              </a:lnSpc>
            </a:pPr>
            <a:r>
              <a:rPr sz="930" b="0">
                <a:solidFill>
                  <a:srgbClr val="4A4D4C"/>
                </a:solidFill>
                <a:latin typeface="맑은 고딕"/>
                <a:ea typeface="맑은 고딕"/>
              </a:rPr>
              <a:t>위하여 필요시 윙카 설치</a:t>
            </a:r>
          </a:p>
        </p:txBody>
      </p:sp>
      <p:sp>
        <p:nvSpPr>
          <p:cNvPr id="86" name="t31"/>
          <p:cNvSpPr txBox="1"/>
          <p:nvPr/>
        </p:nvSpPr>
        <p:spPr>
          <a:xfrm>
            <a:off x="1350907" y="8265084"/>
            <a:ext cx="1542189" cy="164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414546"/>
                </a:solidFill>
                <a:latin typeface="맑은 고딕"/>
                <a:ea typeface="맑은 고딕"/>
              </a:rPr>
              <a:t>0 자재운반 사다리차 직업</a:t>
            </a:r>
          </a:p>
        </p:txBody>
      </p:sp>
      <p:sp>
        <p:nvSpPr>
          <p:cNvPr id="87" name="t32"/>
          <p:cNvSpPr txBox="1"/>
          <p:nvPr/>
        </p:nvSpPr>
        <p:spPr>
          <a:xfrm>
            <a:off x="4853340" y="8293298"/>
            <a:ext cx="857581" cy="157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93C3D"/>
                </a:solidFill>
                <a:latin typeface="맑은 고딕"/>
                <a:ea typeface="맑은 고딕"/>
              </a:rPr>
              <a:t>안전요원 배치</a:t>
            </a:r>
          </a:p>
        </p:txBody>
      </p:sp>
      <p:sp>
        <p:nvSpPr>
          <p:cNvPr id="88" name="t33"/>
          <p:cNvSpPr txBox="1"/>
          <p:nvPr/>
        </p:nvSpPr>
        <p:spPr>
          <a:xfrm>
            <a:off x="3708489" y="8534026"/>
            <a:ext cx="285442" cy="97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57585A"/>
                </a:solidFill>
                <a:latin typeface="맑은 고딕"/>
                <a:ea typeface="맑은 고딕"/>
              </a:rPr>
              <a:t>보호경</a:t>
            </a:r>
          </a:p>
        </p:txBody>
      </p:sp>
      <p:sp>
        <p:nvSpPr>
          <p:cNvPr id="89" name="t34"/>
          <p:cNvSpPr txBox="1"/>
          <p:nvPr/>
        </p:nvSpPr>
        <p:spPr>
          <a:xfrm>
            <a:off x="2133706" y="8507048"/>
            <a:ext cx="1320487" cy="5641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9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성토비틸면 자재 인양</a:t>
            </a:r>
          </a:p>
          <a:p>
            <a:pPr algn="l">
              <a:lnSpc>
                <a:spcPct val="139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전도사고 유의</a:t>
            </a:r>
          </a:p>
          <a:p>
            <a:pPr algn="l">
              <a:lnSpc>
                <a:spcPct val="139000"/>
              </a:lnSpc>
            </a:pPr>
            <a:r>
              <a:rPr sz="869" b="0">
                <a:solidFill>
                  <a:srgbClr val="484A4A"/>
                </a:solidFill>
                <a:latin typeface="맑은 고딕"/>
                <a:ea typeface="맑은 고딕"/>
              </a:rPr>
              <a:t>• 철재구조물 등 운반</a:t>
            </a:r>
          </a:p>
        </p:txBody>
      </p:sp>
      <p:sp>
        <p:nvSpPr>
          <p:cNvPr id="90" name="t35"/>
          <p:cNvSpPr txBox="1"/>
          <p:nvPr/>
        </p:nvSpPr>
        <p:spPr>
          <a:xfrm>
            <a:off x="3873565" y="8522765"/>
            <a:ext cx="2847416" cy="573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0">
                <a:solidFill>
                  <a:srgbClr val="787F66"/>
                </a:solidFill>
                <a:latin typeface="맑은 고딕"/>
                <a:ea typeface="맑은 고딕"/>
              </a:rPr>
              <a:t>? -4- 안전모 • 직업구역 안전 사고 예방</a:t>
            </a:r>
          </a:p>
          <a:p>
            <a:pPr algn="ctr">
              <a:lnSpc>
                <a:spcPct val="105000"/>
              </a:lnSpc>
            </a:pPr>
            <a:r>
              <a:rPr sz="1180" b="0">
                <a:solidFill>
                  <a:srgbClr val="787F66"/>
                </a:solidFill>
                <a:latin typeface="맑은 고딕"/>
                <a:ea typeface="맑은 고딕"/>
              </a:rPr>
              <a:t>,7 - \안전장갑 • 차량통제 및 보행人고</a:t>
            </a:r>
          </a:p>
          <a:p>
            <a:pPr algn="ctr">
              <a:lnSpc>
                <a:spcPct val="105000"/>
              </a:lnSpc>
            </a:pPr>
            <a:r>
              <a:rPr sz="1180" b="0">
                <a:solidFill>
                  <a:srgbClr val="787F66"/>
                </a:solidFill>
                <a:latin typeface="맑은 고딕"/>
                <a:ea typeface="맑은 고딕"/>
              </a:rPr>
              <a:t>안전화 예방</a:t>
            </a:r>
          </a:p>
        </p:txBody>
      </p:sp>
      <p:sp>
        <p:nvSpPr>
          <p:cNvPr id="91" name="t36"/>
          <p:cNvSpPr txBox="1"/>
          <p:nvPr/>
        </p:nvSpPr>
        <p:spPr>
          <a:xfrm>
            <a:off x="3780403" y="8740902"/>
            <a:ext cx="679764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919380"/>
                </a:solidFill>
                <a:latin typeface="맑은 고딕"/>
                <a:ea typeface="맑은 고딕"/>
              </a:rPr>
              <a:t>안전고리 -구</a:t>
            </a:r>
          </a:p>
        </p:txBody>
      </p:sp>
      <p:sp>
        <p:nvSpPr>
          <p:cNvPr id="92" name="t37"/>
          <p:cNvSpPr txBox="1"/>
          <p:nvPr/>
        </p:nvSpPr>
        <p:spPr>
          <a:xfrm>
            <a:off x="3704040" y="8872269"/>
            <a:ext cx="468779" cy="182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1000"/>
              </a:lnSpc>
            </a:pPr>
            <a:r>
              <a:rPr sz="560" b="0">
                <a:solidFill>
                  <a:srgbClr val="7A7C65"/>
                </a:solidFill>
                <a:latin typeface="맑은 고딕"/>
                <a:ea typeface="맑은 고딕"/>
              </a:rPr>
              <a:t>4</a:t>
            </a:r>
          </a:p>
          <a:p>
            <a:pPr algn="l">
              <a:lnSpc>
                <a:spcPct val="101000"/>
              </a:lnSpc>
            </a:pPr>
            <a:r>
              <a:rPr sz="560" b="0">
                <a:solidFill>
                  <a:srgbClr val="7A7C65"/>
                </a:solidFill>
                <a:latin typeface="맑은 고딕"/>
                <a:ea typeface="맑은 고딕"/>
              </a:rPr>
              <a:t>야광보호구</a:t>
            </a:r>
          </a:p>
        </p:txBody>
      </p:sp>
      <p:sp>
        <p:nvSpPr>
          <p:cNvPr id="93" name="t38"/>
          <p:cNvSpPr txBox="1"/>
          <p:nvPr/>
        </p:nvSpPr>
        <p:spPr>
          <a:xfrm>
            <a:off x="643318" y="9239185"/>
            <a:ext cx="5703192" cy="52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60" b="0">
                <a:solidFill>
                  <a:srgbClr val="4D4F4F"/>
                </a:solidFill>
                <a:latin typeface="맑은 고딕"/>
                <a:ea typeface="맑은 고딕"/>
              </a:rPr>
              <a:t>• 괸련표지 설치 후 운전자가 통행방법을 이해하지 못하거나, 안전문제가 발생;(예상) 될 경우 즉시 수정 후 재설치</a:t>
            </a:r>
          </a:p>
          <a:p>
            <a:pPr algn="l">
              <a:lnSpc>
                <a:spcPct val="132000"/>
              </a:lnSpc>
            </a:pPr>
            <a:r>
              <a:rPr sz="860" b="0">
                <a:solidFill>
                  <a:srgbClr val="4D4F4F"/>
                </a:solidFill>
                <a:latin typeface="맑은 고딕"/>
                <a:ea typeface="맑은 고딕"/>
              </a:rPr>
              <a:t>• 7 존 표지와 도로 공시구간 주의표지 내용이 드를 경우 2 존 표지를 기리거나 임人로 제거</a:t>
            </a:r>
          </a:p>
          <a:p>
            <a:pPr algn="l">
              <a:lnSpc>
                <a:spcPct val="132000"/>
              </a:lnSpc>
            </a:pPr>
            <a:r>
              <a:rPr sz="860" b="0">
                <a:solidFill>
                  <a:srgbClr val="4D4F4F"/>
                </a:solidFill>
                <a:latin typeface="맑은 고딕"/>
                <a:ea typeface="맑은 고딕"/>
              </a:rPr>
              <a:t>• 가급적 직업보호 자동차를 2대 이상 배치하며, 직업 활동구역과 초소 60m 이상 이격하여 배치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