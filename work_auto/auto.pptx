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406640" cy="10533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Relationship Id="rId18" Type="http://schemas.openxmlformats.org/officeDocument/2006/relationships/image" Target="../media/image91.png"/><Relationship Id="rId19" Type="http://schemas.openxmlformats.org/officeDocument/2006/relationships/image" Target="../media/image92.png"/><Relationship Id="rId20" Type="http://schemas.openxmlformats.org/officeDocument/2006/relationships/image" Target="../media/image93.png"/><Relationship Id="rId21" Type="http://schemas.openxmlformats.org/officeDocument/2006/relationships/image" Target="../media/image94.png"/><Relationship Id="rId22" Type="http://schemas.openxmlformats.org/officeDocument/2006/relationships/image" Target="../media/image95.png"/><Relationship Id="rId23" Type="http://schemas.openxmlformats.org/officeDocument/2006/relationships/image" Target="../media/image96.png"/><Relationship Id="rId24" Type="http://schemas.openxmlformats.org/officeDocument/2006/relationships/image" Target="../media/image97.png"/><Relationship Id="rId25" Type="http://schemas.openxmlformats.org/officeDocument/2006/relationships/image" Target="../media/image98.png"/><Relationship Id="rId26" Type="http://schemas.openxmlformats.org/officeDocument/2006/relationships/image" Target="../media/image99.png"/><Relationship Id="rId27" Type="http://schemas.openxmlformats.org/officeDocument/2006/relationships/image" Target="../media/image100.png"/><Relationship Id="rId28" Type="http://schemas.openxmlformats.org/officeDocument/2006/relationships/image" Target="../media/image101.png"/><Relationship Id="rId29" Type="http://schemas.openxmlformats.org/officeDocument/2006/relationships/image" Target="../media/image102.png"/><Relationship Id="rId30" Type="http://schemas.openxmlformats.org/officeDocument/2006/relationships/image" Target="../media/image103.png"/><Relationship Id="rId31" Type="http://schemas.openxmlformats.org/officeDocument/2006/relationships/image" Target="../media/image104.png"/><Relationship Id="rId32" Type="http://schemas.openxmlformats.org/officeDocument/2006/relationships/image" Target="../media/image105.png"/><Relationship Id="rId33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4238244" y="2313432"/>
            <a:ext cx="2464308" cy="1440180"/>
          </a:xfrm>
          <a:prstGeom prst="rect">
            <a:avLst/>
          </a:prstGeom>
          <a:solidFill>
            <a:srgbClr val="B7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1275588" y="6675120"/>
            <a:ext cx="1138428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51A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1280160" y="8951976"/>
            <a:ext cx="1138428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44A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522976" y="7850124"/>
            <a:ext cx="1129284" cy="745236"/>
          </a:xfrm>
          <a:prstGeom prst="rect">
            <a:avLst/>
          </a:prstGeom>
          <a:solidFill>
            <a:srgbClr val="FFFFFF"/>
          </a:solidFill>
          <a:ln w="18288">
            <a:solidFill>
              <a:srgbClr val="4EA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594360" y="5189220"/>
            <a:ext cx="3035808" cy="274320"/>
          </a:xfrm>
          <a:prstGeom prst="rect">
            <a:avLst/>
          </a:prstGeom>
          <a:solidFill>
            <a:srgbClr val="D5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603504" y="4165092"/>
            <a:ext cx="3031236" cy="274320"/>
          </a:xfrm>
          <a:prstGeom prst="rect">
            <a:avLst/>
          </a:prstGeom>
          <a:solidFill>
            <a:srgbClr val="D5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4992624" y="6702552"/>
            <a:ext cx="111556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55B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640080" y="7813548"/>
            <a:ext cx="111556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4BA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4978908" y="8979408"/>
            <a:ext cx="1115568" cy="745236"/>
          </a:xfrm>
          <a:prstGeom prst="rect">
            <a:avLst/>
          </a:prstGeom>
          <a:solidFill>
            <a:srgbClr val="FFFFFF"/>
          </a:solidFill>
          <a:ln w="18288">
            <a:solidFill>
              <a:srgbClr val="4CA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3671316" y="4192524"/>
            <a:ext cx="3054096" cy="265176"/>
          </a:xfrm>
          <a:prstGeom prst="rect">
            <a:avLst/>
          </a:prstGeom>
          <a:solidFill>
            <a:srgbClr val="CF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3666744" y="5216652"/>
            <a:ext cx="3054096" cy="260604"/>
          </a:xfrm>
          <a:prstGeom prst="rect">
            <a:avLst/>
          </a:prstGeom>
          <a:solidFill>
            <a:srgbClr val="CF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603504" y="1088136"/>
            <a:ext cx="763524" cy="749808"/>
          </a:xfrm>
          <a:prstGeom prst="rect">
            <a:avLst/>
          </a:prstGeom>
          <a:solidFill>
            <a:srgbClr val="0D8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0" descr="p1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350008"/>
            <a:ext cx="2450592" cy="1394460"/>
          </a:xfrm>
          <a:prstGeom prst="rect">
            <a:avLst/>
          </a:prstGeom>
        </p:spPr>
      </p:pic>
      <p:pic>
        <p:nvPicPr>
          <p:cNvPr id="15" name="i1" descr="p1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91440"/>
            <a:ext cx="265176" cy="438912"/>
          </a:xfrm>
          <a:prstGeom prst="rect">
            <a:avLst/>
          </a:prstGeom>
        </p:spPr>
      </p:pic>
      <p:pic>
        <p:nvPicPr>
          <p:cNvPr id="16" name="i2" descr="p1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012" y="196596"/>
            <a:ext cx="982980" cy="434340"/>
          </a:xfrm>
          <a:prstGeom prst="rect">
            <a:avLst/>
          </a:prstGeom>
        </p:spPr>
      </p:pic>
      <p:pic>
        <p:nvPicPr>
          <p:cNvPr id="17" name="i3" descr="p1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10896"/>
            <a:ext cx="246888" cy="64008"/>
          </a:xfrm>
          <a:prstGeom prst="rect">
            <a:avLst/>
          </a:prstGeom>
        </p:spPr>
      </p:pic>
      <p:pic>
        <p:nvPicPr>
          <p:cNvPr id="18" name="i4" descr="p1_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868680"/>
            <a:ext cx="137160" cy="137160"/>
          </a:xfrm>
          <a:prstGeom prst="rect">
            <a:avLst/>
          </a:prstGeom>
        </p:spPr>
      </p:pic>
      <p:pic>
        <p:nvPicPr>
          <p:cNvPr id="19" name="i5" descr="p1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1097280"/>
            <a:ext cx="5353812" cy="54864"/>
          </a:xfrm>
          <a:prstGeom prst="rect">
            <a:avLst/>
          </a:prstGeom>
        </p:spPr>
      </p:pic>
      <p:pic>
        <p:nvPicPr>
          <p:cNvPr id="20" name="i6" descr="p1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824228"/>
            <a:ext cx="5353812" cy="54864"/>
          </a:xfrm>
          <a:prstGeom prst="rect">
            <a:avLst/>
          </a:prstGeom>
        </p:spPr>
      </p:pic>
      <p:pic>
        <p:nvPicPr>
          <p:cNvPr id="21" name="i7" descr="p1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" y="2016252"/>
            <a:ext cx="141732" cy="137160"/>
          </a:xfrm>
          <a:prstGeom prst="rect">
            <a:avLst/>
          </a:prstGeom>
        </p:spPr>
      </p:pic>
      <p:pic>
        <p:nvPicPr>
          <p:cNvPr id="22" name="i8" descr="p1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2313432"/>
            <a:ext cx="6144768" cy="1476756"/>
          </a:xfrm>
          <a:prstGeom prst="rect">
            <a:avLst/>
          </a:prstGeom>
        </p:spPr>
      </p:pic>
      <p:pic>
        <p:nvPicPr>
          <p:cNvPr id="23" name="i9" descr="p1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932" y="3936492"/>
            <a:ext cx="137160" cy="137160"/>
          </a:xfrm>
          <a:prstGeom prst="rect">
            <a:avLst/>
          </a:prstGeom>
        </p:spPr>
      </p:pic>
      <p:pic>
        <p:nvPicPr>
          <p:cNvPr id="24" name="i10" descr="p1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" y="6309360"/>
            <a:ext cx="137160" cy="141732"/>
          </a:xfrm>
          <a:prstGeom prst="rect">
            <a:avLst/>
          </a:prstGeom>
        </p:spPr>
      </p:pic>
      <p:pic>
        <p:nvPicPr>
          <p:cNvPr id="25" name="i11" descr="p1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4540" y="6871716"/>
            <a:ext cx="3360420" cy="2377440"/>
          </a:xfrm>
          <a:prstGeom prst="rect">
            <a:avLst/>
          </a:prstGeom>
        </p:spPr>
      </p:pic>
      <p:pic>
        <p:nvPicPr>
          <p:cNvPr id="26" name="i12" descr="p1_i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4752" y="7008876"/>
            <a:ext cx="274320" cy="315468"/>
          </a:xfrm>
          <a:prstGeom prst="rect">
            <a:avLst/>
          </a:prstGeom>
        </p:spPr>
      </p:pic>
      <p:pic>
        <p:nvPicPr>
          <p:cNvPr id="27" name="i13" descr="p1_i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964" y="8220456"/>
            <a:ext cx="672084" cy="210312"/>
          </a:xfrm>
          <a:prstGeom prst="rect">
            <a:avLst/>
          </a:prstGeom>
        </p:spPr>
      </p:pic>
      <p:pic>
        <p:nvPicPr>
          <p:cNvPr id="28" name="i14" descr="p1_i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1556" y="8234172"/>
            <a:ext cx="681228" cy="342900"/>
          </a:xfrm>
          <a:prstGeom prst="rect">
            <a:avLst/>
          </a:prstGeom>
        </p:spPr>
      </p:pic>
      <p:pic>
        <p:nvPicPr>
          <p:cNvPr id="29" name="i15" descr="p1_i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97780" y="9317736"/>
            <a:ext cx="306324" cy="306324"/>
          </a:xfrm>
          <a:prstGeom prst="rect">
            <a:avLst/>
          </a:prstGeom>
        </p:spPr>
      </p:pic>
      <p:pic>
        <p:nvPicPr>
          <p:cNvPr id="30" name="i16" descr="p1_i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6040" y="9390888"/>
            <a:ext cx="2112264" cy="237744"/>
          </a:xfrm>
          <a:prstGeom prst="rect">
            <a:avLst/>
          </a:prstGeom>
        </p:spPr>
      </p:pic>
      <p:pic>
        <p:nvPicPr>
          <p:cNvPr id="31" name="i17" descr="p1_i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77340" y="9454896"/>
            <a:ext cx="534924" cy="114300"/>
          </a:xfrm>
          <a:prstGeom prst="rect">
            <a:avLst/>
          </a:prstGeom>
        </p:spPr>
      </p:pic>
      <p:pic>
        <p:nvPicPr>
          <p:cNvPr id="32" name="i18" descr="p1_i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23560" y="9500616"/>
            <a:ext cx="192024" cy="114300"/>
          </a:xfrm>
          <a:prstGeom prst="rect">
            <a:avLst/>
          </a:prstGeom>
        </p:spPr>
      </p:pic>
      <p:pic>
        <p:nvPicPr>
          <p:cNvPr id="33" name="i19" descr="p1_i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3388" y="10035540"/>
            <a:ext cx="146304" cy="105156"/>
          </a:xfrm>
          <a:prstGeom prst="rect">
            <a:avLst/>
          </a:prstGeom>
        </p:spPr>
      </p:pic>
      <p:cxnSp>
        <p:nvCxnSpPr>
          <p:cNvPr id="34" name="l0"/>
          <p:cNvCxnSpPr/>
          <p:nvPr/>
        </p:nvCxnSpPr>
        <p:spPr>
          <a:xfrm>
            <a:off x="4224528" y="2288286"/>
            <a:ext cx="2505456" cy="0"/>
          </a:xfrm>
          <a:prstGeom prst="line">
            <a:avLst/>
          </a:prstGeom>
          <a:ln w="22860">
            <a:solidFill>
              <a:srgbClr val="BB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1"/>
          <p:cNvCxnSpPr/>
          <p:nvPr/>
        </p:nvCxnSpPr>
        <p:spPr>
          <a:xfrm>
            <a:off x="603504" y="3323844"/>
            <a:ext cx="726948" cy="0"/>
          </a:xfrm>
          <a:prstGeom prst="line">
            <a:avLst/>
          </a:prstGeom>
          <a:ln w="9144">
            <a:solidFill>
              <a:srgbClr val="B5B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2"/>
          <p:cNvCxnSpPr/>
          <p:nvPr/>
        </p:nvCxnSpPr>
        <p:spPr>
          <a:xfrm>
            <a:off x="4572000" y="5127498"/>
            <a:ext cx="333756" cy="0"/>
          </a:xfrm>
          <a:prstGeom prst="line">
            <a:avLst/>
          </a:prstGeom>
          <a:ln w="6350">
            <a:solidFill>
              <a:srgbClr val="D8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3"/>
          <p:cNvCxnSpPr/>
          <p:nvPr/>
        </p:nvCxnSpPr>
        <p:spPr>
          <a:xfrm>
            <a:off x="4910328" y="5127498"/>
            <a:ext cx="370332" cy="0"/>
          </a:xfrm>
          <a:prstGeom prst="line">
            <a:avLst/>
          </a:prstGeom>
          <a:ln w="635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4"/>
          <p:cNvCxnSpPr/>
          <p:nvPr/>
        </p:nvCxnSpPr>
        <p:spPr>
          <a:xfrm>
            <a:off x="5422392" y="5132070"/>
            <a:ext cx="448056" cy="0"/>
          </a:xfrm>
          <a:prstGeom prst="line">
            <a:avLst/>
          </a:prstGeom>
          <a:ln w="6350">
            <a:solidFill>
              <a:srgbClr val="D8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5"/>
          <p:cNvCxnSpPr/>
          <p:nvPr/>
        </p:nvCxnSpPr>
        <p:spPr>
          <a:xfrm>
            <a:off x="5303520" y="6151626"/>
            <a:ext cx="553212" cy="0"/>
          </a:xfrm>
          <a:prstGeom prst="line">
            <a:avLst/>
          </a:prstGeom>
          <a:ln w="6350">
            <a:solidFill>
              <a:srgbClr val="DAE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6"/>
          <p:cNvCxnSpPr/>
          <p:nvPr/>
        </p:nvCxnSpPr>
        <p:spPr>
          <a:xfrm>
            <a:off x="6743700" y="1138428"/>
            <a:ext cx="0" cy="745236"/>
          </a:xfrm>
          <a:prstGeom prst="line">
            <a:avLst/>
          </a:prstGeom>
          <a:ln w="18288">
            <a:solidFill>
              <a:srgbClr val="449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7"/>
          <p:cNvCxnSpPr/>
          <p:nvPr/>
        </p:nvCxnSpPr>
        <p:spPr>
          <a:xfrm>
            <a:off x="4210812" y="2290572"/>
            <a:ext cx="0" cy="1481328"/>
          </a:xfrm>
          <a:prstGeom prst="line">
            <a:avLst/>
          </a:prstGeom>
          <a:ln w="18288">
            <a:solidFill>
              <a:srgbClr val="B3B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0"/>
          <p:cNvSpPr txBox="1"/>
          <p:nvPr/>
        </p:nvSpPr>
        <p:spPr>
          <a:xfrm>
            <a:off x="1235842" y="221827"/>
            <a:ext cx="1043874" cy="2827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95050"/>
                </a:solidFill>
                <a:latin typeface="맑은 고딕"/>
                <a:ea typeface="맑은 고딕"/>
              </a:rPr>
              <a:t>건실계획</a:t>
            </a:r>
          </a:p>
        </p:txBody>
      </p:sp>
      <p:sp>
        <p:nvSpPr>
          <p:cNvPr id="43" name="t1"/>
          <p:cNvSpPr txBox="1"/>
          <p:nvPr/>
        </p:nvSpPr>
        <p:spPr>
          <a:xfrm>
            <a:off x="5238478" y="624508"/>
            <a:ext cx="1251415" cy="1337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434544"/>
                </a:solidFill>
                <a:latin typeface="맑은 고딕"/>
                <a:ea typeface="맑은 고딕"/>
              </a:rPr>
              <a:t>고속도로 민간투자 태양광</a:t>
            </a:r>
          </a:p>
        </p:txBody>
      </p:sp>
      <p:sp>
        <p:nvSpPr>
          <p:cNvPr id="44" name="t2"/>
          <p:cNvSpPr txBox="1"/>
          <p:nvPr/>
        </p:nvSpPr>
        <p:spPr>
          <a:xfrm>
            <a:off x="6433293" y="651598"/>
            <a:ext cx="364462" cy="9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ACAFAF"/>
                </a:solidFill>
                <a:latin typeface="맑은 고딕"/>
                <a:ea typeface="맑은 고딕"/>
              </a:rPr>
              <a:t>발전사업</a:t>
            </a:r>
          </a:p>
        </p:txBody>
      </p:sp>
      <p:sp>
        <p:nvSpPr>
          <p:cNvPr id="45" name="t3"/>
          <p:cNvSpPr txBox="1"/>
          <p:nvPr/>
        </p:nvSpPr>
        <p:spPr>
          <a:xfrm>
            <a:off x="779403" y="853860"/>
            <a:ext cx="893014" cy="164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3B3D3D"/>
                </a:solidFill>
                <a:latin typeface="맑은 고딕"/>
                <a:ea typeface="맑은 고딕"/>
              </a:rPr>
              <a:t>사업신청 목적</a:t>
            </a:r>
          </a:p>
        </p:txBody>
      </p:sp>
      <p:sp>
        <p:nvSpPr>
          <p:cNvPr id="46" name="t4"/>
          <p:cNvSpPr txBox="1"/>
          <p:nvPr/>
        </p:nvSpPr>
        <p:spPr>
          <a:xfrm>
            <a:off x="1429355" y="1175566"/>
            <a:ext cx="4787281" cy="592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910" b="0">
                <a:solidFill>
                  <a:srgbClr val="383A39"/>
                </a:solidFill>
                <a:latin typeface="맑은 고딕"/>
                <a:ea typeface="맑은 고딕"/>
              </a:rPr>
              <a:t>• 한국도로공사가 보유한 성토부의 가용자산을 활용하여 신재생에너지 생산 및 전기 보급</a:t>
            </a:r>
          </a:p>
          <a:p>
            <a:pPr algn="ctr">
              <a:lnSpc>
                <a:spcPct val="140000"/>
              </a:lnSpc>
            </a:pPr>
            <a:r>
              <a:rPr sz="910" b="0">
                <a:solidFill>
                  <a:srgbClr val="383A39"/>
                </a:solidFill>
                <a:latin typeface="맑은 고딕"/>
                <a:ea typeface="맑은 고딕"/>
              </a:rPr>
              <a:t>2050 탄소중립의 실천', “국가온실기스감축목표(NDC)"의 신에너지 국가정책에 기여</a:t>
            </a:r>
          </a:p>
          <a:p>
            <a:pPr algn="ctr">
              <a:lnSpc>
                <a:spcPct val="140000"/>
              </a:lnSpc>
            </a:pPr>
            <a:r>
              <a:rPr sz="910" b="0">
                <a:solidFill>
                  <a:srgbClr val="383A39"/>
                </a:solidFill>
                <a:latin typeface="맑은 고딕"/>
                <a:ea typeface="맑은 고딕"/>
              </a:rPr>
              <a:t>• 유휴지신을 활용하여 청정에너지 생산, 신수익 창출 및 신규 일자리 등 사회적 가치실현</a:t>
            </a:r>
          </a:p>
        </p:txBody>
      </p:sp>
      <p:sp>
        <p:nvSpPr>
          <p:cNvPr id="47" name="t5"/>
          <p:cNvSpPr txBox="1"/>
          <p:nvPr/>
        </p:nvSpPr>
        <p:spPr>
          <a:xfrm>
            <a:off x="738301" y="1388913"/>
            <a:ext cx="599849" cy="1632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C5E8F5"/>
                </a:solidFill>
                <a:latin typeface="맑은 고딕"/>
                <a:ea typeface="맑은 고딕"/>
              </a:rPr>
              <a:t>중점사항</a:t>
            </a:r>
          </a:p>
        </p:txBody>
      </p:sp>
      <p:sp>
        <p:nvSpPr>
          <p:cNvPr id="48" name="t6"/>
          <p:cNvSpPr txBox="1"/>
          <p:nvPr/>
        </p:nvSpPr>
        <p:spPr>
          <a:xfrm>
            <a:off x="770175" y="2001201"/>
            <a:ext cx="610548" cy="16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373939"/>
                </a:solidFill>
                <a:latin typeface="맑은 고딕"/>
                <a:ea typeface="맑은 고딕"/>
              </a:rPr>
              <a:t>사업개요</a:t>
            </a:r>
          </a:p>
        </p:txBody>
      </p:sp>
      <p:sp>
        <p:nvSpPr>
          <p:cNvPr id="49" name="t7"/>
          <p:cNvSpPr txBox="1"/>
          <p:nvPr/>
        </p:nvSpPr>
        <p:spPr>
          <a:xfrm>
            <a:off x="633041" y="2260369"/>
            <a:ext cx="794936" cy="1080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7000"/>
              </a:lnSpc>
            </a:pPr>
            <a:r>
              <a:rPr sz="1030" b="0">
                <a:solidFill>
                  <a:srgbClr val="494C4C"/>
                </a:solidFill>
                <a:latin typeface="맑은 고딕"/>
                <a:ea typeface="맑은 고딕"/>
              </a:rPr>
              <a:t>사 업 명</a:t>
            </a:r>
          </a:p>
          <a:p>
            <a:pPr algn="l">
              <a:lnSpc>
                <a:spcPct val="137000"/>
              </a:lnSpc>
            </a:pPr>
            <a:r>
              <a:rPr sz="1030" b="0">
                <a:solidFill>
                  <a:srgbClr val="494C4C"/>
                </a:solidFill>
                <a:latin typeface="맑은 고딕"/>
                <a:ea typeface="맑은 고딕"/>
              </a:rPr>
              <a:t>발주 기관</a:t>
            </a:r>
          </a:p>
          <a:p>
            <a:pPr algn="l">
              <a:lnSpc>
                <a:spcPct val="137000"/>
              </a:lnSpc>
            </a:pPr>
            <a:r>
              <a:rPr sz="1030" b="0">
                <a:solidFill>
                  <a:srgbClr val="494C4C"/>
                </a:solidFill>
                <a:latin typeface="맑은 고딕"/>
                <a:ea typeface="맑은 고딕"/>
              </a:rPr>
              <a:t>사업 방식</a:t>
            </a:r>
          </a:p>
          <a:p>
            <a:pPr algn="l">
              <a:lnSpc>
                <a:spcPct val="137000"/>
              </a:lnSpc>
            </a:pPr>
            <a:r>
              <a:rPr sz="1030" b="0">
                <a:solidFill>
                  <a:srgbClr val="494C4C"/>
                </a:solidFill>
                <a:latin typeface="맑은 고딕"/>
                <a:ea typeface="맑은 고딕"/>
              </a:rPr>
              <a:t>설치 부지</a:t>
            </a:r>
          </a:p>
          <a:p>
            <a:pPr algn="l">
              <a:lnSpc>
                <a:spcPct val="137000"/>
              </a:lnSpc>
            </a:pPr>
            <a:r>
              <a:rPr sz="1030" b="0">
                <a:solidFill>
                  <a:srgbClr val="494C4C"/>
                </a:solidFill>
                <a:latin typeface="맑은 고딕"/>
                <a:ea typeface="맑은 고딕"/>
              </a:rPr>
              <a:t>설 치 용량</a:t>
            </a:r>
          </a:p>
        </p:txBody>
      </p:sp>
      <p:sp>
        <p:nvSpPr>
          <p:cNvPr id="50" name="t8"/>
          <p:cNvSpPr txBox="1"/>
          <p:nvPr/>
        </p:nvSpPr>
        <p:spPr>
          <a:xfrm>
            <a:off x="1361044" y="2260165"/>
            <a:ext cx="2330763" cy="1086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869" b="0">
                <a:solidFill>
                  <a:srgbClr val="4B4D4C"/>
                </a:solidFill>
                <a:latin typeface="맑은 고딕"/>
                <a:ea typeface="맑은 고딕"/>
              </a:rPr>
              <a:t>2023년 고속도로 민간투자 태양광 발전사업</a:t>
            </a:r>
          </a:p>
          <a:p>
            <a:pPr algn="l">
              <a:lnSpc>
                <a:spcPct val="162000"/>
              </a:lnSpc>
            </a:pPr>
            <a:r>
              <a:rPr sz="869" b="0">
                <a:solidFill>
                  <a:srgbClr val="4B4D4C"/>
                </a:solidFill>
                <a:latin typeface="맑은 고딕"/>
                <a:ea typeface="맑은 고딕"/>
              </a:rPr>
              <a:t>한국도로공사</a:t>
            </a:r>
          </a:p>
          <a:p>
            <a:pPr algn="l">
              <a:lnSpc>
                <a:spcPct val="162000"/>
              </a:lnSpc>
            </a:pPr>
            <a:r>
              <a:rPr sz="869" b="0">
                <a:solidFill>
                  <a:srgbClr val="4B4D4C"/>
                </a:solidFill>
                <a:latin typeface="맑은 고딕"/>
                <a:ea typeface="맑은 고딕"/>
              </a:rPr>
              <a:t>BOT(Bui ld—Operate—Transper)</a:t>
            </a:r>
          </a:p>
          <a:p>
            <a:pPr algn="l">
              <a:lnSpc>
                <a:spcPct val="162000"/>
              </a:lnSpc>
            </a:pPr>
            <a:r>
              <a:rPr sz="869" b="0">
                <a:solidFill>
                  <a:srgbClr val="4B4D4C"/>
                </a:solidFill>
                <a:latin typeface="맑은 고딕"/>
                <a:ea typeface="맑은 고딕"/>
              </a:rPr>
              <a:t>경21 평택시 칠고동 42-1일원 외 14개소</a:t>
            </a:r>
          </a:p>
          <a:p>
            <a:pPr algn="l">
              <a:lnSpc>
                <a:spcPct val="162000"/>
              </a:lnSpc>
            </a:pPr>
            <a:r>
              <a:rPr sz="869" b="0">
                <a:solidFill>
                  <a:srgbClr val="4B4D4C"/>
                </a:solidFill>
                <a:latin typeface="맑은 고딕"/>
                <a:ea typeface="맑은 고딕"/>
              </a:rPr>
              <a:t>10ⅳ朳/</a:t>
            </a:r>
          </a:p>
        </p:txBody>
      </p:sp>
      <p:sp>
        <p:nvSpPr>
          <p:cNvPr id="51" name="t9"/>
          <p:cNvSpPr txBox="1"/>
          <p:nvPr/>
        </p:nvSpPr>
        <p:spPr>
          <a:xfrm>
            <a:off x="1356356" y="3365650"/>
            <a:ext cx="1976698" cy="356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90" b="0">
                <a:solidFill>
                  <a:srgbClr val="454747"/>
                </a:solidFill>
                <a:latin typeface="맑은 고딕"/>
                <a:ea typeface="맑은 고딕"/>
              </a:rPr>
              <a:t>건설기간 : 실시협약 체결 후 18개월</a:t>
            </a:r>
          </a:p>
          <a:p>
            <a:pPr algn="l">
              <a:lnSpc>
                <a:spcPct val="128000"/>
              </a:lnSpc>
            </a:pPr>
            <a:r>
              <a:rPr sz="890" b="0">
                <a:solidFill>
                  <a:srgbClr val="454747"/>
                </a:solidFill>
                <a:latin typeface="맑은 고딕"/>
                <a:ea typeface="맑은 고딕"/>
              </a:rPr>
              <a:t>운영기간 . 건설71간 완료 후 20년</a:t>
            </a:r>
          </a:p>
        </p:txBody>
      </p:sp>
      <p:sp>
        <p:nvSpPr>
          <p:cNvPr id="52" name="t10"/>
          <p:cNvSpPr txBox="1"/>
          <p:nvPr/>
        </p:nvSpPr>
        <p:spPr>
          <a:xfrm>
            <a:off x="627827" y="3457956"/>
            <a:ext cx="736823" cy="179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3A3D3E"/>
                </a:solidFill>
                <a:latin typeface="맑은 고딕"/>
                <a:ea typeface="맑은 고딕"/>
              </a:rPr>
              <a:t>사업 기간</a:t>
            </a:r>
          </a:p>
        </p:txBody>
      </p:sp>
      <p:sp>
        <p:nvSpPr>
          <p:cNvPr id="53" name="t11"/>
          <p:cNvSpPr txBox="1"/>
          <p:nvPr/>
        </p:nvSpPr>
        <p:spPr>
          <a:xfrm>
            <a:off x="761006" y="3921371"/>
            <a:ext cx="1031474" cy="1666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373939"/>
                </a:solidFill>
                <a:latin typeface="맑은 고딕"/>
                <a:ea typeface="맑은 고딕"/>
              </a:rPr>
              <a:t>사업의 기대효과</a:t>
            </a:r>
          </a:p>
        </p:txBody>
      </p:sp>
      <p:sp>
        <p:nvSpPr>
          <p:cNvPr id="54" name="t12"/>
          <p:cNvSpPr txBox="1"/>
          <p:nvPr/>
        </p:nvSpPr>
        <p:spPr>
          <a:xfrm>
            <a:off x="1373792" y="4223507"/>
            <a:ext cx="1546454" cy="1636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03434"/>
                </a:solidFill>
                <a:latin typeface="맑은 고딕"/>
                <a:ea typeface="맑은 고딕"/>
              </a:rPr>
              <a:t>징부°l 신에너지 정책 실현</a:t>
            </a:r>
          </a:p>
        </p:txBody>
      </p:sp>
      <p:sp>
        <p:nvSpPr>
          <p:cNvPr id="55" name="t13"/>
          <p:cNvSpPr txBox="1"/>
          <p:nvPr/>
        </p:nvSpPr>
        <p:spPr>
          <a:xfrm>
            <a:off x="4423593" y="4251707"/>
            <a:ext cx="1602572" cy="1574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323737"/>
                </a:solidFill>
                <a:latin typeface="맑은 고딕"/>
                <a:ea typeface="맑은 고딕"/>
              </a:rPr>
              <a:t>공공기관의 사회적 가치실현</a:t>
            </a:r>
          </a:p>
        </p:txBody>
      </p:sp>
      <p:sp>
        <p:nvSpPr>
          <p:cNvPr id="56" name="t14"/>
          <p:cNvSpPr txBox="1"/>
          <p:nvPr/>
        </p:nvSpPr>
        <p:spPr>
          <a:xfrm>
            <a:off x="670717" y="4489990"/>
            <a:ext cx="2914990" cy="523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9" b="0">
                <a:solidFill>
                  <a:srgbClr val="404242"/>
                </a:solidFill>
                <a:latin typeface="맑은 고딕"/>
                <a:ea typeface="맑은 고딕"/>
              </a:rPr>
              <a:t>• 2050 탄소중립의 실천의 정책실현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404242"/>
                </a:solidFill>
                <a:latin typeface="맑은 고딕"/>
                <a:ea typeface="맑은 고딕"/>
              </a:rPr>
              <a:t>• 청정그린에너지 생산으로 저탄소 탄소중립국2 로 도약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404242"/>
                </a:solidFill>
                <a:latin typeface="맑은 고딕"/>
                <a:ea typeface="맑은 고딕"/>
              </a:rPr>
              <a:t>• 정부의 신재생에너지 보급정책에 71여</a:t>
            </a:r>
          </a:p>
        </p:txBody>
      </p:sp>
      <p:sp>
        <p:nvSpPr>
          <p:cNvPr id="57" name="t15"/>
          <p:cNvSpPr txBox="1"/>
          <p:nvPr/>
        </p:nvSpPr>
        <p:spPr>
          <a:xfrm>
            <a:off x="3743039" y="4517711"/>
            <a:ext cx="2509440" cy="525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869" b="0">
                <a:solidFill>
                  <a:srgbClr val="424544"/>
                </a:solidFill>
                <a:latin typeface="맑은 고딕"/>
                <a:ea typeface="맑은 고딕"/>
              </a:rPr>
              <a:t>• 한국도로공사와 사업시행자의 공익사업 실현</a:t>
            </a:r>
          </a:p>
          <a:p>
            <a:pPr algn="l">
              <a:lnSpc>
                <a:spcPct val="129000"/>
              </a:lnSpc>
            </a:pPr>
            <a:r>
              <a:rPr sz="869" b="0">
                <a:solidFill>
                  <a:srgbClr val="424544"/>
                </a:solidFill>
                <a:latin typeface="맑은 고딕"/>
                <a:ea typeface="맑은 고딕"/>
              </a:rPr>
              <a:t>• 회석발전 대비 C02 약 7천만톤 저감효과 기대</a:t>
            </a:r>
          </a:p>
          <a:p>
            <a:pPr algn="l">
              <a:lnSpc>
                <a:spcPct val="129000"/>
              </a:lnSpc>
            </a:pPr>
            <a:r>
              <a:rPr sz="869" b="0">
                <a:solidFill>
                  <a:srgbClr val="424544"/>
                </a:solidFill>
                <a:latin typeface="맑은 고딕"/>
                <a:ea typeface="맑은 고딕"/>
              </a:rPr>
              <a:t>• 신규 일자리 500개의 고용창출효과 기대</a:t>
            </a:r>
          </a:p>
        </p:txBody>
      </p:sp>
      <p:sp>
        <p:nvSpPr>
          <p:cNvPr id="58" name="t16"/>
          <p:cNvSpPr txBox="1"/>
          <p:nvPr/>
        </p:nvSpPr>
        <p:spPr>
          <a:xfrm>
            <a:off x="1707600" y="5247779"/>
            <a:ext cx="882891" cy="162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3131"/>
                </a:solidFill>
                <a:latin typeface="맑은 고딕"/>
                <a:ea typeface="맑은 고딕"/>
              </a:rPr>
              <a:t>환경개선 효과</a:t>
            </a:r>
          </a:p>
        </p:txBody>
      </p:sp>
      <p:sp>
        <p:nvSpPr>
          <p:cNvPr id="59" name="t17"/>
          <p:cNvSpPr txBox="1"/>
          <p:nvPr/>
        </p:nvSpPr>
        <p:spPr>
          <a:xfrm>
            <a:off x="4556118" y="5271088"/>
            <a:ext cx="1338150" cy="158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2D3132"/>
                </a:solidFill>
                <a:latin typeface="맑은 고딕"/>
                <a:ea typeface="맑은 고딕"/>
              </a:rPr>
              <a:t>유휴부지의 가용지산화</a:t>
            </a:r>
          </a:p>
        </p:txBody>
      </p:sp>
      <p:sp>
        <p:nvSpPr>
          <p:cNvPr id="60" name="t18"/>
          <p:cNvSpPr txBox="1"/>
          <p:nvPr/>
        </p:nvSpPr>
        <p:spPr>
          <a:xfrm>
            <a:off x="661557" y="5514019"/>
            <a:ext cx="2814761" cy="525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9" b="0">
                <a:solidFill>
                  <a:srgbClr val="3F4040"/>
                </a:solidFill>
                <a:latin typeface="맑은 고딕"/>
                <a:ea typeface="맑은 고딕"/>
              </a:rPr>
              <a:t>• 신에너지진한으로 국2 온실가스감축목표(NDC) 실천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3F4040"/>
                </a:solidFill>
                <a:latin typeface="맑은 고딕"/>
                <a:ea typeface="맑은 고딕"/>
              </a:rPr>
              <a:t>• “환경오염 Zero” 목표로 친환경 발전소 건립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3F4040"/>
                </a:solidFill>
                <a:latin typeface="맑은 고딕"/>
                <a:ea typeface="맑은 고딕"/>
              </a:rPr>
              <a:t>• 경&amp;YOI 우수하며 주변과 조화로운 발전소 건립</a:t>
            </a:r>
          </a:p>
        </p:txBody>
      </p:sp>
      <p:sp>
        <p:nvSpPr>
          <p:cNvPr id="61" name="t19"/>
          <p:cNvSpPr txBox="1"/>
          <p:nvPr/>
        </p:nvSpPr>
        <p:spPr>
          <a:xfrm>
            <a:off x="3738521" y="5540838"/>
            <a:ext cx="2599707" cy="528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869" b="0">
                <a:solidFill>
                  <a:srgbClr val="404241"/>
                </a:solidFill>
                <a:latin typeface="맑은 고딕"/>
                <a:ea typeface="맑은 고딕"/>
              </a:rPr>
              <a:t>• 한국도로공사 유휴부자를 활용 신부가가치 창출</a:t>
            </a:r>
          </a:p>
          <a:p>
            <a:pPr algn="l">
              <a:lnSpc>
                <a:spcPct val="131000"/>
              </a:lnSpc>
            </a:pPr>
            <a:r>
              <a:rPr sz="869" b="0">
                <a:solidFill>
                  <a:srgbClr val="404241"/>
                </a:solidFill>
                <a:latin typeface="맑은 고딕"/>
                <a:ea typeface="맑은 고딕"/>
              </a:rPr>
              <a:t>• 본사업에 직접 지역주민을 참여 수익 공유</a:t>
            </a:r>
          </a:p>
          <a:p>
            <a:pPr algn="l">
              <a:lnSpc>
                <a:spcPct val="131000"/>
              </a:lnSpc>
            </a:pPr>
            <a:r>
              <a:rPr sz="869" b="0">
                <a:solidFill>
                  <a:srgbClr val="404241"/>
                </a:solidFill>
                <a:latin typeface="맑은 고딕"/>
                <a:ea typeface="맑은 고딕"/>
              </a:rPr>
              <a:t>• 유휴부지를 이용 환경친호적인 청정에너지 생산</a:t>
            </a:r>
          </a:p>
        </p:txBody>
      </p:sp>
      <p:sp>
        <p:nvSpPr>
          <p:cNvPr id="62" name="t20"/>
          <p:cNvSpPr txBox="1"/>
          <p:nvPr/>
        </p:nvSpPr>
        <p:spPr>
          <a:xfrm>
            <a:off x="751952" y="6299061"/>
            <a:ext cx="605199" cy="1646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3E3F3F"/>
                </a:solidFill>
                <a:latin typeface="맑은 고딕"/>
                <a:ea typeface="맑은 고딕"/>
              </a:rPr>
              <a:t>사업구도</a:t>
            </a:r>
          </a:p>
        </p:txBody>
      </p:sp>
      <p:sp>
        <p:nvSpPr>
          <p:cNvPr id="63" name="t21"/>
          <p:cNvSpPr txBox="1"/>
          <p:nvPr/>
        </p:nvSpPr>
        <p:spPr>
          <a:xfrm>
            <a:off x="1447231" y="6738902"/>
            <a:ext cx="852645" cy="157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3A3C3D"/>
                </a:solidFill>
                <a:latin typeface="맑은 고딕"/>
                <a:ea typeface="맑은 고딕"/>
              </a:rPr>
              <a:t>자본금(25%6)</a:t>
            </a:r>
          </a:p>
        </p:txBody>
      </p:sp>
      <p:sp>
        <p:nvSpPr>
          <p:cNvPr id="64" name="t22"/>
          <p:cNvSpPr txBox="1"/>
          <p:nvPr/>
        </p:nvSpPr>
        <p:spPr>
          <a:xfrm>
            <a:off x="5401818" y="6779514"/>
            <a:ext cx="365760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4042"/>
                </a:solidFill>
                <a:latin typeface="맑은 고딕"/>
                <a:ea typeface="맑은 고딕"/>
              </a:rPr>
              <a:t>EPC</a:t>
            </a:r>
          </a:p>
        </p:txBody>
      </p:sp>
      <p:sp>
        <p:nvSpPr>
          <p:cNvPr id="65" name="t23"/>
          <p:cNvSpPr txBox="1"/>
          <p:nvPr/>
        </p:nvSpPr>
        <p:spPr>
          <a:xfrm>
            <a:off x="1827528" y="7020781"/>
            <a:ext cx="480590" cy="302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850" b="0">
                <a:solidFill>
                  <a:srgbClr val="676C6B"/>
                </a:solidFill>
                <a:latin typeface="맑은 고딕"/>
                <a:ea typeface="맑은 고딕"/>
              </a:rPr>
              <a:t>사업</a:t>
            </a:r>
          </a:p>
          <a:p>
            <a:pPr algn="l">
              <a:lnSpc>
                <a:spcPct val="113000"/>
              </a:lnSpc>
            </a:pPr>
            <a:r>
              <a:rPr sz="850" b="0">
                <a:solidFill>
                  <a:srgbClr val="676C6B"/>
                </a:solidFill>
                <a:latin typeface="맑은 고딕"/>
                <a:ea typeface="맑은 고딕"/>
              </a:rPr>
              <a:t>신청자</a:t>
            </a:r>
          </a:p>
        </p:txBody>
      </p:sp>
      <p:sp>
        <p:nvSpPr>
          <p:cNvPr id="66" name="t24"/>
          <p:cNvSpPr txBox="1"/>
          <p:nvPr/>
        </p:nvSpPr>
        <p:spPr>
          <a:xfrm>
            <a:off x="5499256" y="7038136"/>
            <a:ext cx="54926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90" b="0">
                <a:solidFill>
                  <a:srgbClr val="67696A"/>
                </a:solidFill>
                <a:latin typeface="맑은 고딕"/>
                <a:ea typeface="맑은 고딕"/>
              </a:rPr>
              <a:t>저무</a:t>
            </a:r>
          </a:p>
          <a:p>
            <a:pPr algn="ctr">
              <a:lnSpc>
                <a:spcPct val="125000"/>
              </a:lnSpc>
            </a:pPr>
            <a:r>
              <a:rPr sz="790" b="0">
                <a:solidFill>
                  <a:srgbClr val="67696A"/>
                </a:solidFill>
                <a:latin typeface="맑은 고딕"/>
                <a:ea typeface="맑은 고딕"/>
              </a:rPr>
              <a:t>건설업체</a:t>
            </a:r>
          </a:p>
        </p:txBody>
      </p:sp>
      <p:sp>
        <p:nvSpPr>
          <p:cNvPr id="67" name="t25"/>
          <p:cNvSpPr txBox="1"/>
          <p:nvPr/>
        </p:nvSpPr>
        <p:spPr>
          <a:xfrm>
            <a:off x="4491112" y="7196685"/>
            <a:ext cx="252843" cy="794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9" b="0">
                <a:solidFill>
                  <a:srgbClr val="7E8384"/>
                </a:solidFill>
                <a:latin typeface="맑은 고딕"/>
                <a:ea typeface="맑은 고딕"/>
              </a:rPr>
              <a:t>누\갖b</a:t>
            </a:r>
          </a:p>
        </p:txBody>
      </p:sp>
      <p:sp>
        <p:nvSpPr>
          <p:cNvPr id="68" name="t26"/>
          <p:cNvSpPr txBox="1"/>
          <p:nvPr/>
        </p:nvSpPr>
        <p:spPr>
          <a:xfrm>
            <a:off x="3452408" y="7831836"/>
            <a:ext cx="62892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20" b="1">
                <a:solidFill>
                  <a:srgbClr val="293237"/>
                </a:solidFill>
                <a:latin typeface="맑은 고딕"/>
                <a:ea typeface="맑은 고딕"/>
              </a:rPr>
              <a:t>SPC</a:t>
            </a:r>
          </a:p>
        </p:txBody>
      </p:sp>
      <p:sp>
        <p:nvSpPr>
          <p:cNvPr id="69" name="t27"/>
          <p:cNvSpPr txBox="1"/>
          <p:nvPr/>
        </p:nvSpPr>
        <p:spPr>
          <a:xfrm>
            <a:off x="792884" y="7875801"/>
            <a:ext cx="877539" cy="169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63839"/>
                </a:solidFill>
                <a:latin typeface="맑은 고딕"/>
                <a:ea typeface="맑은 고딕"/>
              </a:rPr>
              <a:t>한국도로공사</a:t>
            </a:r>
          </a:p>
        </p:txBody>
      </p:sp>
      <p:sp>
        <p:nvSpPr>
          <p:cNvPr id="70" name="t28"/>
          <p:cNvSpPr txBox="1"/>
          <p:nvPr/>
        </p:nvSpPr>
        <p:spPr>
          <a:xfrm>
            <a:off x="5571665" y="7910695"/>
            <a:ext cx="1093654" cy="1463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383B3B"/>
                </a:solidFill>
                <a:latin typeface="맑은 고딕"/>
                <a:ea typeface="맑은 고딕"/>
              </a:rPr>
              <a:t>재무적 투자자(75%)</a:t>
            </a:r>
          </a:p>
        </p:txBody>
      </p:sp>
      <p:sp>
        <p:nvSpPr>
          <p:cNvPr id="71" name="t29"/>
          <p:cNvSpPr txBox="1"/>
          <p:nvPr/>
        </p:nvSpPr>
        <p:spPr>
          <a:xfrm>
            <a:off x="2152021" y="7989009"/>
            <a:ext cx="624760" cy="141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26566"/>
                </a:solidFill>
                <a:latin typeface="맑은 고딕"/>
                <a:ea typeface="맑은 고딕"/>
              </a:rPr>
              <a:t>임대료지급</a:t>
            </a:r>
          </a:p>
        </p:txBody>
      </p:sp>
      <p:sp>
        <p:nvSpPr>
          <p:cNvPr id="72" name="t30"/>
          <p:cNvSpPr txBox="1"/>
          <p:nvPr/>
        </p:nvSpPr>
        <p:spPr>
          <a:xfrm>
            <a:off x="4575285" y="8007585"/>
            <a:ext cx="614371" cy="139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57777"/>
                </a:solidFill>
                <a:latin typeface="맑은 고딕"/>
                <a:ea typeface="맑은 고딕"/>
              </a:rPr>
              <a:t>원리금상환</a:t>
            </a:r>
          </a:p>
        </p:txBody>
      </p:sp>
      <p:sp>
        <p:nvSpPr>
          <p:cNvPr id="73" name="t31"/>
          <p:cNvSpPr txBox="1"/>
          <p:nvPr/>
        </p:nvSpPr>
        <p:spPr>
          <a:xfrm>
            <a:off x="2197741" y="8327337"/>
            <a:ext cx="519604" cy="141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17374"/>
                </a:solidFill>
                <a:latin typeface="맑은 고딕"/>
                <a:ea typeface="맑은 고딕"/>
              </a:rPr>
              <a:t>부지임대</a:t>
            </a:r>
          </a:p>
        </p:txBody>
      </p:sp>
      <p:sp>
        <p:nvSpPr>
          <p:cNvPr id="74" name="t32"/>
          <p:cNvSpPr txBox="1"/>
          <p:nvPr/>
        </p:nvSpPr>
        <p:spPr>
          <a:xfrm>
            <a:off x="3344298" y="8338234"/>
            <a:ext cx="769529" cy="16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4A4B4B"/>
                </a:solidFill>
                <a:latin typeface="맑은 고딕"/>
                <a:ea typeface="맑은 고딕"/>
              </a:rPr>
              <a:t>및 유지관리</a:t>
            </a:r>
          </a:p>
        </p:txBody>
      </p:sp>
      <p:sp>
        <p:nvSpPr>
          <p:cNvPr id="75" name="t33"/>
          <p:cNvSpPr txBox="1"/>
          <p:nvPr/>
        </p:nvSpPr>
        <p:spPr>
          <a:xfrm>
            <a:off x="4734306" y="8338566"/>
            <a:ext cx="3063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7676"/>
                </a:solidFill>
                <a:latin typeface="맑은 고딕"/>
                <a:ea typeface="맑은 고딕"/>
              </a:rPr>
              <a:t>대출</a:t>
            </a:r>
          </a:p>
        </p:txBody>
      </p:sp>
      <p:sp>
        <p:nvSpPr>
          <p:cNvPr id="76" name="t34"/>
          <p:cNvSpPr txBox="1"/>
          <p:nvPr/>
        </p:nvSpPr>
        <p:spPr>
          <a:xfrm>
            <a:off x="1501397" y="9018393"/>
            <a:ext cx="765002" cy="172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353738"/>
                </a:solidFill>
                <a:latin typeface="맑은 고딕"/>
                <a:ea typeface="맑은 고딕"/>
              </a:rPr>
              <a:t>공급사업자</a:t>
            </a:r>
          </a:p>
        </p:txBody>
      </p:sp>
      <p:sp>
        <p:nvSpPr>
          <p:cNvPr id="77" name="t35"/>
          <p:cNvSpPr txBox="1"/>
          <p:nvPr/>
        </p:nvSpPr>
        <p:spPr>
          <a:xfrm>
            <a:off x="5204977" y="9041973"/>
            <a:ext cx="739031" cy="166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53739"/>
                </a:solidFill>
                <a:latin typeface="맑은 고딕"/>
                <a:ea typeface="맑은 고딕"/>
              </a:rPr>
              <a:t>전기사용자</a:t>
            </a:r>
          </a:p>
        </p:txBody>
      </p:sp>
      <p:sp>
        <p:nvSpPr>
          <p:cNvPr id="78" name="t36"/>
          <p:cNvSpPr txBox="1"/>
          <p:nvPr/>
        </p:nvSpPr>
        <p:spPr>
          <a:xfrm>
            <a:off x="3436883" y="9264957"/>
            <a:ext cx="508904" cy="13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163"/>
                </a:solidFill>
                <a:latin typeface="맑은 고딕"/>
                <a:ea typeface="맑은 고딕"/>
              </a:rPr>
              <a:t>전력판매</a:t>
            </a:r>
          </a:p>
        </p:txBody>
      </p:sp>
      <p:sp>
        <p:nvSpPr>
          <p:cNvPr id="79" name="t37"/>
          <p:cNvSpPr txBox="1"/>
          <p:nvPr/>
        </p:nvSpPr>
        <p:spPr>
          <a:xfrm>
            <a:off x="1721358" y="9284970"/>
            <a:ext cx="3063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6666"/>
                </a:solidFill>
                <a:latin typeface="맑은 고딕"/>
                <a:ea typeface="맑은 고딕"/>
              </a:rPr>
              <a:t>전력</a:t>
            </a:r>
          </a:p>
        </p:txBody>
      </p:sp>
      <p:sp>
        <p:nvSpPr>
          <p:cNvPr id="80" name="t38"/>
          <p:cNvSpPr txBox="1"/>
          <p:nvPr/>
        </p:nvSpPr>
        <p:spPr>
          <a:xfrm>
            <a:off x="5544647" y="9338310"/>
            <a:ext cx="4166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6B6F6D"/>
                </a:solidFill>
                <a:latin typeface="맑은 고딕"/>
                <a:ea typeface="맑은 고딕"/>
              </a:rPr>
              <a:t>RE100</a:t>
            </a:r>
          </a:p>
        </p:txBody>
      </p:sp>
      <p:sp>
        <p:nvSpPr>
          <p:cNvPr id="81" name="t39"/>
          <p:cNvSpPr txBox="1"/>
          <p:nvPr/>
        </p:nvSpPr>
        <p:spPr>
          <a:xfrm>
            <a:off x="3441520" y="9598893"/>
            <a:ext cx="503555" cy="13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616364"/>
                </a:solidFill>
                <a:latin typeface="맑은 고딕"/>
                <a:ea typeface="맑은 고딕"/>
              </a:rPr>
              <a:t>대금지급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2834640" y="8686800"/>
            <a:ext cx="1865376" cy="283464"/>
          </a:xfrm>
          <a:prstGeom prst="rect">
            <a:avLst/>
          </a:prstGeom>
          <a:solidFill>
            <a:srgbClr val="E2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2825496" y="7214616"/>
            <a:ext cx="1865376" cy="173736"/>
          </a:xfrm>
          <a:prstGeom prst="rect">
            <a:avLst/>
          </a:prstGeom>
          <a:solidFill>
            <a:srgbClr val="E5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6441948" y="1124712"/>
            <a:ext cx="457200" cy="214884"/>
          </a:xfrm>
          <a:prstGeom prst="rect">
            <a:avLst/>
          </a:prstGeom>
          <a:solidFill>
            <a:srgbClr val="D2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0" descr="p2_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46304"/>
            <a:ext cx="548640" cy="461772"/>
          </a:xfrm>
          <a:prstGeom prst="rect">
            <a:avLst/>
          </a:prstGeom>
        </p:spPr>
      </p:pic>
      <p:pic>
        <p:nvPicPr>
          <p:cNvPr id="6" name="i1" descr="p2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129284"/>
            <a:ext cx="5682996" cy="301752"/>
          </a:xfrm>
          <a:prstGeom prst="rect">
            <a:avLst/>
          </a:prstGeom>
        </p:spPr>
      </p:pic>
      <p:pic>
        <p:nvPicPr>
          <p:cNvPr id="7" name="i2" descr="p2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1623060"/>
            <a:ext cx="6144768" cy="68580"/>
          </a:xfrm>
          <a:prstGeom prst="rect">
            <a:avLst/>
          </a:prstGeom>
        </p:spPr>
      </p:pic>
      <p:pic>
        <p:nvPicPr>
          <p:cNvPr id="8" name="i3" descr="p2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1787652"/>
            <a:ext cx="6044184" cy="8051292"/>
          </a:xfrm>
          <a:prstGeom prst="rect">
            <a:avLst/>
          </a:prstGeom>
        </p:spPr>
      </p:pic>
      <p:cxnSp>
        <p:nvCxnSpPr>
          <p:cNvPr id="9" name="l0"/>
          <p:cNvCxnSpPr/>
          <p:nvPr/>
        </p:nvCxnSpPr>
        <p:spPr>
          <a:xfrm>
            <a:off x="4000500" y="4203954"/>
            <a:ext cx="548640" cy="0"/>
          </a:xfrm>
          <a:prstGeom prst="line">
            <a:avLst/>
          </a:prstGeom>
          <a:ln w="22860">
            <a:solidFill>
              <a:srgbClr val="CDBF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1"/>
          <p:cNvCxnSpPr/>
          <p:nvPr/>
        </p:nvCxnSpPr>
        <p:spPr>
          <a:xfrm>
            <a:off x="5961888" y="8373618"/>
            <a:ext cx="548640" cy="0"/>
          </a:xfrm>
          <a:prstGeom prst="line">
            <a:avLst/>
          </a:prstGeom>
          <a:ln w="13716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2"/>
          <p:cNvCxnSpPr/>
          <p:nvPr/>
        </p:nvCxnSpPr>
        <p:spPr>
          <a:xfrm>
            <a:off x="2839212" y="8963406"/>
            <a:ext cx="320040" cy="0"/>
          </a:xfrm>
          <a:prstGeom prst="line">
            <a:avLst/>
          </a:prstGeom>
          <a:ln w="6350">
            <a:solidFill>
              <a:srgbClr val="D8D7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3"/>
          <p:cNvCxnSpPr/>
          <p:nvPr/>
        </p:nvCxnSpPr>
        <p:spPr>
          <a:xfrm>
            <a:off x="909828" y="9530334"/>
            <a:ext cx="278892" cy="0"/>
          </a:xfrm>
          <a:prstGeom prst="line">
            <a:avLst/>
          </a:prstGeom>
          <a:ln w="6350">
            <a:solidFill>
              <a:srgbClr val="D8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4"/>
          <p:cNvCxnSpPr/>
          <p:nvPr/>
        </p:nvCxnSpPr>
        <p:spPr>
          <a:xfrm>
            <a:off x="6439662" y="1357884"/>
            <a:ext cx="0" cy="288036"/>
          </a:xfrm>
          <a:prstGeom prst="line">
            <a:avLst/>
          </a:prstGeom>
          <a:ln w="6350">
            <a:solidFill>
              <a:srgbClr val="9295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5"/>
          <p:cNvCxnSpPr/>
          <p:nvPr/>
        </p:nvCxnSpPr>
        <p:spPr>
          <a:xfrm>
            <a:off x="868680" y="6972300"/>
            <a:ext cx="0" cy="2839212"/>
          </a:xfrm>
          <a:prstGeom prst="line">
            <a:avLst/>
          </a:prstGeom>
          <a:ln w="27432">
            <a:solidFill>
              <a:srgbClr val="7C8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6"/>
          <p:cNvCxnSpPr/>
          <p:nvPr/>
        </p:nvCxnSpPr>
        <p:spPr>
          <a:xfrm>
            <a:off x="5532120" y="7392924"/>
            <a:ext cx="0" cy="841248"/>
          </a:xfrm>
          <a:prstGeom prst="line">
            <a:avLst/>
          </a:prstGeom>
          <a:ln w="9144">
            <a:solidFill>
              <a:srgbClr val="BBB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7"/>
          <p:cNvCxnSpPr/>
          <p:nvPr/>
        </p:nvCxnSpPr>
        <p:spPr>
          <a:xfrm>
            <a:off x="4167378" y="7397496"/>
            <a:ext cx="0" cy="448056"/>
          </a:xfrm>
          <a:prstGeom prst="line">
            <a:avLst/>
          </a:prstGeom>
          <a:ln w="6350">
            <a:solidFill>
              <a:srgbClr val="B3B7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8"/>
          <p:cNvCxnSpPr/>
          <p:nvPr/>
        </p:nvCxnSpPr>
        <p:spPr>
          <a:xfrm>
            <a:off x="3118104" y="7411212"/>
            <a:ext cx="0" cy="1303020"/>
          </a:xfrm>
          <a:prstGeom prst="line">
            <a:avLst/>
          </a:prstGeom>
          <a:ln w="9144">
            <a:solidFill>
              <a:srgbClr val="B7B7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9"/>
          <p:cNvCxnSpPr/>
          <p:nvPr/>
        </p:nvCxnSpPr>
        <p:spPr>
          <a:xfrm>
            <a:off x="1191006" y="7424928"/>
            <a:ext cx="0" cy="2350008"/>
          </a:xfrm>
          <a:prstGeom prst="line">
            <a:avLst/>
          </a:prstGeom>
          <a:ln w="22860">
            <a:solidFill>
              <a:srgbClr val="ACA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10"/>
          <p:cNvCxnSpPr/>
          <p:nvPr/>
        </p:nvCxnSpPr>
        <p:spPr>
          <a:xfrm>
            <a:off x="4176522" y="7950708"/>
            <a:ext cx="0" cy="1577340"/>
          </a:xfrm>
          <a:prstGeom prst="line">
            <a:avLst/>
          </a:prstGeom>
          <a:ln w="13716">
            <a:solidFill>
              <a:srgbClr val="B0B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11"/>
          <p:cNvCxnSpPr/>
          <p:nvPr/>
        </p:nvCxnSpPr>
        <p:spPr>
          <a:xfrm>
            <a:off x="3127248" y="8883396"/>
            <a:ext cx="0" cy="873252"/>
          </a:xfrm>
          <a:prstGeom prst="line">
            <a:avLst/>
          </a:prstGeom>
          <a:ln w="9144">
            <a:solidFill>
              <a:srgbClr val="AF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0"/>
          <p:cNvSpPr txBox="1"/>
          <p:nvPr/>
        </p:nvSpPr>
        <p:spPr>
          <a:xfrm>
            <a:off x="1386783" y="281443"/>
            <a:ext cx="1038524" cy="281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89" b="1">
                <a:solidFill>
                  <a:srgbClr val="403D47"/>
                </a:solidFill>
                <a:latin typeface="맑은 고딕"/>
                <a:ea typeface="맑은 고딕"/>
              </a:rPr>
              <a:t>건설계획</a:t>
            </a:r>
          </a:p>
        </p:txBody>
      </p:sp>
      <p:sp>
        <p:nvSpPr>
          <p:cNvPr id="22" name="t1"/>
          <p:cNvSpPr txBox="1"/>
          <p:nvPr/>
        </p:nvSpPr>
        <p:spPr>
          <a:xfrm>
            <a:off x="750498" y="382409"/>
            <a:ext cx="330042" cy="9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>
                <a:solidFill>
                  <a:srgbClr val="94B6D5"/>
                </a:solidFill>
                <a:latin typeface="맑은 고딕"/>
                <a:ea typeface="맑은 고딕"/>
              </a:rPr>
              <a:t>Chapter</a:t>
            </a:r>
          </a:p>
        </p:txBody>
      </p:sp>
      <p:sp>
        <p:nvSpPr>
          <p:cNvPr id="23" name="t2"/>
          <p:cNvSpPr txBox="1"/>
          <p:nvPr/>
        </p:nvSpPr>
        <p:spPr>
          <a:xfrm>
            <a:off x="737724" y="920967"/>
            <a:ext cx="1525741" cy="1760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A3F3F"/>
                </a:solidFill>
                <a:latin typeface="맑은 고딕"/>
                <a:ea typeface="맑은 고딕"/>
              </a:rPr>
              <a:t>ü 전체 사업대상지 현황</a:t>
            </a:r>
          </a:p>
        </p:txBody>
      </p:sp>
      <p:sp>
        <p:nvSpPr>
          <p:cNvPr id="24" name="t3"/>
          <p:cNvSpPr txBox="1"/>
          <p:nvPr/>
        </p:nvSpPr>
        <p:spPr>
          <a:xfrm>
            <a:off x="6511716" y="1157478"/>
            <a:ext cx="406359" cy="185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272C2C"/>
                </a:solidFill>
                <a:latin typeface="맑은 고딕"/>
                <a:ea typeface="맑은 고딕"/>
              </a:rPr>
              <a:t>비고</a:t>
            </a:r>
          </a:p>
        </p:txBody>
      </p:sp>
      <p:sp>
        <p:nvSpPr>
          <p:cNvPr id="25" name="t4"/>
          <p:cNvSpPr txBox="1"/>
          <p:nvPr/>
        </p:nvSpPr>
        <p:spPr>
          <a:xfrm>
            <a:off x="3806999" y="1176489"/>
            <a:ext cx="932121" cy="143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252829"/>
                </a:solidFill>
                <a:latin typeface="맑은 고딕"/>
                <a:ea typeface="맑은 고딕"/>
              </a:rPr>
              <a:t>권 역(행정소,ÄH)</a:t>
            </a:r>
          </a:p>
        </p:txBody>
      </p:sp>
      <p:sp>
        <p:nvSpPr>
          <p:cNvPr id="26" name="t5"/>
          <p:cNvSpPr txBox="1"/>
          <p:nvPr/>
        </p:nvSpPr>
        <p:spPr>
          <a:xfrm>
            <a:off x="810750" y="1208653"/>
            <a:ext cx="1243791" cy="1788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272A2B"/>
                </a:solidFill>
                <a:latin typeface="맑은 고딕"/>
                <a:ea typeface="맑은 고딕"/>
              </a:rPr>
              <a:t>권역번호 사업규모</a:t>
            </a:r>
          </a:p>
        </p:txBody>
      </p:sp>
      <p:sp>
        <p:nvSpPr>
          <p:cNvPr id="27" name="t6"/>
          <p:cNvSpPr txBox="1"/>
          <p:nvPr/>
        </p:nvSpPr>
        <p:spPr>
          <a:xfrm>
            <a:off x="1447527" y="1422489"/>
            <a:ext cx="5032470" cy="1506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3D3F3E"/>
                </a:solidFill>
                <a:latin typeface="맑은 고딕"/>
                <a:ea typeface="맑은 고딕"/>
              </a:rPr>
              <a:t>10,062.60 경2도 강원되 충청북도 충청남도 서을특별人I, 인천릥쪅人L 대진쾽쪅人I 서종특별자大시</a:t>
            </a:r>
          </a:p>
        </p:txBody>
      </p:sp>
      <p:sp>
        <p:nvSpPr>
          <p:cNvPr id="28" name="t7"/>
          <p:cNvSpPr txBox="1"/>
          <p:nvPr/>
        </p:nvSpPr>
        <p:spPr>
          <a:xfrm>
            <a:off x="1026962" y="1477518"/>
            <a:ext cx="139720" cy="149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13334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9" name="t8"/>
          <p:cNvSpPr txBox="1"/>
          <p:nvPr/>
        </p:nvSpPr>
        <p:spPr>
          <a:xfrm>
            <a:off x="4195792" y="2726877"/>
            <a:ext cx="408839" cy="13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B06A9C"/>
                </a:solidFill>
                <a:latin typeface="맑은 고딕"/>
                <a:ea typeface="맑은 고딕"/>
              </a:rPr>
              <a:t>중앙선</a:t>
            </a:r>
          </a:p>
        </p:txBody>
      </p:sp>
      <p:sp>
        <p:nvSpPr>
          <p:cNvPr id="30" name="t9"/>
          <p:cNvSpPr txBox="1"/>
          <p:nvPr/>
        </p:nvSpPr>
        <p:spPr>
          <a:xfrm>
            <a:off x="4547836" y="3097209"/>
            <a:ext cx="408839" cy="13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4C4C4D"/>
                </a:solidFill>
                <a:latin typeface="맑은 고딕"/>
                <a:ea typeface="맑은 고딕"/>
              </a:rPr>
              <a:t>강원도</a:t>
            </a:r>
          </a:p>
        </p:txBody>
      </p:sp>
      <p:sp>
        <p:nvSpPr>
          <p:cNvPr id="31" name="t10"/>
          <p:cNvSpPr txBox="1"/>
          <p:nvPr/>
        </p:nvSpPr>
        <p:spPr>
          <a:xfrm>
            <a:off x="2471615" y="3328901"/>
            <a:ext cx="511245" cy="1515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83827D"/>
                </a:solidFill>
                <a:latin typeface="맑은 고딕"/>
                <a:ea typeface="맑은 고딕"/>
              </a:rPr>
              <a:t>&lt;%서을</a:t>
            </a:r>
          </a:p>
        </p:txBody>
      </p:sp>
      <p:sp>
        <p:nvSpPr>
          <p:cNvPr id="32" name="t11"/>
          <p:cNvSpPr txBox="1"/>
          <p:nvPr/>
        </p:nvSpPr>
        <p:spPr>
          <a:xfrm>
            <a:off x="3506506" y="3416712"/>
            <a:ext cx="971870" cy="217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1">
                <a:solidFill>
                  <a:srgbClr val="8E7381"/>
                </a:solidFill>
                <a:latin typeface="맑은 고딕"/>
                <a:ea typeface="맑은 고딕"/>
              </a:rPr>
              <a:t>\ 중부선 0</a:t>
            </a:r>
          </a:p>
        </p:txBody>
      </p:sp>
      <p:sp>
        <p:nvSpPr>
          <p:cNvPr id="33" name="t12"/>
          <p:cNvSpPr txBox="1"/>
          <p:nvPr/>
        </p:nvSpPr>
        <p:spPr>
          <a:xfrm>
            <a:off x="2235338" y="3552433"/>
            <a:ext cx="383908" cy="1189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8A8B8A"/>
                </a:solidFill>
                <a:latin typeface="맑은 고딕"/>
                <a:ea typeface="맑은 고딕"/>
              </a:rPr>
              <a:t>의인천-</a:t>
            </a:r>
          </a:p>
        </p:txBody>
      </p:sp>
      <p:sp>
        <p:nvSpPr>
          <p:cNvPr id="34" name="t13"/>
          <p:cNvSpPr txBox="1"/>
          <p:nvPr/>
        </p:nvSpPr>
        <p:spPr>
          <a:xfrm>
            <a:off x="2691454" y="3723158"/>
            <a:ext cx="689524" cy="1430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95B1B4"/>
                </a:solidFill>
                <a:latin typeface="맑은 고딕"/>
                <a:ea typeface="맑은 고딕"/>
              </a:rPr>
              <a:t>구•” 경기로`</a:t>
            </a:r>
          </a:p>
        </p:txBody>
      </p:sp>
      <p:sp>
        <p:nvSpPr>
          <p:cNvPr id="35" name="t14"/>
          <p:cNvSpPr txBox="1"/>
          <p:nvPr/>
        </p:nvSpPr>
        <p:spPr>
          <a:xfrm>
            <a:off x="4077858" y="4032504"/>
            <a:ext cx="525597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B39FAD"/>
                </a:solidFill>
                <a:latin typeface="맑은 고딕"/>
                <a:ea typeface="맑은 고딕"/>
              </a:rPr>
              <a:t>여도서 `</a:t>
            </a:r>
          </a:p>
        </p:txBody>
      </p:sp>
      <p:sp>
        <p:nvSpPr>
          <p:cNvPr id="36" name="t15"/>
          <p:cNvSpPr txBox="1"/>
          <p:nvPr/>
        </p:nvSpPr>
        <p:spPr>
          <a:xfrm>
            <a:off x="4194133" y="4111142"/>
            <a:ext cx="250435" cy="74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0" b="1">
                <a:solidFill>
                  <a:srgbClr val="A95F93"/>
                </a:solidFill>
                <a:latin typeface="맑은 고딕"/>
                <a:ea typeface="맑은 고딕"/>
              </a:rPr>
              <a:t>0 L—</a:t>
            </a:r>
          </a:p>
        </p:txBody>
      </p:sp>
      <p:sp>
        <p:nvSpPr>
          <p:cNvPr id="37" name="t16"/>
          <p:cNvSpPr txBox="1"/>
          <p:nvPr/>
        </p:nvSpPr>
        <p:spPr>
          <a:xfrm>
            <a:off x="3244671" y="4175800"/>
            <a:ext cx="817483" cy="14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9E7E98"/>
                </a:solidFill>
                <a:latin typeface="맑은 고딕"/>
                <a:ea typeface="맑은 고딕"/>
              </a:rPr>
              <a:t>평택제첱선닣\</a:t>
            </a:r>
          </a:p>
        </p:txBody>
      </p:sp>
      <p:sp>
        <p:nvSpPr>
          <p:cNvPr id="38" name="t17"/>
          <p:cNvSpPr txBox="1"/>
          <p:nvPr/>
        </p:nvSpPr>
        <p:spPr>
          <a:xfrm>
            <a:off x="1763722" y="4432885"/>
            <a:ext cx="863223" cy="1345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9D7894"/>
                </a:solidFill>
                <a:latin typeface="맑은 고딕"/>
                <a:ea typeface="맑은 고딕"/>
              </a:rPr>
              <a:t>당집청준선나~겨</a:t>
            </a:r>
          </a:p>
        </p:txBody>
      </p:sp>
      <p:sp>
        <p:nvSpPr>
          <p:cNvPr id="39" name="t18"/>
          <p:cNvSpPr txBox="1"/>
          <p:nvPr/>
        </p:nvSpPr>
        <p:spPr>
          <a:xfrm>
            <a:off x="3361700" y="4709160"/>
            <a:ext cx="35497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" b="1">
                <a:solidFill>
                  <a:srgbClr val="A36597"/>
                </a:solidFill>
                <a:latin typeface="맑은 고딕"/>
                <a:ea typeface="맑은 고딕"/>
              </a:rPr>
              <a:t>0 丁 드</a:t>
            </a:r>
          </a:p>
        </p:txBody>
      </p:sp>
      <p:sp>
        <p:nvSpPr>
          <p:cNvPr id="40" name="t19"/>
          <p:cNvSpPr txBox="1"/>
          <p:nvPr/>
        </p:nvSpPr>
        <p:spPr>
          <a:xfrm>
            <a:off x="2145182" y="4704588"/>
            <a:ext cx="263347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7B42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41" name="t20"/>
          <p:cNvSpPr txBox="1"/>
          <p:nvPr/>
        </p:nvSpPr>
        <p:spPr>
          <a:xfrm>
            <a:off x="3738505" y="4715457"/>
            <a:ext cx="519604" cy="141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>
                <a:solidFill>
                  <a:srgbClr val="3D3F3F"/>
                </a:solidFill>
                <a:latin typeface="맑은 고딕"/>
                <a:ea typeface="맑은 고딕"/>
              </a:rPr>
              <a:t>충청북도</a:t>
            </a:r>
          </a:p>
        </p:txBody>
      </p:sp>
      <p:sp>
        <p:nvSpPr>
          <p:cNvPr id="42" name="t21"/>
          <p:cNvSpPr txBox="1"/>
          <p:nvPr/>
        </p:nvSpPr>
        <p:spPr>
          <a:xfrm>
            <a:off x="2907426" y="4846320"/>
            <a:ext cx="136977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C9C8B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3" name="t22"/>
          <p:cNvSpPr txBox="1"/>
          <p:nvPr/>
        </p:nvSpPr>
        <p:spPr>
          <a:xfrm>
            <a:off x="3044586" y="4846320"/>
            <a:ext cx="132405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C2C4BE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4" name="t23"/>
          <p:cNvSpPr txBox="1"/>
          <p:nvPr/>
        </p:nvSpPr>
        <p:spPr>
          <a:xfrm>
            <a:off x="3177174" y="4846320"/>
            <a:ext cx="132405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C1C9BE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45" name="t24"/>
          <p:cNvSpPr txBox="1"/>
          <p:nvPr/>
        </p:nvSpPr>
        <p:spPr>
          <a:xfrm>
            <a:off x="3373770" y="4951476"/>
            <a:ext cx="187269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D6DCD7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46" name="t25"/>
          <p:cNvSpPr txBox="1"/>
          <p:nvPr/>
        </p:nvSpPr>
        <p:spPr>
          <a:xfrm>
            <a:off x="1539520" y="5182209"/>
            <a:ext cx="636713" cy="1383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16496"/>
                </a:solidFill>
                <a:latin typeface="맑은 고딕"/>
                <a:ea typeface="맑은 고딕"/>
              </a:rPr>
              <a:t>서산영덕선.</a:t>
            </a:r>
          </a:p>
        </p:txBody>
      </p:sp>
      <p:sp>
        <p:nvSpPr>
          <p:cNvPr id="47" name="t26"/>
          <p:cNvSpPr txBox="1"/>
          <p:nvPr/>
        </p:nvSpPr>
        <p:spPr>
          <a:xfrm>
            <a:off x="2301592" y="5274189"/>
            <a:ext cx="727286" cy="170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A773E"/>
                </a:solidFill>
                <a:latin typeface="맑은 고딕"/>
                <a:ea typeface="맑은 고딕"/>
              </a:rPr>
              <a:t>충청남도O</a:t>
            </a:r>
          </a:p>
        </p:txBody>
      </p:sp>
      <p:sp>
        <p:nvSpPr>
          <p:cNvPr id="48" name="t27"/>
          <p:cNvSpPr txBox="1"/>
          <p:nvPr/>
        </p:nvSpPr>
        <p:spPr>
          <a:xfrm>
            <a:off x="5041655" y="5442765"/>
            <a:ext cx="508904" cy="13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45556"/>
                </a:solidFill>
                <a:latin typeface="맑은 고딕"/>
                <a:ea typeface="맑은 고딕"/>
              </a:rPr>
              <a:t>경상북도</a:t>
            </a:r>
          </a:p>
        </p:txBody>
      </p:sp>
      <p:sp>
        <p:nvSpPr>
          <p:cNvPr id="49" name="t28"/>
          <p:cNvSpPr txBox="1"/>
          <p:nvPr/>
        </p:nvSpPr>
        <p:spPr>
          <a:xfrm>
            <a:off x="3307842" y="5609082"/>
            <a:ext cx="3063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C5D5D"/>
                </a:solidFill>
                <a:latin typeface="맑은 고딕"/>
                <a:ea typeface="맑은 고딕"/>
              </a:rPr>
              <a:t>대전</a:t>
            </a:r>
          </a:p>
        </p:txBody>
      </p:sp>
      <p:sp>
        <p:nvSpPr>
          <p:cNvPr id="50" name="t29"/>
          <p:cNvSpPr txBox="1"/>
          <p:nvPr/>
        </p:nvSpPr>
        <p:spPr>
          <a:xfrm>
            <a:off x="1525787" y="5630217"/>
            <a:ext cx="508904" cy="13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5629B"/>
                </a:solidFill>
                <a:latin typeface="맑은 고딕"/>
                <a:ea typeface="맑은 고딕"/>
              </a:rPr>
              <a:t>서해안선</a:t>
            </a:r>
          </a:p>
        </p:txBody>
      </p:sp>
      <p:sp>
        <p:nvSpPr>
          <p:cNvPr id="51" name="t30"/>
          <p:cNvSpPr txBox="1"/>
          <p:nvPr/>
        </p:nvSpPr>
        <p:spPr>
          <a:xfrm>
            <a:off x="4943231" y="6341321"/>
            <a:ext cx="633863" cy="1923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CC5"/>
                </a:solidFill>
                <a:latin typeface="맑은 고딕"/>
                <a:ea typeface="맑은 고딕"/>
              </a:rPr>
              <a:t>〔수배휘</a:t>
            </a:r>
          </a:p>
        </p:txBody>
      </p:sp>
      <p:sp>
        <p:nvSpPr>
          <p:cNvPr id="52" name="t31"/>
          <p:cNvSpPr txBox="1"/>
          <p:nvPr/>
        </p:nvSpPr>
        <p:spPr>
          <a:xfrm>
            <a:off x="2819598" y="6576441"/>
            <a:ext cx="514254" cy="14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4E4E4E"/>
                </a:solidFill>
                <a:latin typeface="맑은 고딕"/>
                <a:ea typeface="맑은 고딕"/>
              </a:rPr>
              <a:t>전라북도</a:t>
            </a:r>
          </a:p>
        </p:txBody>
      </p:sp>
      <p:sp>
        <p:nvSpPr>
          <p:cNvPr id="53" name="t32"/>
          <p:cNvSpPr txBox="1"/>
          <p:nvPr/>
        </p:nvSpPr>
        <p:spPr>
          <a:xfrm>
            <a:off x="4926394" y="6967145"/>
            <a:ext cx="1201661" cy="1601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>
                <a:solidFill>
                  <a:srgbClr val="D6F4FA"/>
                </a:solidFill>
                <a:latin typeface="맑은 고딕"/>
                <a:ea typeface="맑은 고딕"/>
              </a:rPr>
              <a:t>지역별 •노선별 현황</a:t>
            </a:r>
          </a:p>
        </p:txBody>
      </p:sp>
      <p:sp>
        <p:nvSpPr>
          <p:cNvPr id="54" name="t33"/>
          <p:cNvSpPr txBox="1"/>
          <p:nvPr/>
        </p:nvSpPr>
        <p:spPr>
          <a:xfrm>
            <a:off x="6151351" y="6975348"/>
            <a:ext cx="323331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595C5D"/>
                </a:solidFill>
                <a:latin typeface="맑은 고딕"/>
                <a:ea typeface="맑은 고딕"/>
              </a:rPr>
              <a:t>울산</a:t>
            </a:r>
          </a:p>
        </p:txBody>
      </p:sp>
      <p:sp>
        <p:nvSpPr>
          <p:cNvPr id="55" name="t34"/>
          <p:cNvSpPr txBox="1"/>
          <p:nvPr/>
        </p:nvSpPr>
        <p:spPr>
          <a:xfrm>
            <a:off x="971527" y="7003479"/>
            <a:ext cx="759222" cy="1620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5F4F9"/>
                </a:solidFill>
                <a:latin typeface="맑은 고딕"/>
                <a:ea typeface="맑은 고딕"/>
              </a:rPr>
              <a:t>위치별 현황</a:t>
            </a:r>
          </a:p>
        </p:txBody>
      </p:sp>
      <p:sp>
        <p:nvSpPr>
          <p:cNvPr id="56" name="t35"/>
          <p:cNvSpPr txBox="1"/>
          <p:nvPr/>
        </p:nvSpPr>
        <p:spPr>
          <a:xfrm>
            <a:off x="6363998" y="7215004"/>
            <a:ext cx="368468" cy="11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E3132"/>
                </a:solidFill>
                <a:latin typeface="맑은 고딕"/>
                <a:ea typeface="맑은 고딕"/>
              </a:rPr>
              <a:t>개소 수</a:t>
            </a:r>
          </a:p>
        </p:txBody>
      </p:sp>
      <p:sp>
        <p:nvSpPr>
          <p:cNvPr id="57" name="t36"/>
          <p:cNvSpPr txBox="1"/>
          <p:nvPr/>
        </p:nvSpPr>
        <p:spPr>
          <a:xfrm>
            <a:off x="5673693" y="7219762"/>
            <a:ext cx="417959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13133"/>
                </a:solidFill>
                <a:latin typeface="맑은 고딕"/>
                <a:ea typeface="맑은 고딕"/>
              </a:rPr>
              <a:t>설치용량</a:t>
            </a:r>
          </a:p>
        </p:txBody>
      </p:sp>
      <p:sp>
        <p:nvSpPr>
          <p:cNvPr id="58" name="t37"/>
          <p:cNvSpPr txBox="1"/>
          <p:nvPr/>
        </p:nvSpPr>
        <p:spPr>
          <a:xfrm>
            <a:off x="5041727" y="7226046"/>
            <a:ext cx="36630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414549"/>
                </a:solidFill>
                <a:latin typeface="맑은 고딕"/>
                <a:ea typeface="맑은 고딕"/>
              </a:rPr>
              <a:t>구 분</a:t>
            </a:r>
          </a:p>
        </p:txBody>
      </p:sp>
      <p:sp>
        <p:nvSpPr>
          <p:cNvPr id="59" name="t38"/>
          <p:cNvSpPr txBox="1"/>
          <p:nvPr/>
        </p:nvSpPr>
        <p:spPr>
          <a:xfrm>
            <a:off x="4247164" y="7233298"/>
            <a:ext cx="423309" cy="1157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53637"/>
                </a:solidFill>
                <a:latin typeface="맑은 고딕"/>
                <a:ea typeface="맑은 고딕"/>
              </a:rPr>
              <a:t>설치용량</a:t>
            </a:r>
          </a:p>
        </p:txBody>
      </p:sp>
      <p:sp>
        <p:nvSpPr>
          <p:cNvPr id="60" name="t39"/>
          <p:cNvSpPr txBox="1"/>
          <p:nvPr/>
        </p:nvSpPr>
        <p:spPr>
          <a:xfrm>
            <a:off x="3616293" y="7238050"/>
            <a:ext cx="417959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313233"/>
                </a:solidFill>
                <a:latin typeface="맑은 고딕"/>
                <a:ea typeface="맑은 고딕"/>
              </a:rPr>
              <a:t>사업위치</a:t>
            </a:r>
          </a:p>
        </p:txBody>
      </p:sp>
      <p:sp>
        <p:nvSpPr>
          <p:cNvPr id="61" name="t40"/>
          <p:cNvSpPr txBox="1"/>
          <p:nvPr/>
        </p:nvSpPr>
        <p:spPr>
          <a:xfrm>
            <a:off x="2838023" y="7244334"/>
            <a:ext cx="3023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303234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62" name="t41"/>
          <p:cNvSpPr txBox="1"/>
          <p:nvPr/>
        </p:nvSpPr>
        <p:spPr>
          <a:xfrm>
            <a:off x="2313208" y="7251586"/>
            <a:ext cx="423309" cy="1157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D3D3F"/>
                </a:solidFill>
                <a:latin typeface="맑은 고딕"/>
                <a:ea typeface="맑은 고딕"/>
              </a:rPr>
              <a:t>설치용량</a:t>
            </a:r>
          </a:p>
        </p:txBody>
      </p:sp>
      <p:sp>
        <p:nvSpPr>
          <p:cNvPr id="63" name="t42"/>
          <p:cNvSpPr txBox="1"/>
          <p:nvPr/>
        </p:nvSpPr>
        <p:spPr>
          <a:xfrm>
            <a:off x="1686973" y="7256518"/>
            <a:ext cx="412610" cy="1128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414445"/>
                </a:solidFill>
                <a:latin typeface="맑은 고딕"/>
                <a:ea typeface="맑은 고딕"/>
              </a:rPr>
              <a:t>사업위치</a:t>
            </a:r>
          </a:p>
        </p:txBody>
      </p:sp>
      <p:sp>
        <p:nvSpPr>
          <p:cNvPr id="64" name="t43"/>
          <p:cNvSpPr txBox="1"/>
          <p:nvPr/>
        </p:nvSpPr>
        <p:spPr>
          <a:xfrm>
            <a:off x="913211" y="7262622"/>
            <a:ext cx="29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323334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65" name="t44"/>
          <p:cNvSpPr txBox="1"/>
          <p:nvPr/>
        </p:nvSpPr>
        <p:spPr>
          <a:xfrm>
            <a:off x="6451292" y="7421929"/>
            <a:ext cx="276484" cy="106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5B5B5C"/>
                </a:solidFill>
                <a:latin typeface="맑은 고딕"/>
                <a:ea typeface="맑은 고딕"/>
              </a:rPr>
              <a:t>4개소</a:t>
            </a:r>
          </a:p>
        </p:txBody>
      </p:sp>
      <p:sp>
        <p:nvSpPr>
          <p:cNvPr id="66" name="t45"/>
          <p:cNvSpPr txBox="1"/>
          <p:nvPr/>
        </p:nvSpPr>
        <p:spPr>
          <a:xfrm>
            <a:off x="5075430" y="7436506"/>
            <a:ext cx="291051" cy="99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1">
                <a:solidFill>
                  <a:srgbClr val="474C4C"/>
                </a:solidFill>
                <a:latin typeface="맑은 고딕"/>
                <a:ea typeface="맑은 고딕"/>
              </a:rPr>
              <a:t>경기권</a:t>
            </a:r>
          </a:p>
        </p:txBody>
      </p:sp>
      <p:sp>
        <p:nvSpPr>
          <p:cNvPr id="67" name="t46"/>
          <p:cNvSpPr txBox="1"/>
          <p:nvPr/>
        </p:nvSpPr>
        <p:spPr>
          <a:xfrm>
            <a:off x="5664743" y="7435186"/>
            <a:ext cx="497922" cy="1099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3696A"/>
                </a:solidFill>
                <a:latin typeface="맑은 고딕"/>
                <a:ea typeface="맑은 고딕"/>
              </a:rPr>
              <a:t>2,071.20kW</a:t>
            </a:r>
          </a:p>
        </p:txBody>
      </p:sp>
      <p:sp>
        <p:nvSpPr>
          <p:cNvPr id="68" name="t47"/>
          <p:cNvSpPr txBox="1"/>
          <p:nvPr/>
        </p:nvSpPr>
        <p:spPr>
          <a:xfrm>
            <a:off x="2871856" y="7433310"/>
            <a:ext cx="280355" cy="1981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E8148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69" name="t48"/>
          <p:cNvSpPr txBox="1"/>
          <p:nvPr/>
        </p:nvSpPr>
        <p:spPr>
          <a:xfrm>
            <a:off x="1220445" y="7457173"/>
            <a:ext cx="1082338" cy="116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555757"/>
                </a:solidFill>
                <a:latin typeface="맑은 고딕"/>
                <a:ea typeface="맑은 고딕"/>
              </a:rPr>
              <a:t>평택제천선(19.74~19.84k)</a:t>
            </a:r>
          </a:p>
        </p:txBody>
      </p:sp>
      <p:sp>
        <p:nvSpPr>
          <p:cNvPr id="70" name="t49"/>
          <p:cNvSpPr txBox="1"/>
          <p:nvPr/>
        </p:nvSpPr>
        <p:spPr>
          <a:xfrm>
            <a:off x="3172850" y="7457620"/>
            <a:ext cx="993536" cy="1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B5C5C"/>
                </a:solidFill>
                <a:latin typeface="맑은 고딕"/>
                <a:ea typeface="맑은 고딕"/>
              </a:rPr>
              <a:t>서해안선 (251.2~251.7k)</a:t>
            </a:r>
          </a:p>
        </p:txBody>
      </p:sp>
      <p:sp>
        <p:nvSpPr>
          <p:cNvPr id="71" name="t50"/>
          <p:cNvSpPr txBox="1"/>
          <p:nvPr/>
        </p:nvSpPr>
        <p:spPr>
          <a:xfrm>
            <a:off x="4283971" y="7462541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626364"/>
                </a:solidFill>
                <a:latin typeface="맑은 고딕"/>
                <a:ea typeface="맑은 고딕"/>
              </a:rPr>
              <a:t>999.60kW</a:t>
            </a:r>
          </a:p>
        </p:txBody>
      </p:sp>
      <p:sp>
        <p:nvSpPr>
          <p:cNvPr id="72" name="t51"/>
          <p:cNvSpPr txBox="1"/>
          <p:nvPr/>
        </p:nvSpPr>
        <p:spPr>
          <a:xfrm>
            <a:off x="2345733" y="7467917"/>
            <a:ext cx="435346" cy="1041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5F6261"/>
                </a:solidFill>
                <a:latin typeface="맑은 고딕"/>
                <a:ea typeface="맑은 고딕"/>
              </a:rPr>
              <a:t>380.40kW</a:t>
            </a:r>
          </a:p>
        </p:txBody>
      </p:sp>
      <p:sp>
        <p:nvSpPr>
          <p:cNvPr id="73" name="t52"/>
          <p:cNvSpPr txBox="1"/>
          <p:nvPr/>
        </p:nvSpPr>
        <p:spPr>
          <a:xfrm>
            <a:off x="6414823" y="7637109"/>
            <a:ext cx="311781" cy="1039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5F6263"/>
                </a:solidFill>
                <a:latin typeface="맑은 고딕"/>
                <a:ea typeface="맑은 고딕"/>
              </a:rPr>
              <a:t>11개소</a:t>
            </a:r>
          </a:p>
        </p:txBody>
      </p:sp>
      <p:sp>
        <p:nvSpPr>
          <p:cNvPr id="74" name="t53"/>
          <p:cNvSpPr txBox="1"/>
          <p:nvPr/>
        </p:nvSpPr>
        <p:spPr>
          <a:xfrm>
            <a:off x="4979286" y="7646451"/>
            <a:ext cx="480089" cy="102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0" b="1">
                <a:solidFill>
                  <a:srgbClr val="535455"/>
                </a:solidFill>
                <a:latin typeface="맑은 고딕"/>
                <a:ea typeface="맑은 고딕"/>
              </a:rPr>
              <a:t>충남/충북권</a:t>
            </a:r>
          </a:p>
        </p:txBody>
      </p:sp>
      <p:sp>
        <p:nvSpPr>
          <p:cNvPr id="75" name="t54"/>
          <p:cNvSpPr txBox="1"/>
          <p:nvPr/>
        </p:nvSpPr>
        <p:spPr>
          <a:xfrm>
            <a:off x="5664998" y="7650778"/>
            <a:ext cx="499437" cy="104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65686A"/>
                </a:solidFill>
                <a:latin typeface="맑은 고딕"/>
                <a:ea typeface="맑은 고딕"/>
              </a:rPr>
              <a:t>7.746.00kW</a:t>
            </a:r>
          </a:p>
        </p:txBody>
      </p:sp>
      <p:sp>
        <p:nvSpPr>
          <p:cNvPr id="76" name="t55"/>
          <p:cNvSpPr txBox="1"/>
          <p:nvPr/>
        </p:nvSpPr>
        <p:spPr>
          <a:xfrm>
            <a:off x="1220327" y="7676303"/>
            <a:ext cx="1115751" cy="119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A5D5C"/>
                </a:solidFill>
                <a:latin typeface="맑은 고딕"/>
                <a:ea typeface="맑은 고딕"/>
              </a:rPr>
              <a:t>평택제천선(13.45~13.6k) !</a:t>
            </a:r>
          </a:p>
        </p:txBody>
      </p:sp>
      <p:sp>
        <p:nvSpPr>
          <p:cNvPr id="77" name="t56"/>
          <p:cNvSpPr txBox="1"/>
          <p:nvPr/>
        </p:nvSpPr>
        <p:spPr>
          <a:xfrm>
            <a:off x="2350015" y="7700285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E605F"/>
                </a:solidFill>
                <a:latin typeface="맑은 고딕"/>
                <a:ea typeface="맑은 고딕"/>
              </a:rPr>
              <a:t>272.40kW</a:t>
            </a:r>
          </a:p>
        </p:txBody>
      </p:sp>
      <p:sp>
        <p:nvSpPr>
          <p:cNvPr id="78" name="t57"/>
          <p:cNvSpPr txBox="1"/>
          <p:nvPr/>
        </p:nvSpPr>
        <p:spPr>
          <a:xfrm>
            <a:off x="2871581" y="7693152"/>
            <a:ext cx="274502" cy="204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39784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79" name="t58"/>
          <p:cNvSpPr txBox="1"/>
          <p:nvPr/>
        </p:nvSpPr>
        <p:spPr>
          <a:xfrm>
            <a:off x="3177443" y="7718283"/>
            <a:ext cx="952135" cy="112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35555"/>
                </a:solidFill>
                <a:latin typeface="맑은 고딕"/>
                <a:ea typeface="맑은 고딕"/>
              </a:rPr>
              <a:t>경부선 (305.2~305.44k)</a:t>
            </a:r>
          </a:p>
        </p:txBody>
      </p:sp>
      <p:sp>
        <p:nvSpPr>
          <p:cNvPr id="80" name="t59"/>
          <p:cNvSpPr txBox="1"/>
          <p:nvPr/>
        </p:nvSpPr>
        <p:spPr>
          <a:xfrm>
            <a:off x="4283913" y="7722982"/>
            <a:ext cx="444094" cy="111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B5F60"/>
                </a:solidFill>
                <a:latin typeface="맑은 고딕"/>
                <a:ea typeface="맑은 고딕"/>
              </a:rPr>
              <a:t>678.60kW</a:t>
            </a:r>
          </a:p>
        </p:txBody>
      </p:sp>
      <p:sp>
        <p:nvSpPr>
          <p:cNvPr id="81" name="t60"/>
          <p:cNvSpPr txBox="1"/>
          <p:nvPr/>
        </p:nvSpPr>
        <p:spPr>
          <a:xfrm>
            <a:off x="6455966" y="7851979"/>
            <a:ext cx="270692" cy="104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585C5C"/>
                </a:solidFill>
                <a:latin typeface="맑은 고딕"/>
                <a:ea typeface="맑은 고딕"/>
              </a:rPr>
              <a:t>3개소</a:t>
            </a:r>
          </a:p>
        </p:txBody>
      </p:sp>
      <p:sp>
        <p:nvSpPr>
          <p:cNvPr id="82" name="t61"/>
          <p:cNvSpPr txBox="1"/>
          <p:nvPr/>
        </p:nvSpPr>
        <p:spPr>
          <a:xfrm>
            <a:off x="5075344" y="7861462"/>
            <a:ext cx="296660" cy="1013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555858"/>
                </a:solidFill>
                <a:latin typeface="맑은 고딕"/>
                <a:ea typeface="맑은 고딕"/>
              </a:rPr>
              <a:t>강원권</a:t>
            </a:r>
          </a:p>
        </p:txBody>
      </p:sp>
      <p:sp>
        <p:nvSpPr>
          <p:cNvPr id="83" name="t62"/>
          <p:cNvSpPr txBox="1"/>
          <p:nvPr/>
        </p:nvSpPr>
        <p:spPr>
          <a:xfrm>
            <a:off x="5664998" y="7865662"/>
            <a:ext cx="499437" cy="104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616566"/>
                </a:solidFill>
                <a:latin typeface="맑은 고딕"/>
                <a:ea typeface="맑은 고딕"/>
              </a:rPr>
              <a:t>2.490.00kW</a:t>
            </a:r>
          </a:p>
        </p:txBody>
      </p:sp>
      <p:sp>
        <p:nvSpPr>
          <p:cNvPr id="84" name="t63"/>
          <p:cNvSpPr txBox="1"/>
          <p:nvPr/>
        </p:nvSpPr>
        <p:spPr>
          <a:xfrm>
            <a:off x="942472" y="7908798"/>
            <a:ext cx="271211" cy="1981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318548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85" name="t64"/>
          <p:cNvSpPr txBox="1"/>
          <p:nvPr/>
        </p:nvSpPr>
        <p:spPr>
          <a:xfrm>
            <a:off x="1225149" y="7928458"/>
            <a:ext cx="916152" cy="1139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C5E5F"/>
                </a:solidFill>
                <a:latin typeface="맑은 고딕"/>
                <a:ea typeface="맑은 고딕"/>
              </a:rPr>
              <a:t>영동선 (91.48~91.81k)</a:t>
            </a:r>
          </a:p>
        </p:txBody>
      </p:sp>
      <p:sp>
        <p:nvSpPr>
          <p:cNvPr id="86" name="t65"/>
          <p:cNvSpPr txBox="1"/>
          <p:nvPr/>
        </p:nvSpPr>
        <p:spPr>
          <a:xfrm>
            <a:off x="2350190" y="7938516"/>
            <a:ext cx="436717" cy="10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>
                <a:solidFill>
                  <a:srgbClr val="5D6060"/>
                </a:solidFill>
                <a:latin typeface="맑은 고딕"/>
                <a:ea typeface="맑은 고딕"/>
              </a:rPr>
              <a:t>98460kW</a:t>
            </a:r>
          </a:p>
        </p:txBody>
      </p:sp>
      <p:sp>
        <p:nvSpPr>
          <p:cNvPr id="87" name="t66"/>
          <p:cNvSpPr txBox="1"/>
          <p:nvPr/>
        </p:nvSpPr>
        <p:spPr>
          <a:xfrm>
            <a:off x="2872130" y="7959852"/>
            <a:ext cx="281635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E794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88" name="t67"/>
          <p:cNvSpPr txBox="1"/>
          <p:nvPr/>
        </p:nvSpPr>
        <p:spPr>
          <a:xfrm>
            <a:off x="3177417" y="7978816"/>
            <a:ext cx="1002734" cy="1134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75959"/>
                </a:solidFill>
                <a:latin typeface="맑은 고딕"/>
                <a:ea typeface="맑은 고딕"/>
              </a:rPr>
              <a:t>경부선 (306.28~306.84k)</a:t>
            </a:r>
          </a:p>
        </p:txBody>
      </p:sp>
      <p:sp>
        <p:nvSpPr>
          <p:cNvPr id="89" name="t68"/>
          <p:cNvSpPr txBox="1"/>
          <p:nvPr/>
        </p:nvSpPr>
        <p:spPr>
          <a:xfrm>
            <a:off x="4288543" y="7983749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C5E5E"/>
                </a:solidFill>
                <a:latin typeface="맑은 고딕"/>
                <a:ea typeface="맑은 고딕"/>
              </a:rPr>
              <a:t>684.60kW</a:t>
            </a:r>
          </a:p>
        </p:txBody>
      </p:sp>
      <p:sp>
        <p:nvSpPr>
          <p:cNvPr id="90" name="t69"/>
          <p:cNvSpPr txBox="1"/>
          <p:nvPr/>
        </p:nvSpPr>
        <p:spPr>
          <a:xfrm>
            <a:off x="6419478" y="8067109"/>
            <a:ext cx="306206" cy="1020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0" b="0">
                <a:solidFill>
                  <a:srgbClr val="575C5E"/>
                </a:solidFill>
                <a:latin typeface="맑은 고딕"/>
                <a:ea typeface="맑은 고딕"/>
              </a:rPr>
              <a:t>18개소</a:t>
            </a:r>
          </a:p>
        </p:txBody>
      </p:sp>
      <p:sp>
        <p:nvSpPr>
          <p:cNvPr id="91" name="t70"/>
          <p:cNvSpPr txBox="1"/>
          <p:nvPr/>
        </p:nvSpPr>
        <p:spPr>
          <a:xfrm>
            <a:off x="5628195" y="8075344"/>
            <a:ext cx="538732" cy="1093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5D6364"/>
                </a:solidFill>
                <a:latin typeface="맑은 고딕"/>
                <a:ea typeface="맑은 고딕"/>
              </a:rPr>
              <a:t>12,307.20kW</a:t>
            </a:r>
          </a:p>
        </p:txBody>
      </p:sp>
      <p:sp>
        <p:nvSpPr>
          <p:cNvPr id="92" name="t71"/>
          <p:cNvSpPr txBox="1"/>
          <p:nvPr/>
        </p:nvSpPr>
        <p:spPr>
          <a:xfrm>
            <a:off x="1225158" y="8166226"/>
            <a:ext cx="1034918" cy="113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A5C5C"/>
                </a:solidFill>
                <a:latin typeface="맑은 고딕"/>
                <a:ea typeface="맑은 고딕"/>
              </a:rPr>
              <a:t>당진청주선 (39.0~39.12k)</a:t>
            </a:r>
          </a:p>
        </p:txBody>
      </p:sp>
      <p:sp>
        <p:nvSpPr>
          <p:cNvPr id="93" name="t72"/>
          <p:cNvSpPr txBox="1"/>
          <p:nvPr/>
        </p:nvSpPr>
        <p:spPr>
          <a:xfrm>
            <a:off x="2354646" y="8171363"/>
            <a:ext cx="433546" cy="1092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595B5B"/>
                </a:solidFill>
                <a:latin typeface="맑은 고딕"/>
                <a:ea typeface="맑은 고딕"/>
              </a:rPr>
              <a:t>541.20kW</a:t>
            </a:r>
          </a:p>
        </p:txBody>
      </p:sp>
      <p:sp>
        <p:nvSpPr>
          <p:cNvPr id="94" name="t73"/>
          <p:cNvSpPr txBox="1"/>
          <p:nvPr/>
        </p:nvSpPr>
        <p:spPr>
          <a:xfrm>
            <a:off x="2876153" y="8218932"/>
            <a:ext cx="274502" cy="204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367B47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95" name="t74"/>
          <p:cNvSpPr txBox="1"/>
          <p:nvPr/>
        </p:nvSpPr>
        <p:spPr>
          <a:xfrm>
            <a:off x="3177417" y="8239420"/>
            <a:ext cx="1002734" cy="1134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15353"/>
                </a:solidFill>
                <a:latin typeface="맑은 고딕"/>
                <a:ea typeface="맑은 고딕"/>
              </a:rPr>
              <a:t>경부선 (306.84~307.13k)</a:t>
            </a:r>
          </a:p>
        </p:txBody>
      </p:sp>
      <p:sp>
        <p:nvSpPr>
          <p:cNvPr id="96" name="t75"/>
          <p:cNvSpPr txBox="1"/>
          <p:nvPr/>
        </p:nvSpPr>
        <p:spPr>
          <a:xfrm>
            <a:off x="4288543" y="8244353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B5D5E"/>
                </a:solidFill>
                <a:latin typeface="맑은 고딕"/>
                <a:ea typeface="맑은 고딕"/>
              </a:rPr>
              <a:t>499.80kW</a:t>
            </a:r>
          </a:p>
        </p:txBody>
      </p:sp>
      <p:sp>
        <p:nvSpPr>
          <p:cNvPr id="97" name="t76"/>
          <p:cNvSpPr txBox="1"/>
          <p:nvPr/>
        </p:nvSpPr>
        <p:spPr>
          <a:xfrm>
            <a:off x="6497418" y="8253292"/>
            <a:ext cx="457562" cy="229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80" b="0">
                <a:solidFill>
                  <a:srgbClr val="535658"/>
                </a:solidFill>
                <a:latin typeface="맑은 고딕"/>
                <a:ea typeface="맑은 고딕"/>
              </a:rPr>
              <a:t>중부선</a:t>
            </a:r>
          </a:p>
          <a:p>
            <a:pPr algn="l">
              <a:lnSpc>
                <a:spcPct val="125000"/>
              </a:lnSpc>
            </a:pPr>
            <a:r>
              <a:rPr sz="580" b="0">
                <a:solidFill>
                  <a:srgbClr val="535658"/>
                </a:solidFill>
                <a:latin typeface="맑은 고딕"/>
                <a:ea typeface="맑은 고딕"/>
              </a:rPr>
              <a:t>433.8대(W</a:t>
            </a:r>
          </a:p>
        </p:txBody>
      </p:sp>
      <p:sp>
        <p:nvSpPr>
          <p:cNvPr id="98" name="t77"/>
          <p:cNvSpPr txBox="1"/>
          <p:nvPr/>
        </p:nvSpPr>
        <p:spPr>
          <a:xfrm>
            <a:off x="4888071" y="8285438"/>
            <a:ext cx="507934" cy="24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580" b="0">
                <a:solidFill>
                  <a:srgbClr val="535557"/>
                </a:solidFill>
                <a:latin typeface="맑은 고딕"/>
                <a:ea typeface="맑은 고딕"/>
              </a:rPr>
              <a:t>평택 제천선</a:t>
            </a:r>
          </a:p>
          <a:p>
            <a:pPr algn="l">
              <a:lnSpc>
                <a:spcPct val="135000"/>
              </a:lnSpc>
            </a:pPr>
            <a:r>
              <a:rPr sz="580" b="0">
                <a:solidFill>
                  <a:srgbClr val="535557"/>
                </a:solidFill>
                <a:latin typeface="맑은 고딕"/>
                <a:ea typeface="맑은 고딕"/>
              </a:rPr>
              <a:t>6528대(W</a:t>
            </a:r>
          </a:p>
        </p:txBody>
      </p:sp>
      <p:sp>
        <p:nvSpPr>
          <p:cNvPr id="99" name="t78"/>
          <p:cNvSpPr txBox="1"/>
          <p:nvPr/>
        </p:nvSpPr>
        <p:spPr>
          <a:xfrm>
            <a:off x="1229730" y="8399398"/>
            <a:ext cx="1034918" cy="113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75859"/>
                </a:solidFill>
                <a:latin typeface="맑은 고딕"/>
                <a:ea typeface="맑은 고딕"/>
              </a:rPr>
              <a:t>당진정주선 (40.44~40.7k)</a:t>
            </a:r>
          </a:p>
        </p:txBody>
      </p:sp>
      <p:sp>
        <p:nvSpPr>
          <p:cNvPr id="100" name="t79"/>
          <p:cNvSpPr txBox="1"/>
          <p:nvPr/>
        </p:nvSpPr>
        <p:spPr>
          <a:xfrm>
            <a:off x="2354587" y="8404373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F6262"/>
                </a:solidFill>
                <a:latin typeface="맑은 고딕"/>
                <a:ea typeface="맑은 고딕"/>
              </a:rPr>
              <a:t>325.80kW</a:t>
            </a:r>
          </a:p>
        </p:txBody>
      </p:sp>
      <p:sp>
        <p:nvSpPr>
          <p:cNvPr id="101" name="t80"/>
          <p:cNvSpPr txBox="1"/>
          <p:nvPr/>
        </p:nvSpPr>
        <p:spPr>
          <a:xfrm>
            <a:off x="3177394" y="8499959"/>
            <a:ext cx="1007586" cy="1139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25556"/>
                </a:solidFill>
                <a:latin typeface="맑은 고딕"/>
                <a:ea typeface="맑은 고딕"/>
              </a:rPr>
              <a:t>중앙선 (386.35~386.65k)</a:t>
            </a:r>
          </a:p>
        </p:txBody>
      </p:sp>
      <p:sp>
        <p:nvSpPr>
          <p:cNvPr id="102" name="t81"/>
          <p:cNvSpPr txBox="1"/>
          <p:nvPr/>
        </p:nvSpPr>
        <p:spPr>
          <a:xfrm>
            <a:off x="4293115" y="8504957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A5C5D"/>
                </a:solidFill>
                <a:latin typeface="맑은 고딕"/>
                <a:ea typeface="맑은 고딕"/>
              </a:rPr>
              <a:t>679.20kW</a:t>
            </a:r>
          </a:p>
        </p:txBody>
      </p:sp>
      <p:sp>
        <p:nvSpPr>
          <p:cNvPr id="103" name="t82"/>
          <p:cNvSpPr txBox="1"/>
          <p:nvPr/>
        </p:nvSpPr>
        <p:spPr>
          <a:xfrm>
            <a:off x="1229730" y="8637142"/>
            <a:ext cx="1034918" cy="113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95B5B"/>
                </a:solidFill>
                <a:latin typeface="맑은 고딕"/>
                <a:ea typeface="맑은 고딕"/>
              </a:rPr>
              <a:t>당진청주선 (43.3~43.47k)</a:t>
            </a:r>
          </a:p>
        </p:txBody>
      </p:sp>
      <p:sp>
        <p:nvSpPr>
          <p:cNvPr id="104" name="t83"/>
          <p:cNvSpPr txBox="1"/>
          <p:nvPr/>
        </p:nvSpPr>
        <p:spPr>
          <a:xfrm>
            <a:off x="2354587" y="8642117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E6160"/>
                </a:solidFill>
                <a:latin typeface="맑은 고딕"/>
                <a:ea typeface="맑은 고딕"/>
              </a:rPr>
              <a:t>964.20kW</a:t>
            </a:r>
          </a:p>
        </p:txBody>
      </p:sp>
      <p:sp>
        <p:nvSpPr>
          <p:cNvPr id="105" name="t84"/>
          <p:cNvSpPr txBox="1"/>
          <p:nvPr/>
        </p:nvSpPr>
        <p:spPr>
          <a:xfrm>
            <a:off x="4891948" y="8652357"/>
            <a:ext cx="472927" cy="247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5B5D5E"/>
                </a:solidFill>
                <a:latin typeface="맑은 고딕"/>
                <a:ea typeface="맑은 고딕"/>
              </a:rPr>
              <a:t>영동선</a:t>
            </a:r>
          </a:p>
          <a:p>
            <a:pPr algn="l">
              <a:lnSpc>
                <a:spcPct val="115000"/>
              </a:lnSpc>
            </a:pPr>
            <a:r>
              <a:rPr sz="680" b="0">
                <a:solidFill>
                  <a:srgbClr val="5B5D5E"/>
                </a:solidFill>
                <a:latin typeface="맑은 고딕"/>
                <a:ea typeface="맑은 고딕"/>
              </a:rPr>
              <a:t>9846*W</a:t>
            </a:r>
          </a:p>
        </p:txBody>
      </p:sp>
      <p:sp>
        <p:nvSpPr>
          <p:cNvPr id="106" name="t85"/>
          <p:cNvSpPr txBox="1"/>
          <p:nvPr/>
        </p:nvSpPr>
        <p:spPr>
          <a:xfrm>
            <a:off x="6437840" y="8650723"/>
            <a:ext cx="524696" cy="461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600" b="0">
                <a:solidFill>
                  <a:srgbClr val="585A5A"/>
                </a:solidFill>
                <a:latin typeface="맑은 고딕"/>
                <a:ea typeface="맑은 고딕"/>
              </a:rPr>
              <a:t>서산 영덕선</a:t>
            </a:r>
          </a:p>
          <a:p>
            <a:pPr algn="l">
              <a:lnSpc>
                <a:spcPct val="124000"/>
              </a:lnSpc>
            </a:pPr>
            <a:r>
              <a:rPr sz="600" b="0">
                <a:solidFill>
                  <a:srgbClr val="585A5A"/>
                </a:solidFill>
                <a:latin typeface="맑은 고딕"/>
                <a:ea typeface="맑은 고딕"/>
              </a:rPr>
              <a:t>3.0522僛W</a:t>
            </a:r>
          </a:p>
          <a:p>
            <a:pPr algn="l">
              <a:lnSpc>
                <a:spcPct val="124000"/>
              </a:lnSpc>
            </a:pPr>
            <a:r>
              <a:rPr sz="600" b="0">
                <a:solidFill>
                  <a:srgbClr val="585A5A"/>
                </a:solidFill>
                <a:latin typeface="맑은 고딕"/>
                <a:ea typeface="맑은 고딕"/>
              </a:rPr>
              <a:t>중앙선</a:t>
            </a:r>
          </a:p>
          <a:p>
            <a:pPr algn="l">
              <a:lnSpc>
                <a:spcPct val="124000"/>
              </a:lnSpc>
            </a:pPr>
            <a:r>
              <a:rPr sz="600" b="0">
                <a:solidFill>
                  <a:srgbClr val="585A5A"/>
                </a:solidFill>
                <a:latin typeface="맑은 고딕"/>
                <a:ea typeface="맑은 고딕"/>
              </a:rPr>
              <a:t>2490.0*W</a:t>
            </a:r>
          </a:p>
        </p:txBody>
      </p:sp>
      <p:sp>
        <p:nvSpPr>
          <p:cNvPr id="107" name="t86"/>
          <p:cNvSpPr txBox="1"/>
          <p:nvPr/>
        </p:nvSpPr>
        <p:spPr>
          <a:xfrm>
            <a:off x="3300069" y="8767572"/>
            <a:ext cx="175564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2B30"/>
                </a:solidFill>
                <a:latin typeface="맑은 고딕"/>
                <a:ea typeface="맑은 고딕"/>
              </a:rPr>
              <a:t>합</a:t>
            </a:r>
          </a:p>
        </p:txBody>
      </p:sp>
      <p:sp>
        <p:nvSpPr>
          <p:cNvPr id="108" name="t87"/>
          <p:cNvSpPr txBox="1"/>
          <p:nvPr/>
        </p:nvSpPr>
        <p:spPr>
          <a:xfrm>
            <a:off x="4211395" y="8771733"/>
            <a:ext cx="514202" cy="97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383A3B"/>
                </a:solidFill>
                <a:latin typeface="맑은 고딕"/>
                <a:ea typeface="맑은 고딕"/>
              </a:rPr>
              <a:t>10 062.60kW</a:t>
            </a:r>
          </a:p>
        </p:txBody>
      </p:sp>
      <p:sp>
        <p:nvSpPr>
          <p:cNvPr id="109" name="t88"/>
          <p:cNvSpPr txBox="1"/>
          <p:nvPr/>
        </p:nvSpPr>
        <p:spPr>
          <a:xfrm>
            <a:off x="1229589" y="8869921"/>
            <a:ext cx="1082338" cy="116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535454"/>
                </a:solidFill>
                <a:latin typeface="맑은 고딕"/>
                <a:ea typeface="맑은 고딕"/>
              </a:rPr>
              <a:t>서산영덕선(51.07~51.21k)</a:t>
            </a:r>
          </a:p>
        </p:txBody>
      </p:sp>
      <p:sp>
        <p:nvSpPr>
          <p:cNvPr id="110" name="t89"/>
          <p:cNvSpPr txBox="1"/>
          <p:nvPr/>
        </p:nvSpPr>
        <p:spPr>
          <a:xfrm>
            <a:off x="2354587" y="8875289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75957"/>
                </a:solidFill>
                <a:latin typeface="맑은 고딕"/>
                <a:ea typeface="맑은 고딕"/>
              </a:rPr>
              <a:t>999.60kW</a:t>
            </a:r>
          </a:p>
        </p:txBody>
      </p:sp>
      <p:sp>
        <p:nvSpPr>
          <p:cNvPr id="111" name="t90"/>
          <p:cNvSpPr txBox="1"/>
          <p:nvPr/>
        </p:nvSpPr>
        <p:spPr>
          <a:xfrm>
            <a:off x="4897101" y="8963494"/>
            <a:ext cx="364462" cy="9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494A4A"/>
                </a:solidFill>
                <a:latin typeface="맑은 고딕"/>
                <a:ea typeface="맑은 고딕"/>
              </a:rPr>
              <a:t>서해안선</a:t>
            </a:r>
          </a:p>
        </p:txBody>
      </p:sp>
      <p:sp>
        <p:nvSpPr>
          <p:cNvPr id="112" name="t91"/>
          <p:cNvSpPr txBox="1"/>
          <p:nvPr/>
        </p:nvSpPr>
        <p:spPr>
          <a:xfrm>
            <a:off x="3182070" y="9021456"/>
            <a:ext cx="1006339" cy="1116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65757"/>
                </a:solidFill>
                <a:latin typeface="맑은 고딕"/>
                <a:ea typeface="맑은 고딕"/>
              </a:rPr>
              <a:t>중부선 (3기 .46~321.77k)</a:t>
            </a:r>
          </a:p>
        </p:txBody>
      </p:sp>
      <p:sp>
        <p:nvSpPr>
          <p:cNvPr id="113" name="t92"/>
          <p:cNvSpPr txBox="1"/>
          <p:nvPr/>
        </p:nvSpPr>
        <p:spPr>
          <a:xfrm>
            <a:off x="4297687" y="9026165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85B5B"/>
                </a:solidFill>
                <a:latin typeface="맑은 고딕"/>
                <a:ea typeface="맑은 고딕"/>
              </a:rPr>
              <a:t>433.80kW</a:t>
            </a:r>
          </a:p>
        </p:txBody>
      </p:sp>
      <p:sp>
        <p:nvSpPr>
          <p:cNvPr id="114" name="t93"/>
          <p:cNvSpPr txBox="1"/>
          <p:nvPr/>
        </p:nvSpPr>
        <p:spPr>
          <a:xfrm>
            <a:off x="4894051" y="9028176"/>
            <a:ext cx="743955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5B5D5D"/>
                </a:solidFill>
                <a:latin typeface="맑은 고딕"/>
                <a:ea typeface="맑은 고딕"/>
              </a:rPr>
              <a:t>甄aw-℃</a:t>
            </a:r>
          </a:p>
        </p:txBody>
      </p:sp>
      <p:sp>
        <p:nvSpPr>
          <p:cNvPr id="115" name="t94"/>
          <p:cNvSpPr txBox="1"/>
          <p:nvPr/>
        </p:nvSpPr>
        <p:spPr>
          <a:xfrm>
            <a:off x="1229709" y="9103426"/>
            <a:ext cx="1085471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B5E5D"/>
                </a:solidFill>
                <a:latin typeface="맑은 고딕"/>
                <a:ea typeface="맑은 고딕"/>
              </a:rPr>
              <a:t>서산영덕선 (53.76~53.85k)</a:t>
            </a:r>
          </a:p>
        </p:txBody>
      </p:sp>
      <p:sp>
        <p:nvSpPr>
          <p:cNvPr id="116" name="t95"/>
          <p:cNvSpPr txBox="1"/>
          <p:nvPr/>
        </p:nvSpPr>
        <p:spPr>
          <a:xfrm>
            <a:off x="2359449" y="9113837"/>
            <a:ext cx="435346" cy="1041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595D5C"/>
                </a:solidFill>
                <a:latin typeface="맑은 고딕"/>
                <a:ea typeface="맑은 고딕"/>
              </a:rPr>
              <a:t>448.20kW</a:t>
            </a:r>
          </a:p>
        </p:txBody>
      </p:sp>
      <p:sp>
        <p:nvSpPr>
          <p:cNvPr id="117" name="t96"/>
          <p:cNvSpPr txBox="1"/>
          <p:nvPr/>
        </p:nvSpPr>
        <p:spPr>
          <a:xfrm>
            <a:off x="5619366" y="9150639"/>
            <a:ext cx="228629" cy="102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0" b="1">
                <a:solidFill>
                  <a:srgbClr val="454A52"/>
                </a:solidFill>
                <a:latin typeface="맑은 고딕"/>
                <a:ea typeface="맑은 고딕"/>
              </a:rPr>
              <a:t>15%</a:t>
            </a:r>
          </a:p>
        </p:txBody>
      </p:sp>
      <p:sp>
        <p:nvSpPr>
          <p:cNvPr id="118" name="t97"/>
          <p:cNvSpPr txBox="1"/>
          <p:nvPr/>
        </p:nvSpPr>
        <p:spPr>
          <a:xfrm>
            <a:off x="5902957" y="9242432"/>
            <a:ext cx="222532" cy="995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1">
                <a:solidFill>
                  <a:srgbClr val="29341B"/>
                </a:solidFill>
                <a:latin typeface="맑은 고딕"/>
                <a:ea typeface="맑은 고딕"/>
              </a:rPr>
              <a:t>15%</a:t>
            </a:r>
          </a:p>
        </p:txBody>
      </p:sp>
      <p:sp>
        <p:nvSpPr>
          <p:cNvPr id="119" name="t98"/>
          <p:cNvSpPr txBox="1"/>
          <p:nvPr/>
        </p:nvSpPr>
        <p:spPr>
          <a:xfrm>
            <a:off x="2885572" y="9262110"/>
            <a:ext cx="271211" cy="1981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357C45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20" name="t99"/>
          <p:cNvSpPr txBox="1"/>
          <p:nvPr/>
        </p:nvSpPr>
        <p:spPr>
          <a:xfrm>
            <a:off x="3181966" y="9281771"/>
            <a:ext cx="1007586" cy="1139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75959"/>
                </a:solidFill>
                <a:latin typeface="맑은 고딕"/>
                <a:ea typeface="맑은 고딕"/>
              </a:rPr>
              <a:t>중앙선 (337.71~337.90k)</a:t>
            </a:r>
          </a:p>
        </p:txBody>
      </p:sp>
      <p:sp>
        <p:nvSpPr>
          <p:cNvPr id="121" name="t100"/>
          <p:cNvSpPr txBox="1"/>
          <p:nvPr/>
        </p:nvSpPr>
        <p:spPr>
          <a:xfrm>
            <a:off x="4297687" y="9291341"/>
            <a:ext cx="438820" cy="1105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B5D5D"/>
                </a:solidFill>
                <a:latin typeface="맑은 고딕"/>
                <a:ea typeface="맑은 고딕"/>
              </a:rPr>
              <a:t>811.20kW</a:t>
            </a:r>
          </a:p>
        </p:txBody>
      </p:sp>
      <p:sp>
        <p:nvSpPr>
          <p:cNvPr id="122" name="t101"/>
          <p:cNvSpPr txBox="1"/>
          <p:nvPr/>
        </p:nvSpPr>
        <p:spPr>
          <a:xfrm>
            <a:off x="1234067" y="9340578"/>
            <a:ext cx="1083458" cy="1190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4F5050"/>
                </a:solidFill>
                <a:latin typeface="맑은 고딕"/>
                <a:ea typeface="맑은 고딕"/>
              </a:rPr>
              <a:t>서산영덕선(1467~15.23k)</a:t>
            </a:r>
          </a:p>
        </p:txBody>
      </p:sp>
      <p:sp>
        <p:nvSpPr>
          <p:cNvPr id="123" name="t102"/>
          <p:cNvSpPr txBox="1"/>
          <p:nvPr/>
        </p:nvSpPr>
        <p:spPr>
          <a:xfrm>
            <a:off x="2359449" y="9347009"/>
            <a:ext cx="435346" cy="1041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545555"/>
                </a:solidFill>
                <a:latin typeface="맑은 고딕"/>
                <a:ea typeface="맑은 고딕"/>
              </a:rPr>
              <a:t>844.80kW</a:t>
            </a:r>
          </a:p>
        </p:txBody>
      </p:sp>
      <p:sp>
        <p:nvSpPr>
          <p:cNvPr id="124" name="t103"/>
          <p:cNvSpPr txBox="1"/>
          <p:nvPr/>
        </p:nvSpPr>
        <p:spPr>
          <a:xfrm>
            <a:off x="6451359" y="9431193"/>
            <a:ext cx="519894" cy="229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>
                <a:solidFill>
                  <a:srgbClr val="4B4E4E"/>
                </a:solidFill>
                <a:latin typeface="맑은 고딕"/>
                <a:ea typeface="맑은 고딕"/>
              </a:rPr>
              <a:t>경부선</a:t>
            </a:r>
          </a:p>
          <a:p>
            <a:pPr algn="l">
              <a:lnSpc>
                <a:spcPct val="115000"/>
              </a:lnSpc>
            </a:pPr>
            <a:r>
              <a:rPr sz="630" b="0">
                <a:solidFill>
                  <a:srgbClr val="4B4E4E"/>
                </a:solidFill>
                <a:latin typeface="맑은 고딕"/>
                <a:ea typeface="맑은 고딕"/>
              </a:rPr>
              <a:t>1,863.00(W</a:t>
            </a:r>
          </a:p>
        </p:txBody>
      </p:sp>
      <p:sp>
        <p:nvSpPr>
          <p:cNvPr id="125" name="t104"/>
          <p:cNvSpPr txBox="1"/>
          <p:nvPr/>
        </p:nvSpPr>
        <p:spPr>
          <a:xfrm>
            <a:off x="4901695" y="9429176"/>
            <a:ext cx="519109" cy="24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590" b="0">
                <a:solidFill>
                  <a:srgbClr val="545555"/>
                </a:solidFill>
                <a:latin typeface="맑은 고딕"/>
                <a:ea typeface="맑은 고딕"/>
              </a:rPr>
              <a:t>당진 정주선</a:t>
            </a:r>
          </a:p>
          <a:p>
            <a:pPr algn="l">
              <a:lnSpc>
                <a:spcPct val="132000"/>
              </a:lnSpc>
            </a:pPr>
            <a:r>
              <a:rPr sz="590" b="0">
                <a:solidFill>
                  <a:srgbClr val="545555"/>
                </a:solidFill>
                <a:latin typeface="맑은 고딕"/>
                <a:ea typeface="맑은 고딕"/>
              </a:rPr>
              <a:t>1.831.2嗢</a:t>
            </a:r>
          </a:p>
        </p:txBody>
      </p:sp>
      <p:sp>
        <p:nvSpPr>
          <p:cNvPr id="126" name="t105"/>
          <p:cNvSpPr txBox="1"/>
          <p:nvPr/>
        </p:nvSpPr>
        <p:spPr>
          <a:xfrm>
            <a:off x="4302549" y="9557321"/>
            <a:ext cx="435346" cy="1041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515353"/>
                </a:solidFill>
                <a:latin typeface="맑은 고딕"/>
                <a:ea typeface="맑은 고딕"/>
              </a:rPr>
              <a:t>999.60kW</a:t>
            </a:r>
          </a:p>
        </p:txBody>
      </p:sp>
      <p:sp>
        <p:nvSpPr>
          <p:cNvPr id="127" name="t106"/>
          <p:cNvSpPr txBox="1"/>
          <p:nvPr/>
        </p:nvSpPr>
        <p:spPr>
          <a:xfrm>
            <a:off x="3181941" y="9560594"/>
            <a:ext cx="966736" cy="1145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4C4E4E"/>
                </a:solidFill>
                <a:latin typeface="맑은 고딕"/>
                <a:ea typeface="맑은 고딕"/>
              </a:rPr>
              <a:t>중앙선 (348.91~349.2k)</a:t>
            </a:r>
          </a:p>
        </p:txBody>
      </p:sp>
      <p:sp>
        <p:nvSpPr>
          <p:cNvPr id="128" name="t107"/>
          <p:cNvSpPr txBox="1"/>
          <p:nvPr/>
        </p:nvSpPr>
        <p:spPr>
          <a:xfrm>
            <a:off x="956188" y="9554718"/>
            <a:ext cx="271211" cy="1981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3E7446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29" name="t108"/>
          <p:cNvSpPr txBox="1"/>
          <p:nvPr/>
        </p:nvSpPr>
        <p:spPr>
          <a:xfrm>
            <a:off x="1234281" y="9578914"/>
            <a:ext cx="1085471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>
                <a:solidFill>
                  <a:srgbClr val="555856"/>
                </a:solidFill>
                <a:latin typeface="맑은 고딕"/>
                <a:ea typeface="맑은 고딕"/>
              </a:rPr>
              <a:t>서산영덕선 (31.28~31.47k)</a:t>
            </a:r>
          </a:p>
        </p:txBody>
      </p:sp>
      <p:sp>
        <p:nvSpPr>
          <p:cNvPr id="130" name="t109"/>
          <p:cNvSpPr txBox="1"/>
          <p:nvPr/>
        </p:nvSpPr>
        <p:spPr>
          <a:xfrm>
            <a:off x="2364021" y="9584753"/>
            <a:ext cx="435346" cy="1041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565958"/>
                </a:solidFill>
                <a:latin typeface="맑은 고딕"/>
                <a:ea typeface="맑은 고딕"/>
              </a:rPr>
              <a:t>759.60kW</a:t>
            </a:r>
          </a:p>
        </p:txBody>
      </p:sp>
      <p:sp>
        <p:nvSpPr>
          <p:cNvPr id="131" name="t110"/>
          <p:cNvSpPr txBox="1"/>
          <p:nvPr/>
        </p:nvSpPr>
        <p:spPr>
          <a:xfrm>
            <a:off x="812078" y="10077450"/>
            <a:ext cx="240304" cy="149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22423"/>
                </a:solidFill>
                <a:latin typeface="맑은 고딕"/>
                <a:ea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621792" y="1595628"/>
            <a:ext cx="3040380" cy="269748"/>
          </a:xfrm>
          <a:prstGeom prst="rect">
            <a:avLst/>
          </a:prstGeom>
          <a:solidFill>
            <a:srgbClr val="D6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3698748" y="1623060"/>
            <a:ext cx="3040380" cy="260604"/>
          </a:xfrm>
          <a:prstGeom prst="rect">
            <a:avLst/>
          </a:prstGeom>
          <a:solidFill>
            <a:srgbClr val="D1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3685032" y="5138928"/>
            <a:ext cx="3031236" cy="260604"/>
          </a:xfrm>
          <a:prstGeom prst="rect">
            <a:avLst/>
          </a:prstGeom>
          <a:solidFill>
            <a:srgbClr val="D0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2093976" y="5554980"/>
            <a:ext cx="237744" cy="1184148"/>
          </a:xfrm>
          <a:prstGeom prst="rect">
            <a:avLst/>
          </a:prstGeom>
          <a:solidFill>
            <a:srgbClr val="8EB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3163824" y="6185916"/>
            <a:ext cx="237744" cy="562356"/>
          </a:xfrm>
          <a:prstGeom prst="rect">
            <a:avLst/>
          </a:prstGeom>
          <a:solidFill>
            <a:srgbClr val="91C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-1"/>
          <p:cNvGraphicFramePr>
            <a:graphicFrameLocks noGrp="1"/>
          </p:cNvGraphicFramePr>
          <p:nvPr/>
        </p:nvGraphicFramePr>
        <p:xfrm>
          <a:off x="2843784" y="7767828"/>
          <a:ext cx="3872484" cy="1325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40664"/>
                <a:gridCol w="313182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373A3B"/>
                          </a:solidFill>
                          <a:latin typeface="맑은 고딕"/>
                          <a:ea typeface="맑은 고딕"/>
                        </a:rPr>
                        <a:t>발생일 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0" b="0">
                          <a:solidFill>
                            <a:srgbClr val="4D4F4E"/>
                          </a:solidFill>
                          <a:latin typeface="맑은 고딕"/>
                          <a:ea typeface="맑은 고딕"/>
                        </a:rPr>
                        <a:t>2023년 4월 29일 밤 11시 30분경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373A3A"/>
                          </a:solidFill>
                          <a:latin typeface="맑은 고딕"/>
                          <a:ea typeface="맑은 고딕"/>
                        </a:rPr>
                        <a:t>발생 위치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464847"/>
                          </a:solidFill>
                          <a:latin typeface="맑은 고딕"/>
                          <a:ea typeface="맑은 고딕"/>
                        </a:rPr>
                        <a:t>인천굉역시 서구 원당동 검단신도시 안단테 아파트 신축 현장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3A3C3D"/>
                          </a:solidFill>
                          <a:latin typeface="맑은 고딕"/>
                          <a:ea typeface="맑은 고딕"/>
                        </a:rPr>
                        <a:t>피 해 규모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40" b="0">
                          <a:solidFill>
                            <a:srgbClr val="4A4B4B"/>
                          </a:solidFill>
                          <a:latin typeface="맑은 고딕"/>
                          <a:ea typeface="맑은 고딕"/>
                        </a:rPr>
                        <a:t>지하주치장 2개층 지붕 구조물 총 970m2 피손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434747"/>
                          </a:solidFill>
                          <a:latin typeface="맑은 고딕"/>
                          <a:ea typeface="맑은 고딕"/>
                        </a:rPr>
                        <a:t>관할 기관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4B4D4C"/>
                          </a:solidFill>
                          <a:latin typeface="맑은 고딕"/>
                          <a:ea typeface="맑은 고딕"/>
                        </a:rPr>
                        <a:t>인천굉역시 서구청, 인천경찰청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383B3C"/>
                          </a:solidFill>
                          <a:latin typeface="맑은 고딕"/>
                          <a:ea typeface="맑은 고딕"/>
                        </a:rPr>
                        <a:t>발생 상황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424342"/>
                          </a:solidFill>
                          <a:latin typeface="맑은 고딕"/>
                          <a:ea typeface="맑은 고딕"/>
                        </a:rPr>
                        <a:t>지히주치장 1층 지붕층인 어린이 놀이터 예정</a:t>
                      </a:r>
                    </a:p>
                    <a:p>
                      <a:pPr algn="l"/>
                      <a:r>
                        <a:rPr sz="1030" b="0">
                          <a:solidFill>
                            <a:srgbClr val="424342"/>
                          </a:solidFill>
                          <a:latin typeface="맑은 고딕"/>
                          <a:ea typeface="맑은 고딕"/>
                        </a:rPr>
                        <a:t>지점과 지6주치장 2층의 지붕층이 연쇄적으로 붕괴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i0" descr="p3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906524"/>
            <a:ext cx="1211580" cy="1856232"/>
          </a:xfrm>
          <a:prstGeom prst="rect">
            <a:avLst/>
          </a:prstGeom>
        </p:spPr>
      </p:pic>
      <p:pic>
        <p:nvPicPr>
          <p:cNvPr id="9" name="i1" descr="p3_i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2125980"/>
            <a:ext cx="1211580" cy="1339596"/>
          </a:xfrm>
          <a:prstGeom prst="rect">
            <a:avLst/>
          </a:prstGeom>
        </p:spPr>
      </p:pic>
      <p:pic>
        <p:nvPicPr>
          <p:cNvPr id="10" name="i2" descr="p3_i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3529584"/>
            <a:ext cx="1216152" cy="1129284"/>
          </a:xfrm>
          <a:prstGeom prst="rect">
            <a:avLst/>
          </a:prstGeom>
        </p:spPr>
      </p:pic>
      <p:pic>
        <p:nvPicPr>
          <p:cNvPr id="11" name="i3" descr="p3_i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3753612"/>
            <a:ext cx="1211580" cy="928116"/>
          </a:xfrm>
          <a:prstGeom prst="rect">
            <a:avLst/>
          </a:prstGeom>
        </p:spPr>
      </p:pic>
      <p:pic>
        <p:nvPicPr>
          <p:cNvPr id="12" name="i4" descr="p3_i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7799832"/>
            <a:ext cx="2167128" cy="1975104"/>
          </a:xfrm>
          <a:prstGeom prst="rect">
            <a:avLst/>
          </a:prstGeom>
        </p:spPr>
      </p:pic>
      <p:pic>
        <p:nvPicPr>
          <p:cNvPr id="13" name="i5" descr="p3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0156" y="210312"/>
            <a:ext cx="964692" cy="434340"/>
          </a:xfrm>
          <a:prstGeom prst="rect">
            <a:avLst/>
          </a:prstGeom>
        </p:spPr>
      </p:pic>
      <p:pic>
        <p:nvPicPr>
          <p:cNvPr id="14" name="i6" descr="p3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716" y="1920240"/>
            <a:ext cx="667512" cy="205740"/>
          </a:xfrm>
          <a:prstGeom prst="rect">
            <a:avLst/>
          </a:prstGeom>
        </p:spPr>
      </p:pic>
      <p:pic>
        <p:nvPicPr>
          <p:cNvPr id="15" name="i7" descr="p3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6876" y="2039112"/>
            <a:ext cx="1156716" cy="640080"/>
          </a:xfrm>
          <a:prstGeom prst="rect">
            <a:avLst/>
          </a:prstGeom>
        </p:spPr>
      </p:pic>
      <p:pic>
        <p:nvPicPr>
          <p:cNvPr id="16" name="i8" descr="p3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1044" y="2217420"/>
            <a:ext cx="123444" cy="297180"/>
          </a:xfrm>
          <a:prstGeom prst="rect">
            <a:avLst/>
          </a:prstGeom>
        </p:spPr>
      </p:pic>
      <p:pic>
        <p:nvPicPr>
          <p:cNvPr id="17" name="i9" descr="p3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9936" y="2217420"/>
            <a:ext cx="123444" cy="301752"/>
          </a:xfrm>
          <a:prstGeom prst="rect">
            <a:avLst/>
          </a:prstGeom>
        </p:spPr>
      </p:pic>
      <p:pic>
        <p:nvPicPr>
          <p:cNvPr id="18" name="i10" descr="p3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696" y="3150108"/>
            <a:ext cx="361188" cy="379476"/>
          </a:xfrm>
          <a:prstGeom prst="rect">
            <a:avLst/>
          </a:prstGeom>
        </p:spPr>
      </p:pic>
      <p:pic>
        <p:nvPicPr>
          <p:cNvPr id="19" name="i11" descr="p3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55364" y="3150108"/>
            <a:ext cx="123444" cy="118872"/>
          </a:xfrm>
          <a:prstGeom prst="rect">
            <a:avLst/>
          </a:prstGeom>
        </p:spPr>
      </p:pic>
      <p:pic>
        <p:nvPicPr>
          <p:cNvPr id="20" name="i12" descr="p3_i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6472" y="3154680"/>
            <a:ext cx="123444" cy="96012"/>
          </a:xfrm>
          <a:prstGeom prst="rect">
            <a:avLst/>
          </a:prstGeom>
        </p:spPr>
      </p:pic>
      <p:pic>
        <p:nvPicPr>
          <p:cNvPr id="21" name="i13" descr="p3_i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1348" y="3470148"/>
            <a:ext cx="141732" cy="59436"/>
          </a:xfrm>
          <a:prstGeom prst="rect">
            <a:avLst/>
          </a:prstGeom>
        </p:spPr>
      </p:pic>
      <p:pic>
        <p:nvPicPr>
          <p:cNvPr id="22" name="i14" descr="p3_i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61972" y="3470148"/>
            <a:ext cx="306324" cy="59436"/>
          </a:xfrm>
          <a:prstGeom prst="rect">
            <a:avLst/>
          </a:prstGeom>
        </p:spPr>
      </p:pic>
      <p:pic>
        <p:nvPicPr>
          <p:cNvPr id="23" name="i15" descr="p3_i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3836" y="4050792"/>
            <a:ext cx="109728" cy="123444"/>
          </a:xfrm>
          <a:prstGeom prst="rect">
            <a:avLst/>
          </a:prstGeom>
        </p:spPr>
      </p:pic>
      <p:pic>
        <p:nvPicPr>
          <p:cNvPr id="24" name="i16" descr="p3_i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8932" y="5106924"/>
            <a:ext cx="3035808" cy="475488"/>
          </a:xfrm>
          <a:prstGeom prst="rect">
            <a:avLst/>
          </a:prstGeom>
        </p:spPr>
      </p:pic>
      <p:pic>
        <p:nvPicPr>
          <p:cNvPr id="25" name="i17" descr="p3_i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35324" y="5788152"/>
            <a:ext cx="745236" cy="192024"/>
          </a:xfrm>
          <a:prstGeom prst="rect">
            <a:avLst/>
          </a:prstGeom>
        </p:spPr>
      </p:pic>
      <p:pic>
        <p:nvPicPr>
          <p:cNvPr id="26" name="i18" descr="p3_i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4108" y="6272784"/>
            <a:ext cx="1229868" cy="466344"/>
          </a:xfrm>
          <a:prstGeom prst="rect">
            <a:avLst/>
          </a:prstGeom>
        </p:spPr>
      </p:pic>
      <p:pic>
        <p:nvPicPr>
          <p:cNvPr id="27" name="i19" descr="p3_i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06924" y="6323076"/>
            <a:ext cx="1549908" cy="246888"/>
          </a:xfrm>
          <a:prstGeom prst="rect">
            <a:avLst/>
          </a:prstGeom>
        </p:spPr>
      </p:pic>
      <p:pic>
        <p:nvPicPr>
          <p:cNvPr id="28" name="i20" descr="p3_i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36292" y="6368796"/>
            <a:ext cx="827532" cy="379476"/>
          </a:xfrm>
          <a:prstGeom prst="rect">
            <a:avLst/>
          </a:prstGeom>
        </p:spPr>
      </p:pic>
      <p:pic>
        <p:nvPicPr>
          <p:cNvPr id="29" name="i21" descr="p3_i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21608" y="6368796"/>
            <a:ext cx="1344168" cy="196596"/>
          </a:xfrm>
          <a:prstGeom prst="rect">
            <a:avLst/>
          </a:prstGeom>
        </p:spPr>
      </p:pic>
      <p:pic>
        <p:nvPicPr>
          <p:cNvPr id="30" name="i22" descr="p3_i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9788" y="7232904"/>
            <a:ext cx="3031236" cy="128016"/>
          </a:xfrm>
          <a:prstGeom prst="rect">
            <a:avLst/>
          </a:prstGeom>
        </p:spPr>
      </p:pic>
      <p:pic>
        <p:nvPicPr>
          <p:cNvPr id="31" name="i23" descr="p3_i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7754112"/>
            <a:ext cx="2322576" cy="2066544"/>
          </a:xfrm>
          <a:prstGeom prst="rect">
            <a:avLst/>
          </a:prstGeom>
        </p:spPr>
      </p:pic>
      <p:cxnSp>
        <p:nvCxnSpPr>
          <p:cNvPr id="32" name="l0"/>
          <p:cNvCxnSpPr/>
          <p:nvPr/>
        </p:nvCxnSpPr>
        <p:spPr>
          <a:xfrm>
            <a:off x="845820" y="2800350"/>
            <a:ext cx="315468" cy="0"/>
          </a:xfrm>
          <a:prstGeom prst="line">
            <a:avLst/>
          </a:prstGeom>
          <a:ln w="6350">
            <a:solidFill>
              <a:srgbClr val="B1B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1"/>
          <p:cNvCxnSpPr/>
          <p:nvPr/>
        </p:nvCxnSpPr>
        <p:spPr>
          <a:xfrm>
            <a:off x="3730752" y="2825496"/>
            <a:ext cx="507492" cy="0"/>
          </a:xfrm>
          <a:prstGeom prst="line">
            <a:avLst/>
          </a:prstGeom>
          <a:ln w="9144">
            <a:solidFill>
              <a:srgbClr val="BEC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2"/>
          <p:cNvCxnSpPr/>
          <p:nvPr/>
        </p:nvCxnSpPr>
        <p:spPr>
          <a:xfrm>
            <a:off x="649224" y="3728466"/>
            <a:ext cx="502920" cy="0"/>
          </a:xfrm>
          <a:prstGeom prst="line">
            <a:avLst/>
          </a:prstGeom>
          <a:ln w="6350">
            <a:solidFill>
              <a:srgbClr val="B8B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3"/>
          <p:cNvCxnSpPr/>
          <p:nvPr/>
        </p:nvCxnSpPr>
        <p:spPr>
          <a:xfrm>
            <a:off x="3730752" y="3753612"/>
            <a:ext cx="502920" cy="0"/>
          </a:xfrm>
          <a:prstGeom prst="line">
            <a:avLst/>
          </a:prstGeom>
          <a:ln w="9144">
            <a:solidFill>
              <a:srgbClr val="B9B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4"/>
          <p:cNvCxnSpPr/>
          <p:nvPr/>
        </p:nvCxnSpPr>
        <p:spPr>
          <a:xfrm>
            <a:off x="1225296" y="4695444"/>
            <a:ext cx="525780" cy="0"/>
          </a:xfrm>
          <a:prstGeom prst="line">
            <a:avLst/>
          </a:prstGeom>
          <a:ln w="9144">
            <a:solidFill>
              <a:srgbClr val="D5D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5"/>
          <p:cNvCxnSpPr/>
          <p:nvPr/>
        </p:nvCxnSpPr>
        <p:spPr>
          <a:xfrm>
            <a:off x="1755648" y="4700016"/>
            <a:ext cx="658368" cy="0"/>
          </a:xfrm>
          <a:prstGeom prst="line">
            <a:avLst/>
          </a:prstGeom>
          <a:ln w="9144">
            <a:solidFill>
              <a:srgbClr val="D3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6"/>
          <p:cNvCxnSpPr/>
          <p:nvPr/>
        </p:nvCxnSpPr>
        <p:spPr>
          <a:xfrm>
            <a:off x="4091940" y="4720590"/>
            <a:ext cx="1339596" cy="0"/>
          </a:xfrm>
          <a:prstGeom prst="line">
            <a:avLst/>
          </a:prstGeom>
          <a:ln w="13716">
            <a:solidFill>
              <a:srgbClr val="D5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7"/>
          <p:cNvCxnSpPr/>
          <p:nvPr/>
        </p:nvCxnSpPr>
        <p:spPr>
          <a:xfrm>
            <a:off x="950976" y="5216652"/>
            <a:ext cx="937260" cy="0"/>
          </a:xfrm>
          <a:prstGeom prst="line">
            <a:avLst/>
          </a:prstGeom>
          <a:ln w="9144">
            <a:solidFill>
              <a:srgbClr val="9394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8"/>
          <p:cNvCxnSpPr/>
          <p:nvPr/>
        </p:nvCxnSpPr>
        <p:spPr>
          <a:xfrm>
            <a:off x="950976" y="5598414"/>
            <a:ext cx="941832" cy="0"/>
          </a:xfrm>
          <a:prstGeom prst="line">
            <a:avLst/>
          </a:prstGeom>
          <a:ln w="13716">
            <a:solidFill>
              <a:srgbClr val="A7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9"/>
          <p:cNvCxnSpPr/>
          <p:nvPr/>
        </p:nvCxnSpPr>
        <p:spPr>
          <a:xfrm>
            <a:off x="3726180" y="5618988"/>
            <a:ext cx="2468880" cy="0"/>
          </a:xfrm>
          <a:prstGeom prst="line">
            <a:avLst/>
          </a:prstGeom>
          <a:ln w="18288">
            <a:solidFill>
              <a:srgbClr val="B8BA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10"/>
          <p:cNvCxnSpPr/>
          <p:nvPr/>
        </p:nvCxnSpPr>
        <p:spPr>
          <a:xfrm>
            <a:off x="5216652" y="6206490"/>
            <a:ext cx="850392" cy="0"/>
          </a:xfrm>
          <a:prstGeom prst="line">
            <a:avLst/>
          </a:prstGeom>
          <a:ln w="6350">
            <a:solidFill>
              <a:srgbClr val="BABD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11"/>
          <p:cNvCxnSpPr/>
          <p:nvPr/>
        </p:nvCxnSpPr>
        <p:spPr>
          <a:xfrm>
            <a:off x="5362956" y="6384798"/>
            <a:ext cx="292608" cy="0"/>
          </a:xfrm>
          <a:prstGeom prst="line">
            <a:avLst/>
          </a:prstGeom>
          <a:ln w="6350">
            <a:solidFill>
              <a:srgbClr val="C4C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12"/>
          <p:cNvCxnSpPr/>
          <p:nvPr/>
        </p:nvCxnSpPr>
        <p:spPr>
          <a:xfrm>
            <a:off x="5289804" y="7363206"/>
            <a:ext cx="283464" cy="0"/>
          </a:xfrm>
          <a:prstGeom prst="line">
            <a:avLst/>
          </a:prstGeom>
          <a:ln w="6350">
            <a:solidFill>
              <a:srgbClr val="DB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13"/>
          <p:cNvCxnSpPr/>
          <p:nvPr/>
        </p:nvCxnSpPr>
        <p:spPr>
          <a:xfrm>
            <a:off x="5902452" y="7367778"/>
            <a:ext cx="768096" cy="0"/>
          </a:xfrm>
          <a:prstGeom prst="line">
            <a:avLst/>
          </a:prstGeom>
          <a:ln w="6350">
            <a:solidFill>
              <a:srgbClr val="D3E1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17"/>
          <p:cNvCxnSpPr/>
          <p:nvPr/>
        </p:nvCxnSpPr>
        <p:spPr>
          <a:xfrm>
            <a:off x="2848356" y="9829800"/>
            <a:ext cx="3849624" cy="0"/>
          </a:xfrm>
          <a:prstGeom prst="line">
            <a:avLst/>
          </a:prstGeom>
          <a:ln w="27432">
            <a:solidFill>
              <a:srgbClr val="AAAC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18"/>
          <p:cNvCxnSpPr/>
          <p:nvPr/>
        </p:nvCxnSpPr>
        <p:spPr>
          <a:xfrm>
            <a:off x="3639312" y="5157216"/>
            <a:ext cx="0" cy="1408176"/>
          </a:xfrm>
          <a:prstGeom prst="line">
            <a:avLst/>
          </a:prstGeom>
          <a:ln w="9144">
            <a:solidFill>
              <a:srgbClr val="B7BB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19"/>
          <p:cNvCxnSpPr/>
          <p:nvPr/>
        </p:nvCxnSpPr>
        <p:spPr>
          <a:xfrm>
            <a:off x="1890522" y="5230368"/>
            <a:ext cx="0" cy="370332"/>
          </a:xfrm>
          <a:prstGeom prst="line">
            <a:avLst/>
          </a:prstGeom>
          <a:ln w="6350">
            <a:solidFill>
              <a:srgbClr val="B1B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20"/>
          <p:cNvCxnSpPr/>
          <p:nvPr/>
        </p:nvCxnSpPr>
        <p:spPr>
          <a:xfrm>
            <a:off x="4309110" y="5618988"/>
            <a:ext cx="0" cy="361188"/>
          </a:xfrm>
          <a:prstGeom prst="line">
            <a:avLst/>
          </a:prstGeom>
          <a:ln w="6350">
            <a:solidFill>
              <a:srgbClr val="94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21"/>
          <p:cNvCxnSpPr/>
          <p:nvPr/>
        </p:nvCxnSpPr>
        <p:spPr>
          <a:xfrm>
            <a:off x="6085332" y="5628132"/>
            <a:ext cx="0" cy="365760"/>
          </a:xfrm>
          <a:prstGeom prst="line">
            <a:avLst/>
          </a:prstGeom>
          <a:ln w="9144">
            <a:solidFill>
              <a:srgbClr val="C5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22"/>
          <p:cNvCxnSpPr/>
          <p:nvPr/>
        </p:nvCxnSpPr>
        <p:spPr>
          <a:xfrm>
            <a:off x="5488686" y="6208776"/>
            <a:ext cx="0" cy="361188"/>
          </a:xfrm>
          <a:prstGeom prst="line">
            <a:avLst/>
          </a:prstGeom>
          <a:ln w="6350">
            <a:solidFill>
              <a:srgbClr val="9195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23"/>
          <p:cNvCxnSpPr/>
          <p:nvPr/>
        </p:nvCxnSpPr>
        <p:spPr>
          <a:xfrm>
            <a:off x="3632454" y="6661404"/>
            <a:ext cx="0" cy="681228"/>
          </a:xfrm>
          <a:prstGeom prst="line">
            <a:avLst/>
          </a:prstGeom>
          <a:ln w="6350">
            <a:solidFill>
              <a:srgbClr val="C0C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24"/>
          <p:cNvCxnSpPr/>
          <p:nvPr/>
        </p:nvCxnSpPr>
        <p:spPr>
          <a:xfrm>
            <a:off x="5484114" y="6789420"/>
            <a:ext cx="0" cy="361188"/>
          </a:xfrm>
          <a:prstGeom prst="line">
            <a:avLst/>
          </a:prstGeom>
          <a:ln w="6350">
            <a:solidFill>
              <a:srgbClr val="A5AA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25"/>
          <p:cNvCxnSpPr/>
          <p:nvPr/>
        </p:nvCxnSpPr>
        <p:spPr>
          <a:xfrm>
            <a:off x="587502" y="7776972"/>
            <a:ext cx="0" cy="786384"/>
          </a:xfrm>
          <a:prstGeom prst="line">
            <a:avLst/>
          </a:prstGeom>
          <a:ln w="6350">
            <a:solidFill>
              <a:srgbClr val="BF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0"/>
          <p:cNvSpPr txBox="1"/>
          <p:nvPr/>
        </p:nvSpPr>
        <p:spPr>
          <a:xfrm>
            <a:off x="5243072" y="642858"/>
            <a:ext cx="1246577" cy="1332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>
                <a:solidFill>
                  <a:srgbClr val="454646"/>
                </a:solidFill>
                <a:latin typeface="맑은 고딕"/>
                <a:ea typeface="맑은 고딕"/>
              </a:rPr>
              <a:t>고속도로 민간투자 태양광</a:t>
            </a:r>
          </a:p>
        </p:txBody>
      </p:sp>
      <p:sp>
        <p:nvSpPr>
          <p:cNvPr id="56" name="t1"/>
          <p:cNvSpPr txBox="1"/>
          <p:nvPr/>
        </p:nvSpPr>
        <p:spPr>
          <a:xfrm>
            <a:off x="6433422" y="665674"/>
            <a:ext cx="353763" cy="96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>
                <a:solidFill>
                  <a:srgbClr val="A9ADAE"/>
                </a:solidFill>
                <a:latin typeface="맑은 고딕"/>
                <a:ea typeface="맑은 고딕"/>
              </a:rPr>
              <a:t>발전사업</a:t>
            </a:r>
          </a:p>
        </p:txBody>
      </p:sp>
      <p:sp>
        <p:nvSpPr>
          <p:cNvPr id="57" name="t2"/>
          <p:cNvSpPr txBox="1"/>
          <p:nvPr/>
        </p:nvSpPr>
        <p:spPr>
          <a:xfrm>
            <a:off x="600820" y="812787"/>
            <a:ext cx="3638918" cy="73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60" b="0">
                <a:solidFill>
                  <a:srgbClr val="373A39"/>
                </a:solidFill>
                <a:latin typeface="맑은 고딕"/>
                <a:ea typeface="맑은 고딕"/>
              </a:rPr>
              <a:t>1. 건설안전 관리</a:t>
            </a:r>
          </a:p>
          <a:p>
            <a:pPr algn="l">
              <a:lnSpc>
                <a:spcPct val="150000"/>
              </a:lnSpc>
            </a:pPr>
            <a:r>
              <a:rPr sz="1060" b="0">
                <a:solidFill>
                  <a:srgbClr val="373A39"/>
                </a:solidFill>
                <a:latin typeface="맑은 고딕"/>
                <a:ea typeface="맑은 고딕"/>
              </a:rPr>
              <a:t>1.1 건설 중 발생 가능한 각종 재난,사고 등 위험요소 분석</a:t>
            </a:r>
          </a:p>
          <a:p>
            <a:pPr algn="l">
              <a:lnSpc>
                <a:spcPct val="150000"/>
              </a:lnSpc>
            </a:pPr>
            <a:r>
              <a:rPr sz="1060" b="0">
                <a:solidFill>
                  <a:srgbClr val="373A39"/>
                </a:solidFill>
                <a:latin typeface="맑은 고딕"/>
                <a:ea typeface="맑은 고딕"/>
              </a:rPr>
              <a:t>(1) 건설 중 발생 가능한 각종 재난</a:t>
            </a:r>
          </a:p>
        </p:txBody>
      </p:sp>
      <p:sp>
        <p:nvSpPr>
          <p:cNvPr id="58" name="t3"/>
          <p:cNvSpPr txBox="1"/>
          <p:nvPr/>
        </p:nvSpPr>
        <p:spPr>
          <a:xfrm>
            <a:off x="1862754" y="1657941"/>
            <a:ext cx="621248" cy="1690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3333"/>
                </a:solidFill>
                <a:latin typeface="맑은 고딕"/>
                <a:ea typeface="맑은 고딕"/>
              </a:rPr>
              <a:t>자연재난</a:t>
            </a:r>
          </a:p>
        </p:txBody>
      </p:sp>
      <p:sp>
        <p:nvSpPr>
          <p:cNvPr id="59" name="t4"/>
          <p:cNvSpPr txBox="1"/>
          <p:nvPr/>
        </p:nvSpPr>
        <p:spPr>
          <a:xfrm>
            <a:off x="4935008" y="1675869"/>
            <a:ext cx="631947" cy="171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2B2E2E"/>
                </a:solidFill>
                <a:latin typeface="맑은 고딕"/>
                <a:ea typeface="맑은 고딕"/>
              </a:rPr>
              <a:t>사회재난</a:t>
            </a:r>
          </a:p>
        </p:txBody>
      </p:sp>
      <p:sp>
        <p:nvSpPr>
          <p:cNvPr id="60" name="t5"/>
          <p:cNvSpPr txBox="1"/>
          <p:nvPr/>
        </p:nvSpPr>
        <p:spPr>
          <a:xfrm>
            <a:off x="5498704" y="2026735"/>
            <a:ext cx="1247208" cy="689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9" b="0">
                <a:solidFill>
                  <a:srgbClr val="494B4B"/>
                </a:solidFill>
                <a:latin typeface="맑은 고딕"/>
                <a:ea typeface="맑은 고딕"/>
              </a:rPr>
              <a:t>• 공사현장 화재 파급</a:t>
            </a:r>
          </a:p>
          <a:p>
            <a:pPr algn="l">
              <a:lnSpc>
                <a:spcPct val="128000"/>
              </a:lnSpc>
            </a:pPr>
            <a:r>
              <a:rPr sz="869" b="0">
                <a:solidFill>
                  <a:srgbClr val="494B4B"/>
                </a:solidFill>
                <a:latin typeface="맑은 고딕"/>
                <a:ea typeface="맑은 고딕"/>
              </a:rPr>
              <a:t>• 자재 및 시설물 손상</a:t>
            </a:r>
          </a:p>
          <a:p>
            <a:pPr algn="l">
              <a:lnSpc>
                <a:spcPct val="128000"/>
              </a:lnSpc>
            </a:pPr>
            <a:r>
              <a:rPr sz="869" b="0">
                <a:solidFill>
                  <a:srgbClr val="494B4B"/>
                </a:solidFill>
                <a:latin typeface="맑은 고딕"/>
                <a:ea typeface="맑은 고딕"/>
              </a:rPr>
              <a:t>• 근로자 안전사고</a:t>
            </a:r>
          </a:p>
          <a:p>
            <a:pPr algn="l">
              <a:lnSpc>
                <a:spcPct val="128000"/>
              </a:lnSpc>
            </a:pPr>
            <a:r>
              <a:rPr sz="869" b="0">
                <a:solidFill>
                  <a:srgbClr val="494B4B"/>
                </a:solidFill>
                <a:latin typeface="맑은 고딕"/>
                <a:ea typeface="맑은 고딕"/>
              </a:rPr>
              <a:t>• 감전사고 유발</a:t>
            </a:r>
          </a:p>
        </p:txBody>
      </p:sp>
      <p:sp>
        <p:nvSpPr>
          <p:cNvPr id="61" name="t6"/>
          <p:cNvSpPr txBox="1"/>
          <p:nvPr/>
        </p:nvSpPr>
        <p:spPr>
          <a:xfrm>
            <a:off x="678722" y="2160105"/>
            <a:ext cx="576328" cy="3645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30" b="0">
                <a:solidFill>
                  <a:srgbClr val="3B3D3D"/>
                </a:solidFill>
                <a:latin typeface="맑은 고딕"/>
                <a:ea typeface="맑은 고딕"/>
              </a:rPr>
              <a:t>풍수해</a:t>
            </a:r>
          </a:p>
          <a:p>
            <a:pPr algn="l">
              <a:lnSpc>
                <a:spcPct val="113000"/>
              </a:lnSpc>
            </a:pPr>
            <a:r>
              <a:rPr sz="1030" b="0">
                <a:solidFill>
                  <a:srgbClr val="3B3D3D"/>
                </a:solidFill>
                <a:latin typeface="맑은 고딕"/>
                <a:ea typeface="맑은 고딕"/>
              </a:rPr>
              <a:t>산사태</a:t>
            </a:r>
          </a:p>
        </p:txBody>
      </p:sp>
      <p:sp>
        <p:nvSpPr>
          <p:cNvPr id="62" name="t7"/>
          <p:cNvSpPr txBox="1"/>
          <p:nvPr/>
        </p:nvSpPr>
        <p:spPr>
          <a:xfrm>
            <a:off x="4322245" y="2832264"/>
            <a:ext cx="2228962" cy="1744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5B859A"/>
                </a:solidFill>
                <a:latin typeface="맑은 고딕"/>
                <a:ea typeface="맑은 고딕"/>
              </a:rPr>
              <a:t>: 구•결;毳:불•灸` • 현장 접근성 악화</a:t>
            </a:r>
          </a:p>
        </p:txBody>
      </p:sp>
      <p:sp>
        <p:nvSpPr>
          <p:cNvPr id="63" name="t8"/>
          <p:cNvSpPr txBox="1"/>
          <p:nvPr/>
        </p:nvSpPr>
        <p:spPr>
          <a:xfrm>
            <a:off x="2412598" y="2936528"/>
            <a:ext cx="1320487" cy="690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9" b="0">
                <a:solidFill>
                  <a:srgbClr val="474948"/>
                </a:solidFill>
                <a:latin typeface="맑은 고딕"/>
                <a:ea typeface="맑은 고딕"/>
              </a:rPr>
              <a:t>• 구조물 표로 증대</a:t>
            </a:r>
          </a:p>
          <a:p>
            <a:pPr algn="l">
              <a:lnSpc>
                <a:spcPct val="128000"/>
              </a:lnSpc>
            </a:pPr>
            <a:r>
              <a:rPr sz="869" b="0">
                <a:solidFill>
                  <a:srgbClr val="474948"/>
                </a:solidFill>
                <a:latin typeface="맑은 고딕"/>
                <a:ea typeface="맑은 고딕"/>
              </a:rPr>
              <a:t>• 감전사고 유발</a:t>
            </a:r>
          </a:p>
          <a:p>
            <a:pPr algn="l">
              <a:lnSpc>
                <a:spcPct val="128000"/>
              </a:lnSpc>
            </a:pPr>
            <a:r>
              <a:rPr sz="869" b="0">
                <a:solidFill>
                  <a:srgbClr val="474948"/>
                </a:solidFill>
                <a:latin typeface="맑은 고딕"/>
                <a:ea typeface="맑은 고딕"/>
              </a:rPr>
              <a:t>• 21종 시설물 손상</a:t>
            </a:r>
          </a:p>
          <a:p>
            <a:pPr algn="l">
              <a:lnSpc>
                <a:spcPct val="128000"/>
              </a:lnSpc>
            </a:pPr>
            <a:r>
              <a:rPr sz="869" b="0">
                <a:solidFill>
                  <a:srgbClr val="474948"/>
                </a:solidFill>
                <a:latin typeface="맑은 고딕"/>
                <a:ea typeface="맑은 고딕"/>
              </a:rPr>
              <a:t>• 전기자재 절연력 약화</a:t>
            </a:r>
          </a:p>
        </p:txBody>
      </p:sp>
      <p:sp>
        <p:nvSpPr>
          <p:cNvPr id="64" name="t9"/>
          <p:cNvSpPr txBox="1"/>
          <p:nvPr/>
        </p:nvSpPr>
        <p:spPr>
          <a:xfrm>
            <a:off x="676564" y="3105150"/>
            <a:ext cx="202265" cy="11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3B3E3E"/>
                </a:solidFill>
                <a:latin typeface="맑은 고딕"/>
                <a:ea typeface="맑은 고딕"/>
              </a:rPr>
              <a:t>포</a:t>
            </a:r>
          </a:p>
        </p:txBody>
      </p:sp>
      <p:sp>
        <p:nvSpPr>
          <p:cNvPr id="65" name="t10"/>
          <p:cNvSpPr txBox="1"/>
          <p:nvPr/>
        </p:nvSpPr>
        <p:spPr>
          <a:xfrm>
            <a:off x="965149" y="3111246"/>
            <a:ext cx="181965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343536"/>
                </a:solidFill>
                <a:latin typeface="맑은 고딕"/>
                <a:ea typeface="맑은 고딕"/>
              </a:rPr>
              <a:t>여</a:t>
            </a:r>
          </a:p>
        </p:txBody>
      </p:sp>
      <p:sp>
        <p:nvSpPr>
          <p:cNvPr id="66" name="t11"/>
          <p:cNvSpPr txBox="1"/>
          <p:nvPr/>
        </p:nvSpPr>
        <p:spPr>
          <a:xfrm>
            <a:off x="5493996" y="3124572"/>
            <a:ext cx="1099331" cy="52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>
                <a:solidFill>
                  <a:srgbClr val="454747"/>
                </a:solidFill>
                <a:latin typeface="맑은 고딕"/>
                <a:ea typeface="맑은 고딕"/>
              </a:rPr>
              <a:t>• 자재 수급 지연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454747"/>
                </a:solidFill>
                <a:latin typeface="맑은 고딕"/>
                <a:ea typeface="맑은 고딕"/>
              </a:rPr>
              <a:t>. 교통 우회로 확보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454747"/>
                </a:solidFill>
                <a:latin typeface="맑은 고딕"/>
                <a:ea typeface="맑은 고딕"/>
              </a:rPr>
              <a:t>• 공사 중지 발생</a:t>
            </a:r>
          </a:p>
        </p:txBody>
      </p:sp>
      <p:sp>
        <p:nvSpPr>
          <p:cNvPr id="67" name="t12"/>
          <p:cNvSpPr txBox="1"/>
          <p:nvPr/>
        </p:nvSpPr>
        <p:spPr>
          <a:xfrm>
            <a:off x="682965" y="3275838"/>
            <a:ext cx="216895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A3F3D"/>
                </a:solidFill>
                <a:latin typeface="맑은 고딕"/>
                <a:ea typeface="맑은 고딕"/>
              </a:rPr>
              <a:t>대</a:t>
            </a:r>
          </a:p>
        </p:txBody>
      </p:sp>
      <p:sp>
        <p:nvSpPr>
          <p:cNvPr id="68" name="t13"/>
          <p:cNvSpPr txBox="1"/>
          <p:nvPr/>
        </p:nvSpPr>
        <p:spPr>
          <a:xfrm>
            <a:off x="957559" y="3281172"/>
            <a:ext cx="222747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43535"/>
                </a:solidFill>
                <a:latin typeface="맑은 고딕"/>
                <a:ea typeface="맑은 고딕"/>
              </a:rPr>
              <a:t>설</a:t>
            </a:r>
          </a:p>
        </p:txBody>
      </p:sp>
      <p:sp>
        <p:nvSpPr>
          <p:cNvPr id="69" name="t14"/>
          <p:cNvSpPr txBox="1"/>
          <p:nvPr/>
        </p:nvSpPr>
        <p:spPr>
          <a:xfrm>
            <a:off x="3760195" y="3304032"/>
            <a:ext cx="222747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F3333"/>
                </a:solidFill>
                <a:latin typeface="맑은 고딕"/>
                <a:ea typeface="맑은 고딕"/>
              </a:rPr>
              <a:t>재</a:t>
            </a:r>
          </a:p>
        </p:txBody>
      </p:sp>
      <p:sp>
        <p:nvSpPr>
          <p:cNvPr id="70" name="t15"/>
          <p:cNvSpPr txBox="1"/>
          <p:nvPr/>
        </p:nvSpPr>
        <p:spPr>
          <a:xfrm>
            <a:off x="4043659" y="3304032"/>
            <a:ext cx="346191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E4956"/>
                </a:solidFill>
                <a:latin typeface="맑은 고딕"/>
                <a:ea typeface="맑은 고딕"/>
              </a:rPr>
              <a:t>난-</a:t>
            </a:r>
          </a:p>
        </p:txBody>
      </p:sp>
      <p:sp>
        <p:nvSpPr>
          <p:cNvPr id="71" name="t16"/>
          <p:cNvSpPr txBox="1"/>
          <p:nvPr/>
        </p:nvSpPr>
        <p:spPr>
          <a:xfrm>
            <a:off x="2407982" y="3863713"/>
            <a:ext cx="1106578" cy="701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880" b="0">
                <a:solidFill>
                  <a:srgbClr val="4A4C4B"/>
                </a:solidFill>
                <a:latin typeface="맑은 고딕"/>
                <a:ea typeface="맑은 고딕"/>
              </a:rPr>
              <a:t>• 화入牀卜고 유발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A4C4B"/>
                </a:solidFill>
                <a:latin typeface="맑은 고딕"/>
                <a:ea typeface="맑은 고딕"/>
              </a:rPr>
              <a:t>• 근로자 안전사고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A4C4B"/>
                </a:solidFill>
                <a:latin typeface="맑은 고딕"/>
                <a:ea typeface="맑은 고딕"/>
              </a:rPr>
              <a:t>• 구조물 변형 불량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A4C4B"/>
                </a:solidFill>
                <a:latin typeface="맑은 고딕"/>
                <a:ea typeface="맑은 고딕"/>
              </a:rPr>
              <a:t>• 각종 시설물 손상</a:t>
            </a:r>
          </a:p>
        </p:txBody>
      </p:sp>
      <p:sp>
        <p:nvSpPr>
          <p:cNvPr id="72" name="t17"/>
          <p:cNvSpPr txBox="1"/>
          <p:nvPr/>
        </p:nvSpPr>
        <p:spPr>
          <a:xfrm>
            <a:off x="5489615" y="3876743"/>
            <a:ext cx="1159128" cy="699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860" b="0">
                <a:solidFill>
                  <a:srgbClr val="474949"/>
                </a:solidFill>
                <a:latin typeface="맑은 고딕"/>
                <a:ea typeface="맑은 고딕"/>
              </a:rPr>
              <a:t>• 근로자 추락사고</a:t>
            </a:r>
          </a:p>
          <a:p>
            <a:pPr algn="l">
              <a:lnSpc>
                <a:spcPct val="131000"/>
              </a:lnSpc>
            </a:pPr>
            <a:r>
              <a:rPr sz="860" b="0">
                <a:solidFill>
                  <a:srgbClr val="474949"/>
                </a:solidFill>
                <a:latin typeface="맑은 고딕"/>
                <a:ea typeface="맑은 고딕"/>
              </a:rPr>
              <a:t>• 공사장 낙하물사고</a:t>
            </a:r>
          </a:p>
          <a:p>
            <a:pPr algn="l">
              <a:lnSpc>
                <a:spcPct val="131000"/>
              </a:lnSpc>
            </a:pPr>
            <a:r>
              <a:rPr sz="860" b="0">
                <a:solidFill>
                  <a:srgbClr val="474949"/>
                </a:solidFill>
                <a:latin typeface="맑은 고딕"/>
                <a:ea typeface="맑은 고딕"/>
              </a:rPr>
              <a:t>• 구조물 변형 불량</a:t>
            </a:r>
          </a:p>
          <a:p>
            <a:pPr algn="l">
              <a:lnSpc>
                <a:spcPct val="131000"/>
              </a:lnSpc>
            </a:pPr>
            <a:r>
              <a:rPr sz="860" b="0">
                <a:solidFill>
                  <a:srgbClr val="474949"/>
                </a:solidFill>
                <a:latin typeface="맑은 고딕"/>
                <a:ea typeface="맑은 고딕"/>
              </a:rPr>
              <a:t>• 기자재 파손</a:t>
            </a:r>
          </a:p>
        </p:txBody>
      </p:sp>
      <p:sp>
        <p:nvSpPr>
          <p:cNvPr id="73" name="t18"/>
          <p:cNvSpPr txBox="1"/>
          <p:nvPr/>
        </p:nvSpPr>
        <p:spPr>
          <a:xfrm>
            <a:off x="673821" y="4019062"/>
            <a:ext cx="309250" cy="364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3F4242"/>
                </a:solidFill>
                <a:latin typeface="맑은 고딕"/>
                <a:ea typeface="맑은 고딕"/>
              </a:rPr>
              <a:t>낙</a:t>
            </a:r>
          </a:p>
          <a:p>
            <a:pPr algn="l">
              <a:lnSpc>
                <a:spcPct val="108000"/>
              </a:lnSpc>
            </a:pPr>
            <a:r>
              <a:rPr sz="1080" b="0">
                <a:solidFill>
                  <a:srgbClr val="3F4242"/>
                </a:solidFill>
                <a:latin typeface="맑은 고딕"/>
                <a:ea typeface="맑은 고딕"/>
              </a:rPr>
              <a:t>지</a:t>
            </a:r>
          </a:p>
        </p:txBody>
      </p:sp>
      <p:sp>
        <p:nvSpPr>
          <p:cNvPr id="74" name="t19"/>
          <p:cNvSpPr txBox="1"/>
          <p:nvPr/>
        </p:nvSpPr>
        <p:spPr>
          <a:xfrm>
            <a:off x="4041830" y="4066032"/>
            <a:ext cx="194401" cy="10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>
                <a:solidFill>
                  <a:srgbClr val="343535"/>
                </a:solidFill>
                <a:latin typeface="맑은 고딕"/>
                <a:ea typeface="맑은 고딕"/>
              </a:rPr>
              <a:t>라</a:t>
            </a:r>
          </a:p>
        </p:txBody>
      </p:sp>
      <p:sp>
        <p:nvSpPr>
          <p:cNvPr id="75" name="t20"/>
          <p:cNvSpPr txBox="1"/>
          <p:nvPr/>
        </p:nvSpPr>
        <p:spPr>
          <a:xfrm>
            <a:off x="3768937" y="4083710"/>
            <a:ext cx="163567" cy="74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0" b="1">
                <a:solidFill>
                  <a:srgbClr val="3A3B3C"/>
                </a:solidFill>
                <a:latin typeface="맑은 고딕"/>
                <a:ea typeface="맑은 고딕"/>
              </a:rPr>
              <a:t>ⅹ</a:t>
            </a:r>
          </a:p>
        </p:txBody>
      </p:sp>
      <p:sp>
        <p:nvSpPr>
          <p:cNvPr id="76" name="t21"/>
          <p:cNvSpPr txBox="1"/>
          <p:nvPr/>
        </p:nvSpPr>
        <p:spPr>
          <a:xfrm>
            <a:off x="952987" y="4209288"/>
            <a:ext cx="227319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B3D3D"/>
                </a:solidFill>
                <a:latin typeface="맑은 고딕"/>
                <a:ea typeface="맑은 고딕"/>
              </a:rPr>
              <a:t>진</a:t>
            </a:r>
          </a:p>
        </p:txBody>
      </p:sp>
      <p:sp>
        <p:nvSpPr>
          <p:cNvPr id="77" name="t22"/>
          <p:cNvSpPr txBox="1"/>
          <p:nvPr/>
        </p:nvSpPr>
        <p:spPr>
          <a:xfrm>
            <a:off x="4037716" y="4228338"/>
            <a:ext cx="668975" cy="1981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79786C"/>
                </a:solidFill>
                <a:latin typeface="맑은 고딕"/>
                <a:ea typeface="맑은 고딕"/>
              </a:rPr>
              <a:t>괴 “들</a:t>
            </a:r>
          </a:p>
        </p:txBody>
      </p:sp>
      <p:sp>
        <p:nvSpPr>
          <p:cNvPr id="78" name="t23"/>
          <p:cNvSpPr txBox="1"/>
          <p:nvPr/>
        </p:nvSpPr>
        <p:spPr>
          <a:xfrm>
            <a:off x="3755623" y="4236720"/>
            <a:ext cx="231891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7393A"/>
                </a:solidFill>
                <a:latin typeface="맑은 고딕"/>
                <a:ea typeface="맑은 고딕"/>
              </a:rPr>
              <a:t>붕</a:t>
            </a:r>
          </a:p>
        </p:txBody>
      </p:sp>
      <p:sp>
        <p:nvSpPr>
          <p:cNvPr id="79" name="t24"/>
          <p:cNvSpPr txBox="1"/>
          <p:nvPr/>
        </p:nvSpPr>
        <p:spPr>
          <a:xfrm>
            <a:off x="582410" y="4857831"/>
            <a:ext cx="1592715" cy="1730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33434"/>
                </a:solidFill>
                <a:latin typeface="맑은 고딕"/>
                <a:ea typeface="맑은 고딕"/>
              </a:rPr>
              <a:t>(기 태양광 공사현장 사고</a:t>
            </a:r>
          </a:p>
        </p:txBody>
      </p:sp>
      <p:sp>
        <p:nvSpPr>
          <p:cNvPr id="80" name="t25"/>
          <p:cNvSpPr txBox="1"/>
          <p:nvPr/>
        </p:nvSpPr>
        <p:spPr>
          <a:xfrm>
            <a:off x="4793741" y="5197600"/>
            <a:ext cx="877829" cy="1615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3333"/>
                </a:solidFill>
                <a:latin typeface="맑은 고딕"/>
                <a:ea typeface="맑은 고딕"/>
              </a:rPr>
              <a:t>시망사고 현황</a:t>
            </a:r>
          </a:p>
        </p:txBody>
      </p:sp>
      <p:sp>
        <p:nvSpPr>
          <p:cNvPr id="81" name="t26"/>
          <p:cNvSpPr txBox="1"/>
          <p:nvPr/>
        </p:nvSpPr>
        <p:spPr>
          <a:xfrm>
            <a:off x="2523308" y="5225601"/>
            <a:ext cx="1070503" cy="1204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8A8E8D"/>
                </a:solidFill>
                <a:latin typeface="맑은 고딕"/>
                <a:ea typeface="맑은 고딕"/>
              </a:rPr>
              <a:t>*기타:익사. 끼임. 감전 등</a:t>
            </a:r>
          </a:p>
        </p:txBody>
      </p:sp>
      <p:sp>
        <p:nvSpPr>
          <p:cNvPr id="82" name="t27"/>
          <p:cNvSpPr txBox="1"/>
          <p:nvPr/>
        </p:nvSpPr>
        <p:spPr>
          <a:xfrm>
            <a:off x="1205826" y="5209856"/>
            <a:ext cx="734645" cy="39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40" b="0">
                <a:solidFill>
                  <a:srgbClr val="3C3F40"/>
                </a:solidFill>
                <a:latin typeface="맑은 고딕"/>
                <a:ea typeface="맑은 고딕"/>
              </a:rPr>
              <a:t>추락사 26명</a:t>
            </a:r>
          </a:p>
          <a:p>
            <a:pPr algn="l">
              <a:lnSpc>
                <a:spcPct val="150000"/>
              </a:lnSpc>
            </a:pPr>
            <a:r>
              <a:rPr sz="840" b="0">
                <a:solidFill>
                  <a:srgbClr val="3C3F40"/>
                </a:solidFill>
                <a:latin typeface="맑은 고딕"/>
                <a:ea typeface="맑은 고딕"/>
              </a:rPr>
              <a:t>기타 4명</a:t>
            </a:r>
          </a:p>
        </p:txBody>
      </p:sp>
      <p:sp>
        <p:nvSpPr>
          <p:cNvPr id="83" name="t28"/>
          <p:cNvSpPr txBox="1"/>
          <p:nvPr/>
        </p:nvSpPr>
        <p:spPr>
          <a:xfrm>
            <a:off x="698875" y="5266182"/>
            <a:ext cx="181416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3F4749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84" name="t29"/>
          <p:cNvSpPr txBox="1"/>
          <p:nvPr/>
        </p:nvSpPr>
        <p:spPr>
          <a:xfrm>
            <a:off x="3761351" y="5437794"/>
            <a:ext cx="1521040" cy="1419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363938"/>
                </a:solidFill>
                <a:latin typeface="맑은 고딕"/>
                <a:ea typeface="맑은 고딕"/>
              </a:rPr>
              <a:t>• 신재생에너지원별 생0H주21</a:t>
            </a:r>
          </a:p>
        </p:txBody>
      </p:sp>
      <p:sp>
        <p:nvSpPr>
          <p:cNvPr id="85" name="t30"/>
          <p:cNvSpPr txBox="1"/>
          <p:nvPr/>
        </p:nvSpPr>
        <p:spPr>
          <a:xfrm>
            <a:off x="6180508" y="5422814"/>
            <a:ext cx="599025" cy="578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8000"/>
              </a:lnSpc>
            </a:pPr>
            <a:r>
              <a:rPr sz="790" b="0">
                <a:solidFill>
                  <a:srgbClr val="4D5150"/>
                </a:solidFill>
                <a:latin typeface="맑은 고딕"/>
                <a:ea typeface="맑은 고딕"/>
              </a:rPr>
              <a:t>(단위 : 명)</a:t>
            </a:r>
          </a:p>
          <a:p>
            <a:pPr algn="ctr">
              <a:lnSpc>
                <a:spcPct val="158000"/>
              </a:lnSpc>
            </a:pPr>
            <a:r>
              <a:rPr sz="790" b="0">
                <a:solidFill>
                  <a:srgbClr val="4D5150"/>
                </a:solidFill>
                <a:latin typeface="맑은 고딕"/>
                <a:ea typeface="맑은 고딕"/>
              </a:rPr>
              <a:t>합계</a:t>
            </a:r>
          </a:p>
          <a:p>
            <a:pPr algn="ctr">
              <a:lnSpc>
                <a:spcPct val="158000"/>
              </a:lnSpc>
            </a:pPr>
            <a:r>
              <a:rPr sz="790" b="0">
                <a:solidFill>
                  <a:srgbClr val="4D5150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86" name="t31"/>
          <p:cNvSpPr txBox="1"/>
          <p:nvPr/>
        </p:nvSpPr>
        <p:spPr>
          <a:xfrm>
            <a:off x="3888211" y="5631180"/>
            <a:ext cx="323331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33536"/>
                </a:solidFill>
                <a:latin typeface="맑은 고딕"/>
                <a:ea typeface="맑은 고딕"/>
              </a:rPr>
              <a:t>설치</a:t>
            </a:r>
          </a:p>
        </p:txBody>
      </p:sp>
      <p:sp>
        <p:nvSpPr>
          <p:cNvPr id="87" name="t32"/>
          <p:cNvSpPr txBox="1"/>
          <p:nvPr/>
        </p:nvSpPr>
        <p:spPr>
          <a:xfrm>
            <a:off x="4469678" y="5612099"/>
            <a:ext cx="1688713" cy="393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7000"/>
              </a:lnSpc>
            </a:pPr>
            <a:r>
              <a:rPr sz="919" b="0">
                <a:solidFill>
                  <a:srgbClr val="424546"/>
                </a:solidFill>
                <a:latin typeface="맑은 고딕"/>
                <a:ea typeface="맑은 고딕"/>
              </a:rPr>
              <a:t>저조 유지보수 분류불능</a:t>
            </a:r>
          </a:p>
          <a:p>
            <a:pPr algn="l">
              <a:lnSpc>
                <a:spcPct val="137000"/>
              </a:lnSpc>
            </a:pPr>
            <a:r>
              <a:rPr sz="919" b="0">
                <a:solidFill>
                  <a:srgbClr val="424546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8" name="t33"/>
          <p:cNvSpPr txBox="1"/>
          <p:nvPr/>
        </p:nvSpPr>
        <p:spPr>
          <a:xfrm>
            <a:off x="694303" y="5746242"/>
            <a:ext cx="185988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05A5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89" name="t34"/>
          <p:cNvSpPr txBox="1"/>
          <p:nvPr/>
        </p:nvSpPr>
        <p:spPr>
          <a:xfrm>
            <a:off x="5750661" y="5836920"/>
            <a:ext cx="125272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3E4241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0" name="t35"/>
          <p:cNvSpPr txBox="1"/>
          <p:nvPr/>
        </p:nvSpPr>
        <p:spPr>
          <a:xfrm>
            <a:off x="3756903" y="5992143"/>
            <a:ext cx="1578074" cy="394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850" b="0">
                <a:solidFill>
                  <a:srgbClr val="4B4D4D"/>
                </a:solidFill>
                <a:latin typeface="맑은 고딕"/>
                <a:ea typeface="맑은 고딕"/>
              </a:rPr>
              <a:t>• 신재생에너지원별 발생형태</a:t>
            </a:r>
          </a:p>
          <a:p>
            <a:pPr algn="l">
              <a:lnSpc>
                <a:spcPct val="148000"/>
              </a:lnSpc>
            </a:pPr>
            <a:r>
              <a:rPr sz="850" b="0">
                <a:solidFill>
                  <a:srgbClr val="4B4D4D"/>
                </a:solidFill>
                <a:latin typeface="맑은 고딕"/>
                <a:ea typeface="맑은 고딕"/>
              </a:rPr>
              <a:t>추락사 익사</a:t>
            </a:r>
          </a:p>
        </p:txBody>
      </p:sp>
      <p:sp>
        <p:nvSpPr>
          <p:cNvPr id="91" name="t36"/>
          <p:cNvSpPr txBox="1"/>
          <p:nvPr/>
        </p:nvSpPr>
        <p:spPr>
          <a:xfrm>
            <a:off x="6175936" y="6002257"/>
            <a:ext cx="599025" cy="585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90" b="0">
                <a:solidFill>
                  <a:srgbClr val="585A5A"/>
                </a:solidFill>
                <a:latin typeface="맑은 고딕"/>
                <a:ea typeface="맑은 고딕"/>
              </a:rPr>
              <a:t>(단위 : 명)</a:t>
            </a:r>
          </a:p>
          <a:p>
            <a:pPr algn="ctr">
              <a:lnSpc>
                <a:spcPct val="160000"/>
              </a:lnSpc>
            </a:pPr>
            <a:r>
              <a:rPr sz="790" b="0">
                <a:solidFill>
                  <a:srgbClr val="585A5A"/>
                </a:solidFill>
                <a:latin typeface="맑은 고딕"/>
                <a:ea typeface="맑은 고딕"/>
              </a:rPr>
              <a:t>합계</a:t>
            </a:r>
          </a:p>
          <a:p>
            <a:pPr algn="ctr">
              <a:lnSpc>
                <a:spcPct val="160000"/>
              </a:lnSpc>
            </a:pPr>
            <a:r>
              <a:rPr sz="790" b="0">
                <a:solidFill>
                  <a:srgbClr val="585A5A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92" name="t37"/>
          <p:cNvSpPr txBox="1"/>
          <p:nvPr/>
        </p:nvSpPr>
        <p:spPr>
          <a:xfrm>
            <a:off x="740023" y="6198870"/>
            <a:ext cx="135696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4E595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93" name="t38"/>
          <p:cNvSpPr txBox="1"/>
          <p:nvPr/>
        </p:nvSpPr>
        <p:spPr>
          <a:xfrm>
            <a:off x="5059466" y="6197315"/>
            <a:ext cx="381121" cy="393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7000"/>
              </a:lnSpc>
            </a:pPr>
            <a:r>
              <a:rPr sz="919" b="0">
                <a:solidFill>
                  <a:srgbClr val="404344"/>
                </a:solidFill>
                <a:latin typeface="맑은 고딕"/>
                <a:ea typeface="맑은 고딕"/>
              </a:rPr>
              <a:t>끼임</a:t>
            </a:r>
          </a:p>
          <a:p>
            <a:pPr algn="ctr">
              <a:lnSpc>
                <a:spcPct val="137000"/>
              </a:lnSpc>
            </a:pPr>
            <a:r>
              <a:rPr sz="919" b="0">
                <a:solidFill>
                  <a:srgbClr val="404344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4" name="t39"/>
          <p:cNvSpPr txBox="1"/>
          <p:nvPr/>
        </p:nvSpPr>
        <p:spPr>
          <a:xfrm>
            <a:off x="5640450" y="6201575"/>
            <a:ext cx="529093" cy="383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1000"/>
              </a:lnSpc>
            </a:pPr>
            <a:r>
              <a:rPr sz="869" b="0">
                <a:solidFill>
                  <a:srgbClr val="464948"/>
                </a:solidFill>
                <a:latin typeface="맑은 고딕"/>
                <a:ea typeface="맑은 고딕"/>
              </a:rPr>
              <a:t>감전 등</a:t>
            </a:r>
          </a:p>
          <a:p>
            <a:pPr algn="ctr">
              <a:lnSpc>
                <a:spcPct val="141000"/>
              </a:lnSpc>
            </a:pPr>
            <a:r>
              <a:rPr sz="869" b="0">
                <a:solidFill>
                  <a:srgbClr val="46494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5" name="t40"/>
          <p:cNvSpPr txBox="1"/>
          <p:nvPr/>
        </p:nvSpPr>
        <p:spPr>
          <a:xfrm>
            <a:off x="1090970" y="6310122"/>
            <a:ext cx="158008" cy="149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4363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6" name="t41"/>
          <p:cNvSpPr txBox="1"/>
          <p:nvPr/>
        </p:nvSpPr>
        <p:spPr>
          <a:xfrm>
            <a:off x="4557369" y="6412992"/>
            <a:ext cx="125272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482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7" name="t42"/>
          <p:cNvSpPr txBox="1"/>
          <p:nvPr/>
        </p:nvSpPr>
        <p:spPr>
          <a:xfrm>
            <a:off x="1635312" y="6457188"/>
            <a:ext cx="136428" cy="1432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4A505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8" name="t43"/>
          <p:cNvSpPr txBox="1"/>
          <p:nvPr/>
        </p:nvSpPr>
        <p:spPr>
          <a:xfrm>
            <a:off x="3752315" y="6570700"/>
            <a:ext cx="1701872" cy="599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1000"/>
              </a:lnSpc>
            </a:pPr>
            <a:r>
              <a:rPr sz="860" b="0">
                <a:solidFill>
                  <a:srgbClr val="535555"/>
                </a:solidFill>
                <a:latin typeface="맑은 고딕"/>
                <a:ea typeface="맑은 고딕"/>
              </a:rPr>
              <a:t>• 신재생에너지원별 21인물현황</a:t>
            </a:r>
          </a:p>
          <a:p>
            <a:pPr algn="ctr">
              <a:lnSpc>
                <a:spcPct val="151000"/>
              </a:lnSpc>
            </a:pPr>
            <a:r>
              <a:rPr sz="860" b="0">
                <a:solidFill>
                  <a:srgbClr val="535555"/>
                </a:solidFill>
                <a:latin typeface="맑은 고딕"/>
                <a:ea typeface="맑은 고딕"/>
              </a:rPr>
              <a:t>사다리</a:t>
            </a:r>
          </a:p>
          <a:p>
            <a:pPr algn="ctr">
              <a:lnSpc>
                <a:spcPct val="151000"/>
              </a:lnSpc>
            </a:pPr>
            <a:r>
              <a:rPr sz="860" b="0">
                <a:solidFill>
                  <a:srgbClr val="535555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9" name="t44"/>
          <p:cNvSpPr txBox="1"/>
          <p:nvPr/>
        </p:nvSpPr>
        <p:spPr>
          <a:xfrm>
            <a:off x="5515843" y="6602089"/>
            <a:ext cx="1290767" cy="584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000"/>
              </a:lnSpc>
            </a:pPr>
            <a:r>
              <a:rPr sz="1040" b="0">
                <a:solidFill>
                  <a:srgbClr val="4E5151"/>
                </a:solidFill>
                <a:latin typeface="맑은 고딕"/>
                <a:ea typeface="맑은 고딕"/>
              </a:rPr>
              <a:t>(단위 : 명)</a:t>
            </a:r>
          </a:p>
          <a:p>
            <a:pPr algn="l">
              <a:lnSpc>
                <a:spcPct val="121000"/>
              </a:lnSpc>
            </a:pPr>
            <a:r>
              <a:rPr sz="1040" b="0">
                <a:solidFill>
                  <a:srgbClr val="4E5151"/>
                </a:solidFill>
                <a:latin typeface="맑은 고딕"/>
                <a:ea typeface="맑은 고딕"/>
              </a:rPr>
              <a:t>기EK비계등) 합계</a:t>
            </a:r>
          </a:p>
          <a:p>
            <a:pPr algn="l">
              <a:lnSpc>
                <a:spcPct val="121000"/>
              </a:lnSpc>
            </a:pPr>
            <a:r>
              <a:rPr sz="1040" b="0">
                <a:solidFill>
                  <a:srgbClr val="4E5151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100" name="t45"/>
          <p:cNvSpPr txBox="1"/>
          <p:nvPr/>
        </p:nvSpPr>
        <p:spPr>
          <a:xfrm>
            <a:off x="735451" y="6669786"/>
            <a:ext cx="135696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616A6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01" name="t46"/>
          <p:cNvSpPr txBox="1"/>
          <p:nvPr/>
        </p:nvSpPr>
        <p:spPr>
          <a:xfrm>
            <a:off x="1000079" y="6759702"/>
            <a:ext cx="334304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444546"/>
                </a:solidFill>
                <a:latin typeface="맑은 고딕"/>
                <a:ea typeface="맑은 고딕"/>
              </a:rPr>
              <a:t>2017</a:t>
            </a:r>
          </a:p>
        </p:txBody>
      </p:sp>
      <p:sp>
        <p:nvSpPr>
          <p:cNvPr id="102" name="t47"/>
          <p:cNvSpPr txBox="1"/>
          <p:nvPr/>
        </p:nvSpPr>
        <p:spPr>
          <a:xfrm>
            <a:off x="1534953" y="6764136"/>
            <a:ext cx="334900" cy="1382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14243"/>
                </a:solidFill>
                <a:latin typeface="맑은 고딕"/>
                <a:ea typeface="맑은 고딕"/>
              </a:rPr>
              <a:t>2018</a:t>
            </a:r>
          </a:p>
        </p:txBody>
      </p:sp>
      <p:sp>
        <p:nvSpPr>
          <p:cNvPr id="103" name="t48"/>
          <p:cNvSpPr txBox="1"/>
          <p:nvPr/>
        </p:nvSpPr>
        <p:spPr>
          <a:xfrm>
            <a:off x="2069989" y="6773590"/>
            <a:ext cx="328987" cy="135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434244"/>
                </a:solidFill>
                <a:latin typeface="맑은 고딕"/>
                <a:ea typeface="맑은 고딕"/>
              </a:rPr>
              <a:t>2019</a:t>
            </a:r>
          </a:p>
        </p:txBody>
      </p:sp>
      <p:sp>
        <p:nvSpPr>
          <p:cNvPr id="104" name="t49"/>
          <p:cNvSpPr txBox="1"/>
          <p:nvPr/>
        </p:nvSpPr>
        <p:spPr>
          <a:xfrm>
            <a:off x="2609485" y="6778162"/>
            <a:ext cx="328987" cy="135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434343"/>
                </a:solidFill>
                <a:latin typeface="맑은 고딕"/>
                <a:ea typeface="맑은 고딕"/>
              </a:rPr>
              <a:t>2020</a:t>
            </a:r>
          </a:p>
        </p:txBody>
      </p:sp>
      <p:sp>
        <p:nvSpPr>
          <p:cNvPr id="105" name="t50"/>
          <p:cNvSpPr txBox="1"/>
          <p:nvPr/>
        </p:nvSpPr>
        <p:spPr>
          <a:xfrm>
            <a:off x="3144632" y="6783355"/>
            <a:ext cx="317162" cy="1308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A3B3B"/>
                </a:solidFill>
                <a:latin typeface="맑은 고딕"/>
                <a:ea typeface="맑은 고딕"/>
              </a:rPr>
              <a:t>2021</a:t>
            </a:r>
          </a:p>
        </p:txBody>
      </p:sp>
      <p:sp>
        <p:nvSpPr>
          <p:cNvPr id="106" name="t51"/>
          <p:cNvSpPr txBox="1"/>
          <p:nvPr/>
        </p:nvSpPr>
        <p:spPr>
          <a:xfrm>
            <a:off x="3884599" y="6778904"/>
            <a:ext cx="378104" cy="384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7000"/>
              </a:lnSpc>
            </a:pPr>
            <a:r>
              <a:rPr sz="900" b="0">
                <a:solidFill>
                  <a:srgbClr val="3D3F3E"/>
                </a:solidFill>
                <a:latin typeface="맑은 고딕"/>
                <a:ea typeface="맑은 고딕"/>
              </a:rPr>
              <a:t>지붕</a:t>
            </a:r>
          </a:p>
          <a:p>
            <a:pPr algn="l">
              <a:lnSpc>
                <a:spcPct val="137000"/>
              </a:lnSpc>
            </a:pPr>
            <a:r>
              <a:rPr sz="900" b="0">
                <a:solidFill>
                  <a:srgbClr val="3D3F3E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107" name="t52"/>
          <p:cNvSpPr txBox="1"/>
          <p:nvPr/>
        </p:nvSpPr>
        <p:spPr>
          <a:xfrm>
            <a:off x="5059603" y="6783476"/>
            <a:ext cx="382676" cy="384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7000"/>
              </a:lnSpc>
            </a:pPr>
            <a:r>
              <a:rPr sz="900" b="0">
                <a:solidFill>
                  <a:srgbClr val="474B4B"/>
                </a:solidFill>
                <a:latin typeface="맑은 고딕"/>
                <a:ea typeface="맑은 고딕"/>
              </a:rPr>
              <a:t>전주</a:t>
            </a:r>
          </a:p>
          <a:p>
            <a:pPr algn="ctr">
              <a:lnSpc>
                <a:spcPct val="137000"/>
              </a:lnSpc>
            </a:pPr>
            <a:r>
              <a:rPr sz="900" b="0">
                <a:solidFill>
                  <a:srgbClr val="474B4B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8" name="t53"/>
          <p:cNvSpPr txBox="1"/>
          <p:nvPr/>
        </p:nvSpPr>
        <p:spPr>
          <a:xfrm>
            <a:off x="848798" y="6950601"/>
            <a:ext cx="2670880" cy="1461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54747"/>
                </a:solidFill>
                <a:latin typeface="맑은 고딕"/>
                <a:ea typeface="맑은 고딕"/>
              </a:rPr>
              <a:t>수 태양광 공사현장 사망사고의 86.7%는 추락사로서</a:t>
            </a:r>
          </a:p>
        </p:txBody>
      </p:sp>
      <p:sp>
        <p:nvSpPr>
          <p:cNvPr id="109" name="t54"/>
          <p:cNvSpPr txBox="1"/>
          <p:nvPr/>
        </p:nvSpPr>
        <p:spPr>
          <a:xfrm>
            <a:off x="5787237" y="7002780"/>
            <a:ext cx="157276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4F504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10" name="t55"/>
          <p:cNvSpPr txBox="1"/>
          <p:nvPr/>
        </p:nvSpPr>
        <p:spPr>
          <a:xfrm>
            <a:off x="1017989" y="7124413"/>
            <a:ext cx="1513837" cy="1455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4546"/>
                </a:solidFill>
                <a:latin typeface="맑은 고딕"/>
                <a:ea typeface="맑은 고딕"/>
              </a:rPr>
              <a:t>이에 대한 안전계획을 수립함</a:t>
            </a:r>
          </a:p>
        </p:txBody>
      </p:sp>
      <p:sp>
        <p:nvSpPr>
          <p:cNvPr id="111" name="t56"/>
          <p:cNvSpPr txBox="1"/>
          <p:nvPr/>
        </p:nvSpPr>
        <p:spPr>
          <a:xfrm>
            <a:off x="5626871" y="7175555"/>
            <a:ext cx="1094112" cy="138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05352"/>
                </a:solidFill>
                <a:latin typeface="맑은 고딕"/>
                <a:ea typeface="맑은 고딕"/>
              </a:rPr>
              <a:t>* 출처 : 안전보건공단</a:t>
            </a:r>
          </a:p>
        </p:txBody>
      </p:sp>
      <p:sp>
        <p:nvSpPr>
          <p:cNvPr id="112" name="t57"/>
          <p:cNvSpPr txBox="1"/>
          <p:nvPr/>
        </p:nvSpPr>
        <p:spPr>
          <a:xfrm>
            <a:off x="568677" y="7500398"/>
            <a:ext cx="4185249" cy="173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53736"/>
                </a:solidFill>
                <a:latin typeface="맑은 고딕"/>
                <a:ea typeface="맑은 고딕"/>
              </a:rPr>
              <a:t>(3) 최근 발생한 대형 건설사고(검단신도시 아파트 건설현장 붕괴사고)</a:t>
            </a:r>
          </a:p>
        </p:txBody>
      </p:sp>
      <p:sp>
        <p:nvSpPr>
          <p:cNvPr id="113" name="t61"/>
          <p:cNvSpPr txBox="1"/>
          <p:nvPr/>
        </p:nvSpPr>
        <p:spPr>
          <a:xfrm>
            <a:off x="3610608" y="9096546"/>
            <a:ext cx="3187233" cy="705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850" b="0">
                <a:solidFill>
                  <a:srgbClr val="474948"/>
                </a:solidFill>
                <a:latin typeface="맑은 고딕"/>
                <a:ea typeface="맑은 고딕"/>
              </a:rPr>
              <a:t>• 설계•감리•시공등총처적 부실로 인한 전단보강철근의 미설치</a:t>
            </a:r>
          </a:p>
          <a:p>
            <a:pPr algn="l">
              <a:lnSpc>
                <a:spcPct val="134000"/>
              </a:lnSpc>
            </a:pPr>
            <a:r>
              <a:rPr sz="850" b="0">
                <a:solidFill>
                  <a:srgbClr val="474948"/>
                </a:solidFill>
                <a:latin typeface="맑은 고딕"/>
                <a:ea typeface="맑은 고딕"/>
              </a:rPr>
              <a:t>• 붕괴구간 콘크리트 강도부족 등 품질관리 미흡</a:t>
            </a:r>
          </a:p>
          <a:p>
            <a:pPr algn="l">
              <a:lnSpc>
                <a:spcPct val="134000"/>
              </a:lnSpc>
            </a:pPr>
            <a:r>
              <a:rPr sz="850" b="0">
                <a:solidFill>
                  <a:srgbClr val="474948"/>
                </a:solidFill>
                <a:latin typeface="맑은 고딕"/>
                <a:ea typeface="맑은 고딕"/>
              </a:rPr>
              <a:t>• 공사고정에서 추가도는 하중을 적게 고려</a:t>
            </a:r>
          </a:p>
          <a:p>
            <a:pPr algn="l">
              <a:lnSpc>
                <a:spcPct val="134000"/>
              </a:lnSpc>
            </a:pPr>
            <a:r>
              <a:rPr sz="850" b="0">
                <a:solidFill>
                  <a:srgbClr val="474948"/>
                </a:solidFill>
                <a:latin typeface="맑은 고딕"/>
                <a:ea typeface="맑은 고딕"/>
              </a:rPr>
              <a:t>• 골조가 완료될 때까지 지하주치장 정21안전점검을 미실시</a:t>
            </a:r>
          </a:p>
        </p:txBody>
      </p:sp>
      <p:sp>
        <p:nvSpPr>
          <p:cNvPr id="114" name="t62"/>
          <p:cNvSpPr txBox="1"/>
          <p:nvPr/>
        </p:nvSpPr>
        <p:spPr>
          <a:xfrm>
            <a:off x="2882113" y="9365785"/>
            <a:ext cx="728770" cy="1733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C3F3F"/>
                </a:solidFill>
                <a:latin typeface="맑은 고딕"/>
                <a:ea typeface="맑은 고딕"/>
              </a:rPr>
              <a:t>발생 원 인</a:t>
            </a:r>
          </a:p>
        </p:txBody>
      </p:sp>
      <p:sp>
        <p:nvSpPr>
          <p:cNvPr id="115" name="t63"/>
          <p:cNvSpPr txBox="1"/>
          <p:nvPr/>
        </p:nvSpPr>
        <p:spPr>
          <a:xfrm>
            <a:off x="6406321" y="10008206"/>
            <a:ext cx="377221" cy="191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585A5A"/>
                </a:solidFill>
                <a:latin typeface="맑은 고딕"/>
                <a:ea typeface="맑은 고딕"/>
              </a:rPr>
              <a:t>137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4078224" y="1376172"/>
            <a:ext cx="2811780" cy="274320"/>
          </a:xfrm>
          <a:prstGeom prst="rect">
            <a:avLst/>
          </a:prstGeom>
          <a:solidFill>
            <a:srgbClr val="D4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749808" y="1417320"/>
            <a:ext cx="1892808" cy="265176"/>
          </a:xfrm>
          <a:prstGeom prst="rect">
            <a:avLst/>
          </a:prstGeom>
          <a:solidFill>
            <a:srgbClr val="D7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2656332" y="1403604"/>
            <a:ext cx="1408176" cy="260604"/>
          </a:xfrm>
          <a:prstGeom prst="rect">
            <a:avLst/>
          </a:prstGeom>
          <a:solidFill>
            <a:srgbClr val="D6E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-1"/>
          <p:cNvGraphicFramePr>
            <a:graphicFrameLocks noGrp="1"/>
          </p:cNvGraphicFramePr>
          <p:nvPr/>
        </p:nvGraphicFramePr>
        <p:xfrm>
          <a:off x="754380" y="3095244"/>
          <a:ext cx="6185916" cy="21991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90372"/>
                <a:gridCol w="1184148"/>
                <a:gridCol w="1463040"/>
                <a:gridCol w="2848356"/>
              </a:tblGrid>
              <a:tr h="1495044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03233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  <a:p>
                      <a:pPr algn="l"/>
                      <a:r>
                        <a:rPr sz="1040" b="0">
                          <a:solidFill>
                            <a:srgbClr val="303233"/>
                          </a:solidFill>
                          <a:latin typeface="맑은 고딕"/>
                          <a:ea typeface="맑은 고딕"/>
                        </a:rPr>
                        <a:t>산</a:t>
                      </a:r>
                    </a:p>
                    <a:p>
                      <a:pPr algn="l"/>
                      <a:r>
                        <a:rPr sz="1040" b="0">
                          <a:solidFill>
                            <a:srgbClr val="303233"/>
                          </a:solidFill>
                          <a:latin typeface="맑은 고딕"/>
                          <a:ea typeface="맑은 고딕"/>
                        </a:rPr>
                        <a:t>사</a:t>
                      </a:r>
                    </a:p>
                    <a:p>
                      <a:pPr algn="l"/>
                      <a:r>
                        <a:rPr sz="1040" b="0">
                          <a:solidFill>
                            <a:srgbClr val="303233"/>
                          </a:solidFill>
                          <a:latin typeface="맑은 고딕"/>
                          <a:ea typeface="맑은 고딕"/>
                        </a:rPr>
                        <a:t>재</a:t>
                      </a:r>
                    </a:p>
                    <a:p>
                      <a:pPr algn="l"/>
                      <a:r>
                        <a:rPr sz="1040" b="0">
                          <a:solidFill>
                            <a:srgbClr val="303233"/>
                          </a:solidFill>
                          <a:latin typeface="맑은 고딕"/>
                          <a:ea typeface="맑은 고딕"/>
                        </a:rPr>
                        <a:t>재</a:t>
                      </a:r>
                    </a:p>
                    <a:p>
                      <a:pPr algn="l"/>
                      <a:r>
                        <a:rPr sz="1040" b="0">
                          <a:solidFill>
                            <a:srgbClr val="303233"/>
                          </a:solidFill>
                          <a:latin typeface="맑은 고딕"/>
                          <a:ea typeface="맑은 고딕"/>
                        </a:rPr>
                        <a:t>회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A39897"/>
                          </a:solidFill>
                          <a:latin typeface="맑은 고딕"/>
                          <a:ea typeface="맑은 고딕"/>
                        </a:rPr>
                        <a:t>결: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43636"/>
                          </a:solidFill>
                          <a:latin typeface="맑은 고딕"/>
                          <a:ea typeface="맑은 고딕"/>
                        </a:rPr>
                        <a:t>• 인명 및 재산상 손실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43636"/>
                          </a:solidFill>
                          <a:latin typeface="맑은 고딕"/>
                          <a:ea typeface="맑은 고딕"/>
                        </a:rPr>
                        <a:t>• 공사현장 시설물 화재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43636"/>
                          </a:solidFill>
                          <a:latin typeface="맑은 고딕"/>
                          <a:ea typeface="맑은 고딕"/>
                        </a:rPr>
                        <a:t>• 감전 및 근로자 안전사고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43636"/>
                          </a:solidFill>
                          <a:latin typeface="맑은 고딕"/>
                          <a:ea typeface="맑은 고딕"/>
                        </a:rPr>
                        <a:t>• 감염병(코로나19) 발생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43636"/>
                          </a:solidFill>
                          <a:latin typeface="맑은 고딕"/>
                          <a:ea typeface="맑은 고딕"/>
                        </a:rPr>
                        <a:t>• 교통재난 발생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343636"/>
                          </a:solidFill>
                          <a:latin typeface="맑은 고딕"/>
                          <a:ea typeface="맑은 고딕"/>
                        </a:rPr>
                        <a:t>• 기타 비상 국가 재난 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93B3B"/>
                          </a:solidFill>
                          <a:latin typeface="맑은 고딕"/>
                          <a:ea typeface="맑은 고딕"/>
                        </a:rPr>
                        <a:t>• 구조물 변형 등 원인파악 및 피해규모 분석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393B3B"/>
                          </a:solidFill>
                          <a:latin typeface="맑은 고딕"/>
                          <a:ea typeface="맑은 고딕"/>
                        </a:rPr>
                        <a:t>• 피해복구계획 수립 및 필요시 현장 철거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393B3B"/>
                          </a:solidFill>
                          <a:latin typeface="맑은 고딕"/>
                          <a:ea typeface="맑은 고딕"/>
                        </a:rPr>
                        <a:t>• 피해지역 入牀공 및 지체일수 등 전체 공정계획 수립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393B3B"/>
                          </a:solidFill>
                          <a:latin typeface="맑은 고딕"/>
                          <a:ea typeface="맑은 고딕"/>
                        </a:rPr>
                        <a:t>• 근로자 안전대책 강구 및 대체인력 확보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393B3B"/>
                          </a:solidFill>
                          <a:latin typeface="맑은 고딕"/>
                          <a:ea typeface="맑은 고딕"/>
                        </a:rPr>
                        <a:t>• 우회 도로 및 교통수단 확보로 자재수급 획인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393B3B"/>
                          </a:solidFill>
                          <a:latin typeface="맑은 고딕"/>
                          <a:ea typeface="맑은 고딕"/>
                        </a:rPr>
                        <a:t>• 국가 재난머뉴얼 이행 및 비상처제 돌입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ctr"/>
                      <a:r>
                        <a:rPr sz="1040" b="0">
                          <a:solidFill>
                            <a:srgbClr val="252726"/>
                          </a:solidFill>
                          <a:latin typeface="맑은 고딕"/>
                          <a:ea typeface="맑은 고딕"/>
                        </a:rPr>
                        <a:t>(2) 태양광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0" b="0">
                          <a:solidFill>
                            <a:srgbClr val="262828"/>
                          </a:solidFill>
                          <a:latin typeface="맑은 고딕"/>
                          <a:ea typeface="맑은 고딕"/>
                        </a:rPr>
                        <a:t>공사현장 사고예방을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20" b="0">
                          <a:solidFill>
                            <a:srgbClr val="262828"/>
                          </a:solidFill>
                          <a:latin typeface="맑은 고딕"/>
                          <a:ea typeface="맑은 고딕"/>
                        </a:rPr>
                        <a:t>위한 안전조치 계획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212324"/>
                          </a:solidFill>
                          <a:latin typeface="맑은 고딕"/>
                          <a:ea typeface="맑은 고딕"/>
                        </a:rPr>
                        <a:t>대책 방안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212425"/>
                          </a:solidFill>
                          <a:latin typeface="맑은 고딕"/>
                          <a:ea typeface="맑은 고딕"/>
                        </a:rPr>
                        <a:t>사고 유형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D8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</a:tbl>
          </a:graphicData>
        </a:graphic>
      </p:graphicFrame>
      <p:pic>
        <p:nvPicPr>
          <p:cNvPr id="6" name="i0" descr="p4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719072"/>
            <a:ext cx="1248156" cy="699516"/>
          </a:xfrm>
          <a:prstGeom prst="rect">
            <a:avLst/>
          </a:prstGeom>
        </p:spPr>
      </p:pic>
      <p:pic>
        <p:nvPicPr>
          <p:cNvPr id="7" name="i1" descr="p4_i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418588"/>
            <a:ext cx="1243584" cy="731520"/>
          </a:xfrm>
          <a:prstGeom prst="rect">
            <a:avLst/>
          </a:prstGeom>
        </p:spPr>
      </p:pic>
      <p:pic>
        <p:nvPicPr>
          <p:cNvPr id="8" name="i4" descr="p4_i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5038344"/>
            <a:ext cx="1275588" cy="2020824"/>
          </a:xfrm>
          <a:prstGeom prst="rect">
            <a:avLst/>
          </a:prstGeom>
        </p:spPr>
      </p:pic>
      <p:pic>
        <p:nvPicPr>
          <p:cNvPr id="9" name="i5" descr="p4_i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7100316"/>
            <a:ext cx="288036" cy="388620"/>
          </a:xfrm>
          <a:prstGeom prst="rect">
            <a:avLst/>
          </a:prstGeom>
        </p:spPr>
      </p:pic>
      <p:pic>
        <p:nvPicPr>
          <p:cNvPr id="10" name="i6" descr="p4_i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" y="7100316"/>
            <a:ext cx="969264" cy="384048"/>
          </a:xfrm>
          <a:prstGeom prst="rect">
            <a:avLst/>
          </a:prstGeom>
        </p:spPr>
      </p:pic>
      <p:pic>
        <p:nvPicPr>
          <p:cNvPr id="11" name="i7" descr="p4_i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" y="7488936"/>
            <a:ext cx="1275588" cy="736092"/>
          </a:xfrm>
          <a:prstGeom prst="rect">
            <a:avLst/>
          </a:prstGeom>
        </p:spPr>
      </p:pic>
      <p:pic>
        <p:nvPicPr>
          <p:cNvPr id="12" name="i8" descr="p4_i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160020"/>
            <a:ext cx="553212" cy="457200"/>
          </a:xfrm>
          <a:prstGeom prst="rect">
            <a:avLst/>
          </a:prstGeom>
        </p:spPr>
      </p:pic>
      <p:pic>
        <p:nvPicPr>
          <p:cNvPr id="13" name="i9" descr="p4_i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6152" y="2647188"/>
            <a:ext cx="109728" cy="123444"/>
          </a:xfrm>
          <a:prstGeom prst="rect">
            <a:avLst/>
          </a:prstGeom>
        </p:spPr>
      </p:pic>
      <p:pic>
        <p:nvPicPr>
          <p:cNvPr id="14" name="i10" descr="p4_i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532" y="2651760"/>
            <a:ext cx="118872" cy="123444"/>
          </a:xfrm>
          <a:prstGeom prst="rect">
            <a:avLst/>
          </a:prstGeom>
        </p:spPr>
      </p:pic>
      <p:pic>
        <p:nvPicPr>
          <p:cNvPr id="15" name="i11" descr="p4_i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0340" y="2711196"/>
            <a:ext cx="1051560" cy="128016"/>
          </a:xfrm>
          <a:prstGeom prst="rect">
            <a:avLst/>
          </a:prstGeom>
        </p:spPr>
      </p:pic>
      <p:pic>
        <p:nvPicPr>
          <p:cNvPr id="16" name="i20" descr="p4_i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1972" y="5952744"/>
            <a:ext cx="4832604" cy="64008"/>
          </a:xfrm>
          <a:prstGeom prst="rect">
            <a:avLst/>
          </a:prstGeom>
        </p:spPr>
      </p:pic>
      <p:pic>
        <p:nvPicPr>
          <p:cNvPr id="17" name="i21" descr="p4_i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384" y="7063740"/>
            <a:ext cx="1179576" cy="420624"/>
          </a:xfrm>
          <a:prstGeom prst="rect">
            <a:avLst/>
          </a:prstGeom>
        </p:spPr>
      </p:pic>
      <p:pic>
        <p:nvPicPr>
          <p:cNvPr id="18" name="i22" descr="p4_i2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1116" y="8161020"/>
            <a:ext cx="4869180" cy="54864"/>
          </a:xfrm>
          <a:prstGeom prst="rect">
            <a:avLst/>
          </a:prstGeom>
        </p:spPr>
      </p:pic>
      <p:pic>
        <p:nvPicPr>
          <p:cNvPr id="19" name="i23" descr="p4_i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55264" y="8622792"/>
            <a:ext cx="1252728" cy="1252728"/>
          </a:xfrm>
          <a:prstGeom prst="rect">
            <a:avLst/>
          </a:prstGeom>
        </p:spPr>
      </p:pic>
      <p:pic>
        <p:nvPicPr>
          <p:cNvPr id="20" name="i24" descr="p4_i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67812" y="8833104"/>
            <a:ext cx="100584" cy="192024"/>
          </a:xfrm>
          <a:prstGeom prst="rect">
            <a:avLst/>
          </a:prstGeom>
        </p:spPr>
      </p:pic>
      <p:cxnSp>
        <p:nvCxnSpPr>
          <p:cNvPr id="21" name="l0"/>
          <p:cNvCxnSpPr/>
          <p:nvPr/>
        </p:nvCxnSpPr>
        <p:spPr>
          <a:xfrm>
            <a:off x="5925312" y="2375154"/>
            <a:ext cx="379476" cy="0"/>
          </a:xfrm>
          <a:prstGeom prst="line">
            <a:avLst/>
          </a:prstGeom>
          <a:ln w="6350">
            <a:solidFill>
              <a:srgbClr val="B9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1"/>
          <p:cNvCxnSpPr/>
          <p:nvPr/>
        </p:nvCxnSpPr>
        <p:spPr>
          <a:xfrm>
            <a:off x="758952" y="2423160"/>
            <a:ext cx="644652" cy="0"/>
          </a:xfrm>
          <a:prstGeom prst="line">
            <a:avLst/>
          </a:prstGeom>
          <a:ln w="9144">
            <a:solidFill>
              <a:srgbClr val="B1B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7"/>
          <p:cNvCxnSpPr/>
          <p:nvPr/>
        </p:nvCxnSpPr>
        <p:spPr>
          <a:xfrm>
            <a:off x="5623560" y="6702552"/>
            <a:ext cx="868680" cy="0"/>
          </a:xfrm>
          <a:prstGeom prst="line">
            <a:avLst/>
          </a:prstGeom>
          <a:ln w="9144">
            <a:solidFill>
              <a:srgbClr val="BEC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8"/>
          <p:cNvCxnSpPr/>
          <p:nvPr/>
        </p:nvCxnSpPr>
        <p:spPr>
          <a:xfrm>
            <a:off x="4965192" y="6709410"/>
            <a:ext cx="402336" cy="0"/>
          </a:xfrm>
          <a:prstGeom prst="line">
            <a:avLst/>
          </a:prstGeom>
          <a:ln w="6350">
            <a:solidFill>
              <a:srgbClr val="C1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9"/>
          <p:cNvCxnSpPr/>
          <p:nvPr/>
        </p:nvCxnSpPr>
        <p:spPr>
          <a:xfrm>
            <a:off x="4005072" y="6718554"/>
            <a:ext cx="448056" cy="0"/>
          </a:xfrm>
          <a:prstGeom prst="line">
            <a:avLst/>
          </a:prstGeom>
          <a:ln w="6350">
            <a:solidFill>
              <a:srgbClr val="C7C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10"/>
          <p:cNvCxnSpPr/>
          <p:nvPr/>
        </p:nvCxnSpPr>
        <p:spPr>
          <a:xfrm>
            <a:off x="4599432" y="6713982"/>
            <a:ext cx="274320" cy="0"/>
          </a:xfrm>
          <a:prstGeom prst="line">
            <a:avLst/>
          </a:prstGeom>
          <a:ln w="6350">
            <a:solidFill>
              <a:srgbClr val="B9B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11"/>
          <p:cNvCxnSpPr/>
          <p:nvPr/>
        </p:nvCxnSpPr>
        <p:spPr>
          <a:xfrm>
            <a:off x="6035040" y="9187434"/>
            <a:ext cx="288036" cy="0"/>
          </a:xfrm>
          <a:prstGeom prst="line">
            <a:avLst/>
          </a:prstGeom>
          <a:ln w="6350">
            <a:solidFill>
              <a:srgbClr val="DF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12"/>
          <p:cNvCxnSpPr/>
          <p:nvPr/>
        </p:nvCxnSpPr>
        <p:spPr>
          <a:xfrm>
            <a:off x="1915668" y="9224010"/>
            <a:ext cx="370332" cy="0"/>
          </a:xfrm>
          <a:prstGeom prst="line">
            <a:avLst/>
          </a:prstGeom>
          <a:ln w="6350">
            <a:solidFill>
              <a:srgbClr val="D4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13"/>
          <p:cNvCxnSpPr/>
          <p:nvPr/>
        </p:nvCxnSpPr>
        <p:spPr>
          <a:xfrm>
            <a:off x="1037844" y="9230868"/>
            <a:ext cx="576072" cy="0"/>
          </a:xfrm>
          <a:prstGeom prst="line">
            <a:avLst/>
          </a:prstGeom>
          <a:ln w="9144">
            <a:solidFill>
              <a:srgbClr val="D6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14"/>
          <p:cNvCxnSpPr/>
          <p:nvPr/>
        </p:nvCxnSpPr>
        <p:spPr>
          <a:xfrm>
            <a:off x="1618488" y="9228582"/>
            <a:ext cx="283464" cy="0"/>
          </a:xfrm>
          <a:prstGeom prst="line">
            <a:avLst/>
          </a:prstGeom>
          <a:ln w="635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15"/>
          <p:cNvCxnSpPr/>
          <p:nvPr/>
        </p:nvCxnSpPr>
        <p:spPr>
          <a:xfrm>
            <a:off x="5180076" y="9278874"/>
            <a:ext cx="329184" cy="0"/>
          </a:xfrm>
          <a:prstGeom prst="line">
            <a:avLst/>
          </a:prstGeom>
          <a:ln w="6350">
            <a:solidFill>
              <a:srgbClr val="DB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16"/>
          <p:cNvCxnSpPr/>
          <p:nvPr/>
        </p:nvCxnSpPr>
        <p:spPr>
          <a:xfrm>
            <a:off x="4814316" y="9283446"/>
            <a:ext cx="283464" cy="0"/>
          </a:xfrm>
          <a:prstGeom prst="line">
            <a:avLst/>
          </a:prstGeom>
          <a:ln w="6350">
            <a:solidFill>
              <a:srgbClr val="DD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17"/>
          <p:cNvCxnSpPr/>
          <p:nvPr/>
        </p:nvCxnSpPr>
        <p:spPr>
          <a:xfrm>
            <a:off x="2386584" y="9306306"/>
            <a:ext cx="416052" cy="0"/>
          </a:xfrm>
          <a:prstGeom prst="line">
            <a:avLst/>
          </a:prstGeom>
          <a:ln w="6350">
            <a:solidFill>
              <a:srgbClr val="D9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18"/>
          <p:cNvCxnSpPr/>
          <p:nvPr/>
        </p:nvCxnSpPr>
        <p:spPr>
          <a:xfrm>
            <a:off x="859536" y="9315450"/>
            <a:ext cx="1421892" cy="0"/>
          </a:xfrm>
          <a:prstGeom prst="line">
            <a:avLst/>
          </a:prstGeom>
          <a:ln w="13716">
            <a:solidFill>
              <a:srgbClr val="D3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19"/>
          <p:cNvCxnSpPr/>
          <p:nvPr/>
        </p:nvCxnSpPr>
        <p:spPr>
          <a:xfrm>
            <a:off x="2043684" y="9882378"/>
            <a:ext cx="315468" cy="0"/>
          </a:xfrm>
          <a:prstGeom prst="line">
            <a:avLst/>
          </a:prstGeom>
          <a:ln w="6350">
            <a:solidFill>
              <a:srgbClr val="D8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20"/>
          <p:cNvCxnSpPr/>
          <p:nvPr/>
        </p:nvCxnSpPr>
        <p:spPr>
          <a:xfrm>
            <a:off x="2569464" y="9877806"/>
            <a:ext cx="301752" cy="0"/>
          </a:xfrm>
          <a:prstGeom prst="line">
            <a:avLst/>
          </a:prstGeom>
          <a:ln w="6350">
            <a:solidFill>
              <a:srgbClr val="DB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21"/>
          <p:cNvCxnSpPr/>
          <p:nvPr/>
        </p:nvCxnSpPr>
        <p:spPr>
          <a:xfrm>
            <a:off x="946404" y="9889236"/>
            <a:ext cx="1088136" cy="0"/>
          </a:xfrm>
          <a:prstGeom prst="line">
            <a:avLst/>
          </a:prstGeom>
          <a:ln w="9144">
            <a:solidFill>
              <a:srgbClr val="D2D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22"/>
          <p:cNvCxnSpPr/>
          <p:nvPr/>
        </p:nvCxnSpPr>
        <p:spPr>
          <a:xfrm>
            <a:off x="4080510" y="1668780"/>
            <a:ext cx="0" cy="1572768"/>
          </a:xfrm>
          <a:prstGeom prst="line">
            <a:avLst/>
          </a:prstGeom>
          <a:ln w="13716">
            <a:solidFill>
              <a:srgbClr val="ACA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24"/>
          <p:cNvCxnSpPr/>
          <p:nvPr/>
        </p:nvCxnSpPr>
        <p:spPr>
          <a:xfrm>
            <a:off x="6917436" y="5216652"/>
            <a:ext cx="0" cy="763524"/>
          </a:xfrm>
          <a:prstGeom prst="line">
            <a:avLst/>
          </a:prstGeom>
          <a:ln w="27432">
            <a:solidFill>
              <a:srgbClr val="F28C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25"/>
          <p:cNvCxnSpPr/>
          <p:nvPr/>
        </p:nvCxnSpPr>
        <p:spPr>
          <a:xfrm>
            <a:off x="4112514" y="5239512"/>
            <a:ext cx="0" cy="2962656"/>
          </a:xfrm>
          <a:prstGeom prst="line">
            <a:avLst/>
          </a:prstGeom>
          <a:ln w="22860">
            <a:solidFill>
              <a:srgbClr val="AEA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0"/>
          <p:cNvSpPr txBox="1"/>
          <p:nvPr/>
        </p:nvSpPr>
        <p:spPr>
          <a:xfrm>
            <a:off x="1377639" y="290587"/>
            <a:ext cx="1038524" cy="2813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89" b="1">
                <a:solidFill>
                  <a:srgbClr val="3F3D46"/>
                </a:solidFill>
                <a:latin typeface="맑은 고딕"/>
                <a:ea typeface="맑은 고딕"/>
              </a:rPr>
              <a:t>건설계획</a:t>
            </a:r>
          </a:p>
        </p:txBody>
      </p:sp>
      <p:sp>
        <p:nvSpPr>
          <p:cNvPr id="42" name="t1"/>
          <p:cNvSpPr txBox="1"/>
          <p:nvPr/>
        </p:nvSpPr>
        <p:spPr>
          <a:xfrm>
            <a:off x="736782" y="391553"/>
            <a:ext cx="330042" cy="9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>
                <a:solidFill>
                  <a:srgbClr val="96B8D2"/>
                </a:solidFill>
                <a:latin typeface="맑은 고딕"/>
                <a:ea typeface="맑은 고딕"/>
              </a:rPr>
              <a:t>Chapter</a:t>
            </a:r>
          </a:p>
        </p:txBody>
      </p:sp>
      <p:sp>
        <p:nvSpPr>
          <p:cNvPr id="43" name="t2"/>
          <p:cNvSpPr txBox="1"/>
          <p:nvPr/>
        </p:nvSpPr>
        <p:spPr>
          <a:xfrm>
            <a:off x="728842" y="876844"/>
            <a:ext cx="3378183" cy="492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60" b="0">
                <a:solidFill>
                  <a:srgbClr val="2B2D2D"/>
                </a:solidFill>
                <a:latin typeface="맑은 고딕"/>
                <a:ea typeface="맑은 고딕"/>
              </a:rPr>
              <a:t>1.2 각종 재난사고 등 위험요소에 대한 안전조치 계획</a:t>
            </a:r>
          </a:p>
          <a:p>
            <a:pPr algn="l">
              <a:lnSpc>
                <a:spcPct val="150000"/>
              </a:lnSpc>
            </a:pPr>
            <a:r>
              <a:rPr sz="1060" b="0">
                <a:solidFill>
                  <a:srgbClr val="2B2D2D"/>
                </a:solidFill>
                <a:latin typeface="맑은 고딕"/>
                <a:ea typeface="맑은 고딕"/>
              </a:rPr>
              <a:t>(1) 건설 중 발생하는 각종재난에 대한 안전조치 계획</a:t>
            </a:r>
          </a:p>
        </p:txBody>
      </p:sp>
      <p:sp>
        <p:nvSpPr>
          <p:cNvPr id="44" name="t3"/>
          <p:cNvSpPr txBox="1"/>
          <p:nvPr/>
        </p:nvSpPr>
        <p:spPr>
          <a:xfrm>
            <a:off x="5205226" y="1439431"/>
            <a:ext cx="635451" cy="1614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2828"/>
                </a:solidFill>
                <a:latin typeface="맑은 고딕"/>
                <a:ea typeface="맑은 고딕"/>
              </a:rPr>
              <a:t>대책 방안</a:t>
            </a:r>
          </a:p>
        </p:txBody>
      </p:sp>
      <p:sp>
        <p:nvSpPr>
          <p:cNvPr id="45" name="t4"/>
          <p:cNvSpPr txBox="1"/>
          <p:nvPr/>
        </p:nvSpPr>
        <p:spPr>
          <a:xfrm>
            <a:off x="3079365" y="1458050"/>
            <a:ext cx="624876" cy="1587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27292A"/>
                </a:solidFill>
                <a:latin typeface="맑은 고딕"/>
                <a:ea typeface="맑은 고딕"/>
              </a:rPr>
              <a:t>사고 유형</a:t>
            </a:r>
          </a:p>
        </p:txBody>
      </p:sp>
      <p:sp>
        <p:nvSpPr>
          <p:cNvPr id="46" name="t5"/>
          <p:cNvSpPr txBox="1"/>
          <p:nvPr/>
        </p:nvSpPr>
        <p:spPr>
          <a:xfrm>
            <a:off x="1537655" y="1478280"/>
            <a:ext cx="412211" cy="179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6292A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47" name="t6"/>
          <p:cNvSpPr txBox="1"/>
          <p:nvPr/>
        </p:nvSpPr>
        <p:spPr>
          <a:xfrm>
            <a:off x="4118003" y="1700909"/>
            <a:ext cx="2476133" cy="60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1000"/>
              </a:lnSpc>
            </a:pPr>
            <a:r>
              <a:rPr sz="869" b="0">
                <a:solidFill>
                  <a:srgbClr val="3E4040"/>
                </a:solidFill>
                <a:latin typeface="맑은 고딕"/>
                <a:ea typeface="맑은 고딕"/>
              </a:rPr>
              <a:t>• 사고대책본부 가동 및 2차사고 예방대책 수립</a:t>
            </a:r>
          </a:p>
          <a:p>
            <a:pPr algn="l">
              <a:lnSpc>
                <a:spcPct val="151000"/>
              </a:lnSpc>
            </a:pPr>
            <a:r>
              <a:rPr sz="869" b="0">
                <a:solidFill>
                  <a:srgbClr val="3E4040"/>
                </a:solidFill>
                <a:latin typeface="맑은 고딕"/>
                <a:ea typeface="맑은 고딕"/>
              </a:rPr>
              <a:t>• 피하-획 수립 및 필9시 현장 철거</a:t>
            </a:r>
          </a:p>
          <a:p>
            <a:pPr algn="l">
              <a:lnSpc>
                <a:spcPct val="151000"/>
              </a:lnSpc>
            </a:pPr>
            <a:r>
              <a:rPr sz="869" b="0">
                <a:solidFill>
                  <a:srgbClr val="3E4040"/>
                </a:solidFill>
                <a:latin typeface="맑은 고딕"/>
                <a:ea typeface="맑은 고딕"/>
              </a:rPr>
              <a:t>• 침수 및 파손자재 획인 후 복구 및 入牀공</a:t>
            </a:r>
          </a:p>
        </p:txBody>
      </p:sp>
      <p:sp>
        <p:nvSpPr>
          <p:cNvPr id="48" name="t7"/>
          <p:cNvSpPr txBox="1"/>
          <p:nvPr/>
        </p:nvSpPr>
        <p:spPr>
          <a:xfrm>
            <a:off x="2691485" y="1724646"/>
            <a:ext cx="1471478" cy="6046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000"/>
              </a:lnSpc>
            </a:pPr>
            <a:r>
              <a:rPr sz="869" b="0">
                <a:solidFill>
                  <a:srgbClr val="3A3C3C"/>
                </a:solidFill>
                <a:latin typeface="맑은 고딕"/>
                <a:ea typeface="맑은 고딕"/>
              </a:rPr>
              <a:t>• 인명 및 재산상 손실</a:t>
            </a:r>
          </a:p>
          <a:p>
            <a:pPr algn="l">
              <a:lnSpc>
                <a:spcPct val="149000"/>
              </a:lnSpc>
            </a:pPr>
            <a:r>
              <a:rPr sz="869" b="0">
                <a:solidFill>
                  <a:srgbClr val="3A3C3C"/>
                </a:solidFill>
                <a:latin typeface="맑은 고딕"/>
                <a:ea typeface="맑은 고딕"/>
              </a:rPr>
              <a:t>• 강구조물 및 패널 유실</a:t>
            </a:r>
          </a:p>
          <a:p>
            <a:pPr algn="l">
              <a:lnSpc>
                <a:spcPct val="149000"/>
              </a:lnSpc>
            </a:pPr>
            <a:r>
              <a:rPr sz="869" b="0">
                <a:solidFill>
                  <a:srgbClr val="3A3C3C"/>
                </a:solidFill>
                <a:latin typeface="맑은 고딕"/>
                <a:ea typeface="맑은 고딕"/>
              </a:rPr>
              <a:t>• 감전 및 근로자 안전사고</a:t>
            </a:r>
          </a:p>
        </p:txBody>
      </p:sp>
      <p:sp>
        <p:nvSpPr>
          <p:cNvPr id="49" name="t8"/>
          <p:cNvSpPr txBox="1"/>
          <p:nvPr/>
        </p:nvSpPr>
        <p:spPr>
          <a:xfrm>
            <a:off x="792693" y="1888053"/>
            <a:ext cx="697870" cy="348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080" b="0">
                <a:solidFill>
                  <a:srgbClr val="2F3132"/>
                </a:solidFill>
                <a:latin typeface="맑은 고딕"/>
                <a:ea typeface="맑은 고딕"/>
              </a:rPr>
              <a:t>풍 수 해</a:t>
            </a:r>
          </a:p>
          <a:p>
            <a:pPr algn="l">
              <a:lnSpc>
                <a:spcPct val="103000"/>
              </a:lnSpc>
            </a:pPr>
            <a:r>
              <a:rPr sz="1080" b="0">
                <a:solidFill>
                  <a:srgbClr val="2F3132"/>
                </a:solidFill>
                <a:latin typeface="맑은 고딕"/>
                <a:ea typeface="맑은 고딕"/>
              </a:rPr>
              <a:t>산 사 태</a:t>
            </a:r>
          </a:p>
        </p:txBody>
      </p:sp>
      <p:sp>
        <p:nvSpPr>
          <p:cNvPr id="50" name="t9"/>
          <p:cNvSpPr txBox="1"/>
          <p:nvPr/>
        </p:nvSpPr>
        <p:spPr>
          <a:xfrm>
            <a:off x="4122548" y="2442009"/>
            <a:ext cx="2426432" cy="605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69" b="0">
                <a:solidFill>
                  <a:srgbClr val="404342"/>
                </a:solidFill>
                <a:latin typeface="맑은 고딕"/>
                <a:ea typeface="맑은 고딕"/>
              </a:rPr>
              <a:t>• 사고대책본부 기동 및 근로자 안전대책 확보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404342"/>
                </a:solidFill>
                <a:latin typeface="맑은 고딕"/>
                <a:ea typeface="맑은 고딕"/>
              </a:rPr>
              <a:t>• 피해복구계획 수립 및 필요시 현장 철거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404342"/>
                </a:solidFill>
                <a:latin typeface="맑은 고딕"/>
                <a:ea typeface="맑은 고딕"/>
              </a:rPr>
              <a:t>• 써지침입설비 및 표손자재 획인 후 교체</a:t>
            </a:r>
          </a:p>
        </p:txBody>
      </p:sp>
      <p:sp>
        <p:nvSpPr>
          <p:cNvPr id="51" name="t10"/>
          <p:cNvSpPr txBox="1"/>
          <p:nvPr/>
        </p:nvSpPr>
        <p:spPr>
          <a:xfrm>
            <a:off x="2700367" y="2492649"/>
            <a:ext cx="1186073" cy="148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3B3D3D"/>
                </a:solidFill>
                <a:latin typeface="맑은 고딕"/>
                <a:ea typeface="맑은 고딕"/>
              </a:rPr>
              <a:t>• 인명 및 재산상 손실</a:t>
            </a:r>
          </a:p>
        </p:txBody>
      </p:sp>
      <p:sp>
        <p:nvSpPr>
          <p:cNvPr id="52" name="t11"/>
          <p:cNvSpPr txBox="1"/>
          <p:nvPr/>
        </p:nvSpPr>
        <p:spPr>
          <a:xfrm>
            <a:off x="1195303" y="2801112"/>
            <a:ext cx="227319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73A3B"/>
                </a:solidFill>
                <a:latin typeface="맑은 고딕"/>
                <a:ea typeface="맑은 고딕"/>
              </a:rPr>
              <a:t>진</a:t>
            </a:r>
          </a:p>
        </p:txBody>
      </p:sp>
      <p:sp>
        <p:nvSpPr>
          <p:cNvPr id="53" name="t12"/>
          <p:cNvSpPr txBox="1"/>
          <p:nvPr/>
        </p:nvSpPr>
        <p:spPr>
          <a:xfrm>
            <a:off x="806683" y="2805684"/>
            <a:ext cx="222747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03235"/>
                </a:solidFill>
                <a:latin typeface="맑은 고딕"/>
                <a:ea typeface="맑은 고딕"/>
              </a:rPr>
              <a:t>지</a:t>
            </a:r>
          </a:p>
        </p:txBody>
      </p:sp>
      <p:sp>
        <p:nvSpPr>
          <p:cNvPr id="54" name="t13"/>
          <p:cNvSpPr txBox="1"/>
          <p:nvPr/>
        </p:nvSpPr>
        <p:spPr>
          <a:xfrm>
            <a:off x="2700351" y="2890368"/>
            <a:ext cx="1410293" cy="1485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3B3E3E"/>
                </a:solidFill>
                <a:latin typeface="맑은 고딕"/>
                <a:ea typeface="맑은 고딕"/>
              </a:rPr>
              <a:t>• 감전 및 근로자 안전사고</a:t>
            </a:r>
          </a:p>
        </p:txBody>
      </p:sp>
      <p:sp>
        <p:nvSpPr>
          <p:cNvPr id="55" name="t25"/>
          <p:cNvSpPr txBox="1"/>
          <p:nvPr/>
        </p:nvSpPr>
        <p:spPr>
          <a:xfrm>
            <a:off x="4145421" y="5299621"/>
            <a:ext cx="2531292" cy="604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69" b="0">
                <a:solidFill>
                  <a:srgbClr val="323433"/>
                </a:solidFill>
                <a:latin typeface="맑은 고딕"/>
                <a:ea typeface="맑은 고딕"/>
              </a:rPr>
              <a:t>• 가드라인 안전대에 안전후크를 걸고 직업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23433"/>
                </a:solidFill>
                <a:latin typeface="맑은 고딕"/>
                <a:ea typeface="맑은 고딕"/>
              </a:rPr>
              <a:t>• 작업반경내 접근금지 및 아웃트리거 최대 인출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23433"/>
                </a:solidFill>
                <a:latin typeface="맑은 고딕"/>
                <a:ea typeface="맑은 고딕"/>
              </a:rPr>
              <a:t>• 직업중량 , 허용재원 및 안전메뉴얼 준수</a:t>
            </a:r>
          </a:p>
        </p:txBody>
      </p:sp>
      <p:sp>
        <p:nvSpPr>
          <p:cNvPr id="56" name="t26"/>
          <p:cNvSpPr txBox="1"/>
          <p:nvPr/>
        </p:nvSpPr>
        <p:spPr>
          <a:xfrm>
            <a:off x="2092593" y="5327711"/>
            <a:ext cx="1941513" cy="600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000"/>
              </a:lnSpc>
            </a:pPr>
            <a:r>
              <a:rPr sz="869" b="0">
                <a:solidFill>
                  <a:srgbClr val="303232"/>
                </a:solidFill>
                <a:latin typeface="맑은 고딕"/>
                <a:ea typeface="맑은 고딕"/>
              </a:rPr>
              <a:t>• 고소직업 중 인적 낙하사고</a:t>
            </a:r>
          </a:p>
          <a:p>
            <a:pPr algn="l">
              <a:lnSpc>
                <a:spcPct val="149000"/>
              </a:lnSpc>
            </a:pPr>
            <a:r>
              <a:rPr sz="869" b="0">
                <a:solidFill>
                  <a:srgbClr val="303232"/>
                </a:solidFill>
                <a:latin typeface="맑은 고딕"/>
                <a:ea typeface="맑은 고딕"/>
              </a:rPr>
              <a:t>• 모듈 구조물 양중시 물적 낙하사고</a:t>
            </a:r>
          </a:p>
          <a:p>
            <a:pPr algn="l">
              <a:lnSpc>
                <a:spcPct val="149000"/>
              </a:lnSpc>
            </a:pPr>
            <a:r>
              <a:rPr sz="869" b="0">
                <a:solidFill>
                  <a:srgbClr val="303232"/>
                </a:solidFill>
                <a:latin typeface="맑은 고딕"/>
                <a:ea typeface="맑은 고딕"/>
              </a:rPr>
              <a:t>• 크레인, 굴착기 전도사고</a:t>
            </a:r>
          </a:p>
        </p:txBody>
      </p:sp>
      <p:sp>
        <p:nvSpPr>
          <p:cNvPr id="57" name="t27"/>
          <p:cNvSpPr txBox="1"/>
          <p:nvPr/>
        </p:nvSpPr>
        <p:spPr>
          <a:xfrm>
            <a:off x="4149989" y="6036998"/>
            <a:ext cx="2202211" cy="597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869" b="0">
                <a:solidFill>
                  <a:srgbClr val="383A3A"/>
                </a:solidFill>
                <a:latin typeface="맑은 고딕"/>
                <a:ea typeface="맑은 고딕"/>
              </a:rPr>
              <a:t>• 파손 자재 긴급발주 및 숙련공 교체</a:t>
            </a:r>
          </a:p>
          <a:p>
            <a:pPr algn="l">
              <a:lnSpc>
                <a:spcPct val="148000"/>
              </a:lnSpc>
            </a:pPr>
            <a:r>
              <a:rPr sz="869" b="0">
                <a:solidFill>
                  <a:srgbClr val="383A3A"/>
                </a:solidFill>
                <a:latin typeface="맑은 고딕"/>
                <a:ea typeface="맑은 고딕"/>
              </a:rPr>
              <a:t>• 기계공구 긴급정비 및 필요시 공구 고체</a:t>
            </a:r>
          </a:p>
          <a:p>
            <a:pPr algn="l">
              <a:lnSpc>
                <a:spcPct val="148000"/>
              </a:lnSpc>
            </a:pPr>
            <a:r>
              <a:rPr sz="869" b="0">
                <a:solidFill>
                  <a:srgbClr val="383A3A"/>
                </a:solidFill>
                <a:latin typeface="맑은 고딕"/>
                <a:ea typeface="맑은 고딕"/>
              </a:rPr>
              <a:t>• 자재규모에 맞는 인력 투입계획 수립</a:t>
            </a:r>
          </a:p>
        </p:txBody>
      </p:sp>
      <p:sp>
        <p:nvSpPr>
          <p:cNvPr id="58" name="t28"/>
          <p:cNvSpPr txBox="1"/>
          <p:nvPr/>
        </p:nvSpPr>
        <p:spPr>
          <a:xfrm>
            <a:off x="2097157" y="6053930"/>
            <a:ext cx="2078853" cy="605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69" b="0">
                <a:solidFill>
                  <a:srgbClr val="313333"/>
                </a:solidFill>
                <a:latin typeface="맑은 고딕"/>
                <a:ea typeface="맑은 고딕"/>
              </a:rPr>
              <a:t>• 기계징비, 운전 미숙에 의한 자재파손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13333"/>
                </a:solidFill>
                <a:latin typeface="맑은 고딕"/>
                <a:ea typeface="맑은 고딕"/>
              </a:rPr>
              <a:t>• 기자재 정비불렁뻬 의한 오작동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13333"/>
                </a:solidFill>
                <a:latin typeface="맑은 고딕"/>
                <a:ea typeface="맑은 고딕"/>
              </a:rPr>
              <a:t>• 소자재 비릴면 이동 시의 안전사고</a:t>
            </a:r>
          </a:p>
        </p:txBody>
      </p:sp>
      <p:sp>
        <p:nvSpPr>
          <p:cNvPr id="59" name="t29"/>
          <p:cNvSpPr txBox="1"/>
          <p:nvPr/>
        </p:nvSpPr>
        <p:spPr>
          <a:xfrm>
            <a:off x="4154564" y="6761327"/>
            <a:ext cx="2764491" cy="61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sz="869" b="0">
                <a:solidFill>
                  <a:srgbClr val="3D3F3E"/>
                </a:solidFill>
                <a:latin typeface="맑은 고딕"/>
                <a:ea typeface="맑은 고딕"/>
              </a:rPr>
              <a:t>• 공정지연 예방을 위한 도난자재 긴급발주 시행</a:t>
            </a:r>
          </a:p>
          <a:p>
            <a:pPr algn="l">
              <a:lnSpc>
                <a:spcPct val="152000"/>
              </a:lnSpc>
            </a:pPr>
            <a:r>
              <a:rPr sz="869" b="0">
                <a:solidFill>
                  <a:srgbClr val="3D3F3E"/>
                </a:solidFill>
                <a:latin typeface="맑은 고딕"/>
                <a:ea typeface="맑은 고딕"/>
              </a:rPr>
              <a:t>• CCTV 등 공사현장 방범설H I 및 시건징치 강화보수</a:t>
            </a:r>
          </a:p>
          <a:p>
            <a:pPr algn="l">
              <a:lnSpc>
                <a:spcPct val="152000"/>
              </a:lnSpc>
            </a:pPr>
            <a:r>
              <a:rPr sz="869" b="0">
                <a:solidFill>
                  <a:srgbClr val="3D3F3E"/>
                </a:solidFill>
                <a:latin typeface="맑은 고딕"/>
                <a:ea typeface="맑은 고딕"/>
              </a:rPr>
              <a:t>• 가드휀스 선사공히여 기자재 및 주요징비 보호</a:t>
            </a:r>
          </a:p>
        </p:txBody>
      </p:sp>
      <p:sp>
        <p:nvSpPr>
          <p:cNvPr id="60" name="t30"/>
          <p:cNvSpPr txBox="1"/>
          <p:nvPr/>
        </p:nvSpPr>
        <p:spPr>
          <a:xfrm>
            <a:off x="2101729" y="6785448"/>
            <a:ext cx="1982845" cy="605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69" b="0">
                <a:solidFill>
                  <a:srgbClr val="373939"/>
                </a:solidFill>
                <a:latin typeface="맑은 고딕"/>
                <a:ea typeface="맑은 고딕"/>
              </a:rPr>
              <a:t>• 모듈 및 인버터 등 기자재 도난사고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73939"/>
                </a:solidFill>
                <a:latin typeface="맑은 고딕"/>
                <a:ea typeface="맑은 고딕"/>
              </a:rPr>
              <a:t>• 장비 및 현장치량 파손사고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73939"/>
                </a:solidFill>
                <a:latin typeface="맑은 고딕"/>
                <a:ea typeface="맑은 고딕"/>
              </a:rPr>
              <a:t>• 준공전 기人공분 파손 및 도난사고</a:t>
            </a:r>
          </a:p>
        </p:txBody>
      </p:sp>
      <p:sp>
        <p:nvSpPr>
          <p:cNvPr id="61" name="t31"/>
          <p:cNvSpPr txBox="1"/>
          <p:nvPr/>
        </p:nvSpPr>
        <p:spPr>
          <a:xfrm>
            <a:off x="1953432" y="6977634"/>
            <a:ext cx="209763" cy="185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6B7BAB"/>
                </a:solidFill>
                <a:latin typeface="맑은 고딕"/>
                <a:ea typeface="맑은 고딕"/>
              </a:rPr>
              <a:t>결</a:t>
            </a:r>
          </a:p>
        </p:txBody>
      </p:sp>
      <p:sp>
        <p:nvSpPr>
          <p:cNvPr id="62" name="t32"/>
          <p:cNvSpPr txBox="1"/>
          <p:nvPr/>
        </p:nvSpPr>
        <p:spPr>
          <a:xfrm>
            <a:off x="4159168" y="7498350"/>
            <a:ext cx="2608341" cy="60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1000"/>
              </a:lnSpc>
            </a:pPr>
            <a:r>
              <a:rPr sz="860" b="0">
                <a:solidFill>
                  <a:srgbClr val="3B3D3D"/>
                </a:solidFill>
                <a:latin typeface="맑은 고딕"/>
                <a:ea typeface="맑은 고딕"/>
              </a:rPr>
              <a:t>• 작물 수매, 축산물 매입 등 적정 보성!•cH책 시행</a:t>
            </a:r>
          </a:p>
          <a:p>
            <a:pPr algn="l">
              <a:lnSpc>
                <a:spcPct val="151000"/>
              </a:lnSpc>
            </a:pPr>
            <a:r>
              <a:rPr sz="860" b="0">
                <a:solidFill>
                  <a:srgbClr val="3B3D3D"/>
                </a:solidFill>
                <a:latin typeface="맑은 고딕"/>
                <a:ea typeface="맑은 고딕"/>
              </a:rPr>
              <a:t>• 오염원 발생 직업 시 주변 경작물 방호조치 시행</a:t>
            </a:r>
          </a:p>
          <a:p>
            <a:pPr algn="l">
              <a:lnSpc>
                <a:spcPct val="151000"/>
              </a:lnSpc>
            </a:pPr>
            <a:r>
              <a:rPr sz="860" b="0">
                <a:solidFill>
                  <a:srgbClr val="3B3D3D"/>
                </a:solidFill>
                <a:latin typeface="맑은 고딕"/>
                <a:ea typeface="맑은 고딕"/>
              </a:rPr>
              <a:t>• 주요자入는 일몰 후 및 일출 전 운반 현장적치</a:t>
            </a:r>
          </a:p>
        </p:txBody>
      </p:sp>
      <p:sp>
        <p:nvSpPr>
          <p:cNvPr id="63" name="t33"/>
          <p:cNvSpPr txBox="1"/>
          <p:nvPr/>
        </p:nvSpPr>
        <p:spPr>
          <a:xfrm>
            <a:off x="2106314" y="7526224"/>
            <a:ext cx="1868248" cy="604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69" b="0">
                <a:solidFill>
                  <a:srgbClr val="383A3A"/>
                </a:solidFill>
                <a:latin typeface="맑은 고딕"/>
                <a:ea typeface="맑은 고딕"/>
              </a:rPr>
              <a:t>• 인근 경작물 오염 및 훼손 사고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83A3A"/>
                </a:solidFill>
                <a:latin typeface="맑은 고딕"/>
                <a:ea typeface="맑은 고딕"/>
              </a:rPr>
              <a:t>• 공사 중 소음으로 인한 기축 피해</a:t>
            </a:r>
          </a:p>
          <a:p>
            <a:pPr algn="l">
              <a:lnSpc>
                <a:spcPct val="150000"/>
              </a:lnSpc>
            </a:pPr>
            <a:r>
              <a:rPr sz="869" b="0">
                <a:solidFill>
                  <a:srgbClr val="383A3A"/>
                </a:solidFill>
                <a:latin typeface="맑은 고딕"/>
                <a:ea typeface="맑은 고딕"/>
              </a:rPr>
              <a:t>• 직업치량과 농21계의 교통사고</a:t>
            </a:r>
          </a:p>
        </p:txBody>
      </p:sp>
      <p:sp>
        <p:nvSpPr>
          <p:cNvPr id="64" name="t34"/>
          <p:cNvSpPr txBox="1"/>
          <p:nvPr/>
        </p:nvSpPr>
        <p:spPr>
          <a:xfrm>
            <a:off x="783518" y="8368959"/>
            <a:ext cx="2773016" cy="1744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92B2B"/>
                </a:solidFill>
                <a:latin typeface="맑은 고딕"/>
                <a:ea typeface="맑은 고딕"/>
              </a:rPr>
              <a:t>(3) 대형 건설사고 예방을 위한 안전조치 계획</a:t>
            </a:r>
          </a:p>
        </p:txBody>
      </p:sp>
      <p:sp>
        <p:nvSpPr>
          <p:cNvPr id="65" name="t35"/>
          <p:cNvSpPr txBox="1"/>
          <p:nvPr/>
        </p:nvSpPr>
        <p:spPr>
          <a:xfrm>
            <a:off x="4703648" y="8629931"/>
            <a:ext cx="2265521" cy="516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00" b="0">
                <a:solidFill>
                  <a:srgbClr val="46494A"/>
                </a:solidFill>
                <a:latin typeface="맑은 고딕"/>
                <a:ea typeface="맑은 고딕"/>
              </a:rPr>
              <a:t>• 공법변경시 원설계사 의견 청취 및 확인</a:t>
            </a:r>
          </a:p>
          <a:p>
            <a:pPr algn="l">
              <a:lnSpc>
                <a:spcPct val="138000"/>
              </a:lnSpc>
            </a:pPr>
            <a:r>
              <a:rPr sz="800" b="0">
                <a:solidFill>
                  <a:srgbClr val="46494A"/>
                </a:solidFill>
                <a:latin typeface="맑은 고딕"/>
                <a:ea typeface="맑은 고딕"/>
              </a:rPr>
              <a:t>• 재하도 금지, 사업시행자 직접 관리</a:t>
            </a:r>
          </a:p>
          <a:p>
            <a:pPr algn="l">
              <a:lnSpc>
                <a:spcPct val="138000"/>
              </a:lnSpc>
            </a:pPr>
            <a:r>
              <a:rPr sz="800" b="0">
                <a:solidFill>
                  <a:srgbClr val="46494A"/>
                </a:solidFill>
                <a:latin typeface="맑은 고딕"/>
                <a:ea typeface="맑은 고딕"/>
              </a:rPr>
              <a:t>• 크레인, 굴착기 정격하중 및 사용메뉴얼 준수</a:t>
            </a:r>
          </a:p>
        </p:txBody>
      </p:sp>
      <p:sp>
        <p:nvSpPr>
          <p:cNvPr id="66" name="t36"/>
          <p:cNvSpPr txBox="1"/>
          <p:nvPr/>
        </p:nvSpPr>
        <p:spPr>
          <a:xfrm>
            <a:off x="840324" y="8667231"/>
            <a:ext cx="2338317" cy="51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7000"/>
              </a:lnSpc>
            </a:pPr>
            <a:r>
              <a:rPr sz="800" b="0">
                <a:solidFill>
                  <a:srgbClr val="464747"/>
                </a:solidFill>
                <a:latin typeface="맑은 고딕"/>
                <a:ea typeface="맑은 고딕"/>
              </a:rPr>
              <a:t>• 설계내역서 산정시 안전관리비 반영</a:t>
            </a:r>
          </a:p>
          <a:p>
            <a:pPr algn="l">
              <a:lnSpc>
                <a:spcPct val="137000"/>
              </a:lnSpc>
            </a:pPr>
            <a:r>
              <a:rPr sz="800" b="0">
                <a:solidFill>
                  <a:srgbClr val="464747"/>
                </a:solidFill>
                <a:latin typeface="맑은 고딕"/>
                <a:ea typeface="맑은 고딕"/>
              </a:rPr>
              <a:t>• 설계변경시 경제성보다 안전성 우선 검토</a:t>
            </a:r>
          </a:p>
          <a:p>
            <a:pPr algn="l">
              <a:lnSpc>
                <a:spcPct val="137000"/>
              </a:lnSpc>
            </a:pPr>
            <a:r>
              <a:rPr sz="800" b="0">
                <a:solidFill>
                  <a:srgbClr val="464747"/>
                </a:solidFill>
                <a:latin typeface="맑은 고딕"/>
                <a:ea typeface="맑은 고딕"/>
              </a:rPr>
              <a:t>• 주요공정 및 현장요청시 본사지원팀 현장 상주</a:t>
            </a:r>
          </a:p>
        </p:txBody>
      </p:sp>
      <p:sp>
        <p:nvSpPr>
          <p:cNvPr id="67" name="t37"/>
          <p:cNvSpPr txBox="1"/>
          <p:nvPr/>
        </p:nvSpPr>
        <p:spPr>
          <a:xfrm>
            <a:off x="4116674" y="8749710"/>
            <a:ext cx="406816" cy="3290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9000"/>
              </a:lnSpc>
            </a:pPr>
            <a:r>
              <a:rPr sz="1060" b="0">
                <a:solidFill>
                  <a:srgbClr val="2E3031"/>
                </a:solidFill>
                <a:latin typeface="맑은 고딕"/>
                <a:ea typeface="맑은 고딕"/>
              </a:rPr>
              <a:t>시공</a:t>
            </a:r>
          </a:p>
          <a:p>
            <a:pPr algn="l">
              <a:lnSpc>
                <a:spcPct val="99000"/>
              </a:lnSpc>
            </a:pPr>
            <a:r>
              <a:rPr sz="1060" b="0">
                <a:solidFill>
                  <a:srgbClr val="2E3031"/>
                </a:solidFill>
                <a:latin typeface="맑은 고딕"/>
                <a:ea typeface="맑은 고딕"/>
              </a:rPr>
              <a:t>관리</a:t>
            </a:r>
          </a:p>
        </p:txBody>
      </p:sp>
      <p:sp>
        <p:nvSpPr>
          <p:cNvPr id="68" name="t38"/>
          <p:cNvSpPr txBox="1"/>
          <p:nvPr/>
        </p:nvSpPr>
        <p:spPr>
          <a:xfrm>
            <a:off x="3371575" y="8760012"/>
            <a:ext cx="399227" cy="319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0">
                <a:solidFill>
                  <a:srgbClr val="2B2C2C"/>
                </a:solidFill>
                <a:latin typeface="맑은 고딕"/>
                <a:ea typeface="맑은 고딕"/>
              </a:rPr>
              <a:t>설계</a:t>
            </a:r>
          </a:p>
          <a:p>
            <a:pPr algn="l">
              <a:lnSpc>
                <a:spcPct val="98000"/>
              </a:lnSpc>
            </a:pPr>
            <a:r>
              <a:rPr sz="1040" b="0">
                <a:solidFill>
                  <a:srgbClr val="2B2C2C"/>
                </a:solidFill>
                <a:latin typeface="맑은 고딕"/>
                <a:ea typeface="맑은 고딕"/>
              </a:rPr>
              <a:t>감리</a:t>
            </a:r>
          </a:p>
        </p:txBody>
      </p:sp>
      <p:sp>
        <p:nvSpPr>
          <p:cNvPr id="69" name="t39"/>
          <p:cNvSpPr txBox="1"/>
          <p:nvPr/>
        </p:nvSpPr>
        <p:spPr>
          <a:xfrm>
            <a:off x="4708691" y="9283195"/>
            <a:ext cx="2246015" cy="5232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730" b="0">
                <a:solidFill>
                  <a:srgbClr val="424646"/>
                </a:solidFill>
                <a:latin typeface="맑은 고딕"/>
                <a:ea typeface="맑은 고딕"/>
              </a:rPr>
              <a:t>• 비상연락체계 및 “안전사고대응메뉴얼” 시험훈련</a:t>
            </a:r>
          </a:p>
          <a:p>
            <a:pPr algn="l">
              <a:lnSpc>
                <a:spcPct val="153000"/>
              </a:lnSpc>
            </a:pPr>
            <a:r>
              <a:rPr sz="730" b="0">
                <a:solidFill>
                  <a:srgbClr val="424646"/>
                </a:solidFill>
                <a:latin typeface="맑은 고딕"/>
                <a:ea typeface="맑은 고딕"/>
              </a:rPr>
              <a:t>• 본사지원팀 현장일지,감리일지의 위험요소 관리</a:t>
            </a:r>
          </a:p>
          <a:p>
            <a:pPr algn="l">
              <a:lnSpc>
                <a:spcPct val="153000"/>
              </a:lnSpc>
            </a:pPr>
            <a:r>
              <a:rPr sz="730" b="0">
                <a:solidFill>
                  <a:srgbClr val="424646"/>
                </a:solidFill>
                <a:latin typeface="맑은 고딕"/>
                <a:ea typeface="맑은 고딕"/>
              </a:rPr>
              <a:t>• 고속도로 인접구간 시공전 관할지사 사전협의</a:t>
            </a:r>
          </a:p>
        </p:txBody>
      </p:sp>
      <p:sp>
        <p:nvSpPr>
          <p:cNvPr id="70" name="t40"/>
          <p:cNvSpPr txBox="1"/>
          <p:nvPr/>
        </p:nvSpPr>
        <p:spPr>
          <a:xfrm>
            <a:off x="844908" y="9323242"/>
            <a:ext cx="2196328" cy="524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1000"/>
              </a:lnSpc>
            </a:pPr>
            <a:r>
              <a:rPr sz="800" b="0">
                <a:solidFill>
                  <a:srgbClr val="414242"/>
                </a:solidFill>
                <a:latin typeface="맑은 고딕"/>
                <a:ea typeface="맑은 고딕"/>
              </a:rPr>
              <a:t>• 주요작업 안전관리자 안전요원 확인</a:t>
            </a:r>
          </a:p>
          <a:p>
            <a:pPr algn="l">
              <a:lnSpc>
                <a:spcPct val="141000"/>
              </a:lnSpc>
            </a:pPr>
            <a:r>
              <a:rPr sz="800" b="0">
                <a:solidFill>
                  <a:srgbClr val="414242"/>
                </a:solidFill>
                <a:latin typeface="맑은 고딕"/>
                <a:ea typeface="맑은 고딕"/>
              </a:rPr>
              <a:t>• 고소작업 및 자재양중시 특별안전관리 철저</a:t>
            </a:r>
          </a:p>
          <a:p>
            <a:pPr algn="l">
              <a:lnSpc>
                <a:spcPct val="141000"/>
              </a:lnSpc>
            </a:pPr>
            <a:r>
              <a:rPr sz="800" b="0">
                <a:solidFill>
                  <a:srgbClr val="414242"/>
                </a:solidFill>
                <a:latin typeface="맑은 고딕"/>
                <a:ea typeface="맑은 고딕"/>
              </a:rPr>
              <a:t>• 일일작업전 안전장비 및 장구착용 점검</a:t>
            </a:r>
          </a:p>
        </p:txBody>
      </p:sp>
      <p:sp>
        <p:nvSpPr>
          <p:cNvPr id="71" name="t41"/>
          <p:cNvSpPr txBox="1"/>
          <p:nvPr/>
        </p:nvSpPr>
        <p:spPr>
          <a:xfrm>
            <a:off x="4121246" y="9412650"/>
            <a:ext cx="406816" cy="3290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9000"/>
              </a:lnSpc>
            </a:pPr>
            <a:r>
              <a:rPr sz="1060" b="0">
                <a:solidFill>
                  <a:srgbClr val="2A2B2C"/>
                </a:solidFill>
                <a:latin typeface="맑은 고딕"/>
                <a:ea typeface="맑은 고딕"/>
              </a:rPr>
              <a:t>기타</a:t>
            </a:r>
          </a:p>
          <a:p>
            <a:pPr algn="l">
              <a:lnSpc>
                <a:spcPct val="99000"/>
              </a:lnSpc>
            </a:pPr>
            <a:r>
              <a:rPr sz="1060" b="0">
                <a:solidFill>
                  <a:srgbClr val="2A2B2C"/>
                </a:solidFill>
                <a:latin typeface="맑은 고딕"/>
                <a:ea typeface="맑은 고딕"/>
              </a:rPr>
              <a:t>관리</a:t>
            </a:r>
          </a:p>
        </p:txBody>
      </p:sp>
      <p:sp>
        <p:nvSpPr>
          <p:cNvPr id="72" name="t42"/>
          <p:cNvSpPr txBox="1"/>
          <p:nvPr/>
        </p:nvSpPr>
        <p:spPr>
          <a:xfrm>
            <a:off x="3376010" y="9424217"/>
            <a:ext cx="406816" cy="319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060" b="0">
                <a:solidFill>
                  <a:srgbClr val="272828"/>
                </a:solidFill>
                <a:latin typeface="맑은 고딕"/>
                <a:ea typeface="맑은 고딕"/>
              </a:rPr>
              <a:t>안전</a:t>
            </a:r>
          </a:p>
          <a:p>
            <a:pPr algn="l">
              <a:lnSpc>
                <a:spcPct val="96000"/>
              </a:lnSpc>
            </a:pPr>
            <a:r>
              <a:rPr sz="1060" b="0">
                <a:solidFill>
                  <a:srgbClr val="272828"/>
                </a:solidFill>
                <a:latin typeface="맑은 고딕"/>
                <a:ea typeface="맑은 고딕"/>
              </a:rPr>
              <a:t>관리</a:t>
            </a:r>
          </a:p>
        </p:txBody>
      </p:sp>
      <p:sp>
        <p:nvSpPr>
          <p:cNvPr id="73" name="t43"/>
          <p:cNvSpPr txBox="1"/>
          <p:nvPr/>
        </p:nvSpPr>
        <p:spPr>
          <a:xfrm>
            <a:off x="795716" y="10056384"/>
            <a:ext cx="395499" cy="20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>
                <a:solidFill>
                  <a:srgbClr val="444645"/>
                </a:solidFill>
                <a:latin typeface="맑은 고딕"/>
                <a:ea typeface="맑은 고딕"/>
              </a:rPr>
              <a:t>381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3680460" y="1933956"/>
            <a:ext cx="3044952" cy="19156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B5B8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589788" y="6373368"/>
            <a:ext cx="6117336" cy="283464"/>
          </a:xfrm>
          <a:prstGeom prst="rect">
            <a:avLst/>
          </a:prstGeom>
          <a:solidFill>
            <a:srgbClr val="D0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585216" y="7296912"/>
            <a:ext cx="3040380" cy="269748"/>
          </a:xfrm>
          <a:prstGeom prst="rect">
            <a:avLst/>
          </a:prstGeom>
          <a:solidFill>
            <a:srgbClr val="D4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80644" y="8215884"/>
            <a:ext cx="3040380" cy="269748"/>
          </a:xfrm>
          <a:prstGeom prst="rect">
            <a:avLst/>
          </a:prstGeom>
          <a:solidFill>
            <a:srgbClr val="D6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3662172" y="7319772"/>
            <a:ext cx="3040380" cy="260604"/>
          </a:xfrm>
          <a:prstGeom prst="rect">
            <a:avLst/>
          </a:prstGeom>
          <a:solidFill>
            <a:srgbClr val="D0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3662172" y="8238744"/>
            <a:ext cx="3035808" cy="260604"/>
          </a:xfrm>
          <a:prstGeom prst="rect">
            <a:avLst/>
          </a:prstGeom>
          <a:solidFill>
            <a:srgbClr val="D1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594360" y="1101852"/>
            <a:ext cx="777240" cy="731520"/>
          </a:xfrm>
          <a:prstGeom prst="rect">
            <a:avLst/>
          </a:prstGeom>
          <a:solidFill>
            <a:srgbClr val="108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5308092" y="2761488"/>
            <a:ext cx="562356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4BC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6094476" y="2029968"/>
            <a:ext cx="553212" cy="438912"/>
          </a:xfrm>
          <a:prstGeom prst="rect">
            <a:avLst/>
          </a:prstGeom>
          <a:solidFill>
            <a:srgbClr val="FFFFFF"/>
          </a:solidFill>
          <a:ln w="18288">
            <a:solidFill>
              <a:srgbClr val="8DC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3762756" y="2756916"/>
            <a:ext cx="55321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144">
            <a:solidFill>
              <a:srgbClr val="A1A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4530852" y="2756916"/>
            <a:ext cx="55321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EC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6089904" y="2766060"/>
            <a:ext cx="55321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144">
            <a:solidFill>
              <a:srgbClr val="A2A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2"/>
          <p:cNvSpPr/>
          <p:nvPr/>
        </p:nvSpPr>
        <p:spPr>
          <a:xfrm>
            <a:off x="5312664" y="2029968"/>
            <a:ext cx="557784" cy="434340"/>
          </a:xfrm>
          <a:prstGeom prst="rect">
            <a:avLst/>
          </a:prstGeom>
          <a:solidFill>
            <a:srgbClr val="FFFFFF"/>
          </a:solidFill>
          <a:ln w="13716">
            <a:solidFill>
              <a:srgbClr val="86C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13"/>
          <p:cNvSpPr/>
          <p:nvPr/>
        </p:nvSpPr>
        <p:spPr>
          <a:xfrm>
            <a:off x="3767328" y="2020824"/>
            <a:ext cx="548640" cy="438912"/>
          </a:xfrm>
          <a:prstGeom prst="rect">
            <a:avLst/>
          </a:prstGeom>
          <a:solidFill>
            <a:srgbClr val="FFFFFF"/>
          </a:solidFill>
          <a:ln w="18288">
            <a:solidFill>
              <a:srgbClr val="8D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14"/>
          <p:cNvSpPr/>
          <p:nvPr/>
        </p:nvSpPr>
        <p:spPr>
          <a:xfrm>
            <a:off x="4530852" y="2007108"/>
            <a:ext cx="557784" cy="210312"/>
          </a:xfrm>
          <a:prstGeom prst="rect">
            <a:avLst/>
          </a:prstGeom>
          <a:solidFill>
            <a:srgbClr val="72C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-1"/>
          <p:cNvGraphicFramePr>
            <a:graphicFrameLocks noGrp="1"/>
          </p:cNvGraphicFramePr>
          <p:nvPr/>
        </p:nvGraphicFramePr>
        <p:xfrm>
          <a:off x="585216" y="1892808"/>
          <a:ext cx="3081528" cy="2651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32104"/>
                <a:gridCol w="2249424"/>
              </a:tblGrid>
              <a:tr h="260604"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2B2D2D"/>
                          </a:solidFill>
                          <a:latin typeface="맑은 고딕"/>
                          <a:ea typeface="맑은 고딕"/>
                        </a:rPr>
                        <a:t>사고형태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303333"/>
                          </a:solidFill>
                          <a:latin typeface="맑은 고딕"/>
                          <a:ea typeface="맑은 고딕"/>
                        </a:rPr>
                        <a:t>방지대책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ctr"/>
                      <a:r>
                        <a:rPr sz="880" b="1">
                          <a:solidFill>
                            <a:srgbClr val="F9DBCA"/>
                          </a:solidFill>
                          <a:latin typeface="맑은 고딕"/>
                          <a:ea typeface="맑은 고딕"/>
                        </a:rPr>
                        <a:t>인적, 물적닉하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E46C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444545"/>
                          </a:solidFill>
                          <a:latin typeface="맑은 고딕"/>
                          <a:ea typeface="맑은 고딕"/>
                        </a:rPr>
                        <a:t>• 모듈. 구조물 영중 시 고속도로 하향 양중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444545"/>
                          </a:solidFill>
                          <a:latin typeface="맑은 고딕"/>
                          <a:ea typeface="맑은 고딕"/>
                        </a:rPr>
                        <a:t>• 크레인 작업반경내 입출입 통제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444545"/>
                          </a:solidFill>
                          <a:latin typeface="맑은 고딕"/>
                          <a:ea typeface="맑은 고딕"/>
                        </a:rPr>
                        <a:t>• 크레인 직업중량 및 허용재원 준수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3C3F3F"/>
                          </a:solidFill>
                          <a:latin typeface="맑은 고딕"/>
                          <a:ea typeface="맑은 고딕"/>
                        </a:rPr>
                        <a:t>교 통 사 고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464848"/>
                          </a:solidFill>
                          <a:latin typeface="맑은 고딕"/>
                          <a:ea typeface="맑은 고딕"/>
                        </a:rPr>
                        <a:t>• 직업 전 직업특성에 맞는 안전교육 실시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464848"/>
                          </a:solidFill>
                          <a:latin typeface="맑은 고딕"/>
                          <a:ea typeface="맑은 고딕"/>
                        </a:rPr>
                        <a:t>• 작업자고속도로 접근금지, 안전요원 배치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464848"/>
                          </a:solidFill>
                          <a:latin typeface="맑은 고딕"/>
                          <a:ea typeface="맑은 고딕"/>
                        </a:rPr>
                        <a:t>• 부처도로통행을 우한3로 최쏴원유지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6383A"/>
                          </a:solidFill>
                          <a:latin typeface="맑은 고딕"/>
                          <a:ea typeface="맑은 고딕"/>
                        </a:rPr>
                        <a:t>협 착 사 고</a:t>
                      </a:r>
                    </a:p>
                    <a:p>
                      <a:pPr algn="l"/>
                      <a:r>
                        <a:rPr sz="1080" b="0">
                          <a:solidFill>
                            <a:srgbClr val="36383A"/>
                          </a:solidFill>
                          <a:latin typeface="맑은 고딕"/>
                          <a:ea typeface="맑은 고딕"/>
                        </a:rPr>
                        <a:t>전 도 사 고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454847"/>
                          </a:solidFill>
                          <a:latin typeface="맑은 고딕"/>
                          <a:ea typeface="맑은 고딕"/>
                        </a:rPr>
                        <a:t>• 2인1조 직합 자발적 위험인식 함양 교육</a:t>
                      </a:r>
                    </a:p>
                    <a:p>
                      <a:pPr algn="l"/>
                      <a:r>
                        <a:rPr sz="840" b="0">
                          <a:solidFill>
                            <a:srgbClr val="454847"/>
                          </a:solidFill>
                          <a:latin typeface="맑은 고딕"/>
                          <a:ea typeface="맑은 고딕"/>
                        </a:rPr>
                        <a:t>• 굴착기는 전도예방을 위한트랙식징비 시용</a:t>
                      </a:r>
                    </a:p>
                    <a:p>
                      <a:pPr algn="l"/>
                      <a:r>
                        <a:rPr sz="840" b="0">
                          <a:solidFill>
                            <a:srgbClr val="454847"/>
                          </a:solidFill>
                          <a:latin typeface="맑은 고딕"/>
                          <a:ea typeface="맑은 고딕"/>
                        </a:rPr>
                        <a:t>• 소형자자도 가급적 크레인, 굴착기 운반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/>
                      <a:r>
                        <a:rPr sz="910" b="1">
                          <a:solidFill>
                            <a:srgbClr val="353837"/>
                          </a:solidFill>
                          <a:latin typeface="맑은 고딕"/>
                          <a:ea typeface="맑은 고딕"/>
                        </a:rPr>
                        <a:t>서산시 안호리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353837"/>
                          </a:solidFill>
                          <a:latin typeface="맑은 고딕"/>
                          <a:ea typeface="맑은 고딕"/>
                        </a:rPr>
                        <a:t>태양광발전소 예시(성토부11)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7171"/>
                          </a:solidFill>
                          <a:latin typeface="맑은 고딕"/>
                          <a:ea typeface="맑은 고딕"/>
                        </a:rPr>
                        <a:t>신호수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-2"/>
          <p:cNvGraphicFramePr>
            <a:graphicFrameLocks noGrp="1"/>
          </p:cNvGraphicFramePr>
          <p:nvPr/>
        </p:nvGraphicFramePr>
        <p:xfrm>
          <a:off x="576072" y="7292340"/>
          <a:ext cx="3058668" cy="18425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17904"/>
                <a:gridCol w="1540764"/>
              </a:tblGrid>
              <a:tr h="246888"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323637"/>
                          </a:solidFill>
                          <a:latin typeface="맑은 고딕"/>
                          <a:ea typeface="맑은 고딕"/>
                        </a:rPr>
                        <a:t>공사안내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303334"/>
                          </a:solidFill>
                          <a:latin typeface="맑은 고딕"/>
                          <a:ea typeface="맑은 고딕"/>
                        </a:rPr>
                        <a:t>표지판 설치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AD8A91"/>
                          </a:solidFill>
                          <a:latin typeface="맑은 고딕"/>
                          <a:ea typeface="맑은 고딕"/>
                        </a:rPr>
                        <a:t>ㆍ 국시 돈!너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0" b="0">
                          <a:solidFill>
                            <a:srgbClr val="424443"/>
                          </a:solidFill>
                          <a:latin typeface="맑은 고딕"/>
                          <a:ea typeface="맑은 고딕"/>
                        </a:rPr>
                        <a:t>공시구간 전방 설치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424443"/>
                          </a:solidFill>
                          <a:latin typeface="맑은 고딕"/>
                          <a:ea typeface="맑은 고딕"/>
                        </a:rPr>
                        <a:t>• 부처도로 통행자 사전인지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424443"/>
                          </a:solidFill>
                          <a:latin typeface="맑은 고딕"/>
                          <a:ea typeface="맑은 고딕"/>
                        </a:rPr>
                        <a:t>• 공시내용진흰!에 디同여 명21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r"/>
                      <a:r>
                        <a:rPr sz="1160" b="1">
                          <a:solidFill>
                            <a:srgbClr val="4F5354"/>
                          </a:solidFill>
                          <a:latin typeface="맑은 고딕"/>
                          <a:ea typeface="맑은 고딕"/>
                        </a:rPr>
                        <a:t>0 자재운반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0" b="1">
                          <a:solidFill>
                            <a:srgbClr val="313536"/>
                          </a:solidFill>
                          <a:latin typeface="맑은 고딕"/>
                          <a:ea typeface="맑은 고딕"/>
                        </a:rPr>
                        <a:t>사다리차 직업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444545"/>
                          </a:solidFill>
                          <a:latin typeface="맑은 고딕"/>
                          <a:ea typeface="맑은 고딕"/>
                        </a:rPr>
                        <a:t>• 성두비틸면 자재 인양</a:t>
                      </a:r>
                    </a:p>
                    <a:p>
                      <a:pPr algn="l"/>
                      <a:r>
                        <a:rPr sz="1070" b="0">
                          <a:solidFill>
                            <a:srgbClr val="444545"/>
                          </a:solidFill>
                          <a:latin typeface="맑은 고딕"/>
                          <a:ea typeface="맑은 고딕"/>
                        </a:rPr>
                        <a:t>• 전도사고 유의</a:t>
                      </a:r>
                    </a:p>
                    <a:p>
                      <a:pPr algn="l"/>
                      <a:r>
                        <a:rPr sz="1070" b="0">
                          <a:solidFill>
                            <a:srgbClr val="444545"/>
                          </a:solidFill>
                          <a:latin typeface="맑은 고딕"/>
                          <a:ea typeface="맑은 고딕"/>
                        </a:rPr>
                        <a:t>• 철재구조물 등 운반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-3"/>
          <p:cNvGraphicFramePr>
            <a:graphicFrameLocks noGrp="1"/>
          </p:cNvGraphicFramePr>
          <p:nvPr/>
        </p:nvGraphicFramePr>
        <p:xfrm>
          <a:off x="3657600" y="7315200"/>
          <a:ext cx="3054096" cy="18333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08760"/>
                <a:gridCol w="1545336"/>
              </a:tblGrid>
              <a:tr h="146304"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333737"/>
                          </a:solidFill>
                          <a:latin typeface="맑은 고딕"/>
                          <a:ea typeface="맑은 고딕"/>
                        </a:rPr>
                        <a:t>PE드럼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13536"/>
                          </a:solidFill>
                          <a:latin typeface="맑은 고딕"/>
                          <a:ea typeface="맑은 고딕"/>
                        </a:rPr>
                        <a:t>러버콘, 윙카 설치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  <a:tr h="772668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444746"/>
                          </a:solidFill>
                          <a:latin typeface="맑은 고딕"/>
                          <a:ea typeface="맑은 고딕"/>
                        </a:rPr>
                        <a:t>• 공시구역 경계 설치</a:t>
                      </a:r>
                    </a:p>
                    <a:p>
                      <a:pPr algn="l"/>
                      <a:r>
                        <a:rPr sz="1019" b="0">
                          <a:solidFill>
                            <a:srgbClr val="444746"/>
                          </a:solidFill>
                          <a:latin typeface="맑은 고딕"/>
                          <a:ea typeface="맑은 고딕"/>
                        </a:rPr>
                        <a:t>• 야간 통행객의 안전을</a:t>
                      </a:r>
                    </a:p>
                    <a:p>
                      <a:pPr algn="l"/>
                      <a:r>
                        <a:rPr sz="1019" b="0">
                          <a:solidFill>
                            <a:srgbClr val="444746"/>
                          </a:solidFill>
                          <a:latin typeface="맑은 고딕"/>
                          <a:ea typeface="맑은 고딕"/>
                        </a:rPr>
                        <a:t>위하여 필요시 윙카 설치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r"/>
                      <a:r>
                        <a:rPr sz="1080" b="1">
                          <a:solidFill>
                            <a:srgbClr val="383D3E"/>
                          </a:solidFill>
                          <a:latin typeface="맑은 고딕"/>
                          <a:ea typeface="맑은 고딕"/>
                        </a:rPr>
                        <a:t>안전요원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313434"/>
                          </a:solidFill>
                          <a:latin typeface="맑은 고딕"/>
                          <a:ea typeface="맑은 고딕"/>
                        </a:rPr>
                        <a:t>배치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  <a:tr h="672084"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938C6C"/>
                          </a:solidFill>
                          <a:latin typeface="맑은 고딕"/>
                          <a:ea typeface="맑은 고딕"/>
                        </a:rPr>
                        <a:t>보호는--”- 안전모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938C6C"/>
                          </a:solidFill>
                          <a:latin typeface="맑은 고딕"/>
                          <a:ea typeface="맑은 고딕"/>
                        </a:rPr>
                        <a:t>,7, - \안전장갑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938C6C"/>
                          </a:solidFill>
                          <a:latin typeface="맑은 고딕"/>
                          <a:ea typeface="맑은 고딕"/>
                        </a:rPr>
                        <a:t>안전고리• _.•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938C6C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938C6C"/>
                          </a:solidFill>
                          <a:latin typeface="맑은 고딕"/>
                          <a:ea typeface="맑은 고딕"/>
                        </a:rPr>
                        <a:t>야광보호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938C6C"/>
                          </a:solidFill>
                          <a:latin typeface="맑은 고딕"/>
                          <a:ea typeface="맑은 고딕"/>
                        </a:rPr>
                        <a:t>안전화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94B4B"/>
                          </a:solidFill>
                          <a:latin typeface="맑은 고딕"/>
                          <a:ea typeface="맑은 고딕"/>
                        </a:rPr>
                        <a:t>• 직업구역 안전 사고 예방</a:t>
                      </a:r>
                    </a:p>
                    <a:p>
                      <a:pPr algn="l"/>
                      <a:r>
                        <a:rPr sz="960" b="0">
                          <a:solidFill>
                            <a:srgbClr val="494B4B"/>
                          </a:solidFill>
                          <a:latin typeface="맑은 고딕"/>
                          <a:ea typeface="맑은 고딕"/>
                        </a:rPr>
                        <a:t>• 차량통제 및 보행사고</a:t>
                      </a:r>
                    </a:p>
                    <a:p>
                      <a:pPr algn="l"/>
                      <a:r>
                        <a:rPr sz="960" b="0">
                          <a:solidFill>
                            <a:srgbClr val="494B4B"/>
                          </a:solidFill>
                          <a:latin typeface="맑은 고딕"/>
                          <a:ea typeface="맑은 고딕"/>
                        </a:rPr>
                        <a:t>예방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0" name="i1" descr="p5_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868" y="205740"/>
            <a:ext cx="973836" cy="434340"/>
          </a:xfrm>
          <a:prstGeom prst="rect">
            <a:avLst/>
          </a:prstGeom>
        </p:spPr>
      </p:pic>
      <p:pic>
        <p:nvPicPr>
          <p:cNvPr id="21" name="i3" descr="p5_i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107692"/>
            <a:ext cx="214884" cy="320040"/>
          </a:xfrm>
          <a:prstGeom prst="rect">
            <a:avLst/>
          </a:prstGeom>
        </p:spPr>
      </p:pic>
      <p:pic>
        <p:nvPicPr>
          <p:cNvPr id="22" name="i4" descr="p5_i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63140"/>
            <a:ext cx="164592" cy="77724"/>
          </a:xfrm>
          <a:prstGeom prst="rect">
            <a:avLst/>
          </a:prstGeom>
        </p:spPr>
      </p:pic>
      <p:pic>
        <p:nvPicPr>
          <p:cNvPr id="23" name="i5" descr="p5_i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2532888"/>
            <a:ext cx="150876" cy="169164"/>
          </a:xfrm>
          <a:prstGeom prst="rect">
            <a:avLst/>
          </a:prstGeom>
        </p:spPr>
      </p:pic>
      <p:pic>
        <p:nvPicPr>
          <p:cNvPr id="24" name="i6" descr="p5_i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3177540"/>
            <a:ext cx="411480" cy="64008"/>
          </a:xfrm>
          <a:prstGeom prst="rect">
            <a:avLst/>
          </a:prstGeom>
        </p:spPr>
      </p:pic>
      <p:pic>
        <p:nvPicPr>
          <p:cNvPr id="25" name="i7" descr="p5_i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484" y="3186684"/>
            <a:ext cx="406908" cy="64008"/>
          </a:xfrm>
          <a:prstGeom prst="rect">
            <a:avLst/>
          </a:prstGeom>
        </p:spPr>
      </p:pic>
      <p:pic>
        <p:nvPicPr>
          <p:cNvPr id="26" name="i9" descr="p5_i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4206240"/>
            <a:ext cx="6121908" cy="2116836"/>
          </a:xfrm>
          <a:prstGeom prst="rect">
            <a:avLst/>
          </a:prstGeom>
        </p:spPr>
      </p:pic>
      <p:pic>
        <p:nvPicPr>
          <p:cNvPr id="27" name="i10" descr="p5_i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" y="6675120"/>
            <a:ext cx="918972" cy="594360"/>
          </a:xfrm>
          <a:prstGeom prst="rect">
            <a:avLst/>
          </a:prstGeom>
        </p:spPr>
      </p:pic>
      <p:pic>
        <p:nvPicPr>
          <p:cNvPr id="28" name="i11" descr="p5_i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2524" y="6702552"/>
            <a:ext cx="425196" cy="530352"/>
          </a:xfrm>
          <a:prstGeom prst="rect">
            <a:avLst/>
          </a:prstGeom>
        </p:spPr>
      </p:pic>
      <p:pic>
        <p:nvPicPr>
          <p:cNvPr id="29" name="i16" descr="p5_i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9788652"/>
            <a:ext cx="6099048" cy="59436"/>
          </a:xfrm>
          <a:prstGeom prst="rect">
            <a:avLst/>
          </a:prstGeom>
        </p:spPr>
      </p:pic>
      <p:pic>
        <p:nvPicPr>
          <p:cNvPr id="30" name="i17" descr="p5_i1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10044684"/>
            <a:ext cx="141732" cy="105156"/>
          </a:xfrm>
          <a:prstGeom prst="rect">
            <a:avLst/>
          </a:prstGeom>
        </p:spPr>
      </p:pic>
      <p:cxnSp>
        <p:nvCxnSpPr>
          <p:cNvPr id="31" name="l0"/>
          <p:cNvCxnSpPr/>
          <p:nvPr/>
        </p:nvCxnSpPr>
        <p:spPr>
          <a:xfrm>
            <a:off x="4549140" y="2263140"/>
            <a:ext cx="534924" cy="0"/>
          </a:xfrm>
          <a:prstGeom prst="line">
            <a:avLst/>
          </a:prstGeom>
          <a:ln w="18288">
            <a:solidFill>
              <a:srgbClr val="88C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1"/>
          <p:cNvCxnSpPr/>
          <p:nvPr/>
        </p:nvCxnSpPr>
        <p:spPr>
          <a:xfrm>
            <a:off x="4539996" y="2448306"/>
            <a:ext cx="544068" cy="0"/>
          </a:xfrm>
          <a:prstGeom prst="line">
            <a:avLst/>
          </a:prstGeom>
          <a:ln w="22860">
            <a:solidFill>
              <a:srgbClr val="3BA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3"/>
          <p:cNvCxnSpPr/>
          <p:nvPr/>
        </p:nvCxnSpPr>
        <p:spPr>
          <a:xfrm>
            <a:off x="4229100" y="7283196"/>
            <a:ext cx="740664" cy="0"/>
          </a:xfrm>
          <a:prstGeom prst="line">
            <a:avLst/>
          </a:prstGeom>
          <a:ln w="9144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4"/>
          <p:cNvCxnSpPr/>
          <p:nvPr/>
        </p:nvCxnSpPr>
        <p:spPr>
          <a:xfrm>
            <a:off x="4974336" y="7287768"/>
            <a:ext cx="1719072" cy="0"/>
          </a:xfrm>
          <a:prstGeom prst="line">
            <a:avLst/>
          </a:prstGeom>
          <a:ln w="9144">
            <a:solidFill>
              <a:srgbClr val="D6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12"/>
          <p:cNvCxnSpPr/>
          <p:nvPr/>
        </p:nvCxnSpPr>
        <p:spPr>
          <a:xfrm>
            <a:off x="589788" y="9205722"/>
            <a:ext cx="1892808" cy="0"/>
          </a:xfrm>
          <a:prstGeom prst="line">
            <a:avLst/>
          </a:prstGeom>
          <a:ln w="22860">
            <a:solidFill>
              <a:srgbClr val="BFC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13"/>
          <p:cNvCxnSpPr/>
          <p:nvPr/>
        </p:nvCxnSpPr>
        <p:spPr>
          <a:xfrm>
            <a:off x="2487168" y="9224010"/>
            <a:ext cx="4197096" cy="0"/>
          </a:xfrm>
          <a:prstGeom prst="line">
            <a:avLst/>
          </a:prstGeom>
          <a:ln w="22860">
            <a:solidFill>
              <a:srgbClr val="B6B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14"/>
          <p:cNvCxnSpPr/>
          <p:nvPr/>
        </p:nvCxnSpPr>
        <p:spPr>
          <a:xfrm>
            <a:off x="6729984" y="1147572"/>
            <a:ext cx="0" cy="717804"/>
          </a:xfrm>
          <a:prstGeom prst="line">
            <a:avLst/>
          </a:prstGeom>
          <a:ln w="18288">
            <a:solidFill>
              <a:srgbClr val="429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16"/>
          <p:cNvCxnSpPr/>
          <p:nvPr/>
        </p:nvCxnSpPr>
        <p:spPr>
          <a:xfrm>
            <a:off x="6709410" y="4261104"/>
            <a:ext cx="0" cy="1124712"/>
          </a:xfrm>
          <a:prstGeom prst="line">
            <a:avLst/>
          </a:prstGeom>
          <a:ln w="13716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17"/>
          <p:cNvCxnSpPr/>
          <p:nvPr/>
        </p:nvCxnSpPr>
        <p:spPr>
          <a:xfrm>
            <a:off x="596646" y="4626864"/>
            <a:ext cx="0" cy="320040"/>
          </a:xfrm>
          <a:prstGeom prst="line">
            <a:avLst/>
          </a:prstGeom>
          <a:ln w="6350">
            <a:solidFill>
              <a:srgbClr val="D5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18"/>
          <p:cNvCxnSpPr/>
          <p:nvPr/>
        </p:nvCxnSpPr>
        <p:spPr>
          <a:xfrm>
            <a:off x="596646" y="4951476"/>
            <a:ext cx="0" cy="612648"/>
          </a:xfrm>
          <a:prstGeom prst="line">
            <a:avLst/>
          </a:prstGeom>
          <a:ln w="6350">
            <a:solidFill>
              <a:srgbClr val="CA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19"/>
          <p:cNvCxnSpPr/>
          <p:nvPr/>
        </p:nvCxnSpPr>
        <p:spPr>
          <a:xfrm>
            <a:off x="2103120" y="6670548"/>
            <a:ext cx="0" cy="571500"/>
          </a:xfrm>
          <a:prstGeom prst="line">
            <a:avLst/>
          </a:prstGeom>
          <a:ln w="9144">
            <a:solidFill>
              <a:srgbClr val="C0C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20"/>
          <p:cNvCxnSpPr/>
          <p:nvPr/>
        </p:nvCxnSpPr>
        <p:spPr>
          <a:xfrm>
            <a:off x="3646170" y="6684264"/>
            <a:ext cx="0" cy="566928"/>
          </a:xfrm>
          <a:prstGeom prst="line">
            <a:avLst/>
          </a:prstGeom>
          <a:ln w="6350">
            <a:solidFill>
              <a:srgbClr val="A6AA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21"/>
          <p:cNvCxnSpPr/>
          <p:nvPr/>
        </p:nvCxnSpPr>
        <p:spPr>
          <a:xfrm>
            <a:off x="5177790" y="6688836"/>
            <a:ext cx="0" cy="571500"/>
          </a:xfrm>
          <a:prstGeom prst="line">
            <a:avLst/>
          </a:prstGeom>
          <a:ln w="6350">
            <a:solidFill>
              <a:srgbClr val="AAA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25"/>
          <p:cNvCxnSpPr/>
          <p:nvPr/>
        </p:nvCxnSpPr>
        <p:spPr>
          <a:xfrm>
            <a:off x="6681978" y="9240012"/>
            <a:ext cx="0" cy="598932"/>
          </a:xfrm>
          <a:prstGeom prst="line">
            <a:avLst/>
          </a:prstGeom>
          <a:ln w="6350">
            <a:solidFill>
              <a:srgbClr val="C3C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0"/>
          <p:cNvSpPr txBox="1"/>
          <p:nvPr/>
        </p:nvSpPr>
        <p:spPr>
          <a:xfrm>
            <a:off x="5229334" y="638224"/>
            <a:ext cx="1251415" cy="1337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3F4140"/>
                </a:solidFill>
                <a:latin typeface="맑은 고딕"/>
                <a:ea typeface="맑은 고딕"/>
              </a:rPr>
              <a:t>고속도로 민간투자 태양광</a:t>
            </a:r>
          </a:p>
        </p:txBody>
      </p:sp>
      <p:sp>
        <p:nvSpPr>
          <p:cNvPr id="46" name="t1"/>
          <p:cNvSpPr txBox="1"/>
          <p:nvPr/>
        </p:nvSpPr>
        <p:spPr>
          <a:xfrm>
            <a:off x="6419641" y="660922"/>
            <a:ext cx="359113" cy="98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>
                <a:solidFill>
                  <a:srgbClr val="AAACAC"/>
                </a:solidFill>
                <a:latin typeface="맑은 고딕"/>
                <a:ea typeface="맑은 고딕"/>
              </a:rPr>
              <a:t>발전사입</a:t>
            </a:r>
          </a:p>
        </p:txBody>
      </p:sp>
      <p:sp>
        <p:nvSpPr>
          <p:cNvPr id="47" name="t2"/>
          <p:cNvSpPr txBox="1"/>
          <p:nvPr/>
        </p:nvSpPr>
        <p:spPr>
          <a:xfrm>
            <a:off x="591528" y="857257"/>
            <a:ext cx="1885642" cy="173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C3D3D"/>
                </a:solidFill>
                <a:latin typeface="맑은 고딕"/>
                <a:ea typeface="맑은 고딕"/>
              </a:rPr>
              <a:t>(4) 안전대책 및 안전점검 계획</a:t>
            </a:r>
          </a:p>
        </p:txBody>
      </p:sp>
      <p:sp>
        <p:nvSpPr>
          <p:cNvPr id="48" name="t3"/>
          <p:cNvSpPr txBox="1"/>
          <p:nvPr/>
        </p:nvSpPr>
        <p:spPr>
          <a:xfrm>
            <a:off x="1429452" y="1179470"/>
            <a:ext cx="4835440" cy="591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00" b="0">
                <a:solidFill>
                  <a:srgbClr val="383A39"/>
                </a:solidFill>
                <a:latin typeface="맑은 고딕"/>
                <a:ea typeface="맑은 고딕"/>
              </a:rPr>
              <a:t>• 고속도로 주행치량의 안전에 영힝℃l 없도록, 고속도로와 이격히여 부처도로에서 공시수행</a:t>
            </a:r>
          </a:p>
          <a:p>
            <a:pPr algn="l">
              <a:lnSpc>
                <a:spcPct val="142000"/>
              </a:lnSpc>
            </a:pPr>
            <a:r>
              <a:rPr sz="900" b="0">
                <a:solidFill>
                  <a:srgbClr val="383A39"/>
                </a:solidFill>
                <a:latin typeface="맑은 고딕"/>
                <a:ea typeface="맑은 고딕"/>
              </a:rPr>
              <a:t>• 부처도로를 통행하는 주민, 농민의 안전사고 예방을 위하여 농한기 사공계획 수립</a:t>
            </a:r>
          </a:p>
          <a:p>
            <a:pPr algn="l">
              <a:lnSpc>
                <a:spcPct val="142000"/>
              </a:lnSpc>
            </a:pPr>
            <a:r>
              <a:rPr sz="900" b="0">
                <a:solidFill>
                  <a:srgbClr val="383A39"/>
                </a:solidFill>
                <a:latin typeface="맑은 고딕"/>
                <a:ea typeface="맑은 고딕"/>
              </a:rPr>
              <a:t>• 공시구간내 안전을 위하여 안전관리자 통제하에 직업 수행</a:t>
            </a:r>
          </a:p>
        </p:txBody>
      </p:sp>
      <p:sp>
        <p:nvSpPr>
          <p:cNvPr id="49" name="t4"/>
          <p:cNvSpPr txBox="1"/>
          <p:nvPr/>
        </p:nvSpPr>
        <p:spPr>
          <a:xfrm>
            <a:off x="733664" y="1388733"/>
            <a:ext cx="605199" cy="1646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CDECF6"/>
                </a:solidFill>
                <a:latin typeface="맑은 고딕"/>
                <a:ea typeface="맑은 고딕"/>
              </a:rPr>
              <a:t>중점시항</a:t>
            </a:r>
          </a:p>
        </p:txBody>
      </p:sp>
      <p:sp>
        <p:nvSpPr>
          <p:cNvPr id="50" name="t6"/>
          <p:cNvSpPr txBox="1"/>
          <p:nvPr/>
        </p:nvSpPr>
        <p:spPr>
          <a:xfrm>
            <a:off x="4626705" y="2048830"/>
            <a:ext cx="417959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DCF6FC"/>
                </a:solidFill>
                <a:latin typeface="맑은 고딕"/>
                <a:ea typeface="맑은 고딕"/>
              </a:rPr>
              <a:t>인명사고</a:t>
            </a:r>
          </a:p>
        </p:txBody>
      </p:sp>
      <p:sp>
        <p:nvSpPr>
          <p:cNvPr id="51" name="t7"/>
          <p:cNvSpPr txBox="1"/>
          <p:nvPr/>
        </p:nvSpPr>
        <p:spPr>
          <a:xfrm>
            <a:off x="3854262" y="2108524"/>
            <a:ext cx="460313" cy="2474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660" b="0">
                <a:solidFill>
                  <a:srgbClr val="464948"/>
                </a:solidFill>
                <a:latin typeface="맑은 고딕"/>
                <a:ea typeface="맑은 고딕"/>
              </a:rPr>
              <a:t>교통사고</a:t>
            </a:r>
          </a:p>
          <a:p>
            <a:pPr algn="ctr">
              <a:lnSpc>
                <a:spcPct val="119000"/>
              </a:lnSpc>
            </a:pPr>
            <a:r>
              <a:rPr sz="660" b="0">
                <a:solidFill>
                  <a:srgbClr val="464948"/>
                </a:solidFill>
                <a:latin typeface="맑은 고딕"/>
                <a:ea typeface="맑은 고딕"/>
              </a:rPr>
              <a:t>발생</a:t>
            </a:r>
          </a:p>
        </p:txBody>
      </p:sp>
      <p:sp>
        <p:nvSpPr>
          <p:cNvPr id="52" name="t8"/>
          <p:cNvSpPr txBox="1"/>
          <p:nvPr/>
        </p:nvSpPr>
        <p:spPr>
          <a:xfrm>
            <a:off x="5376628" y="2114096"/>
            <a:ext cx="522170" cy="247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670" b="0">
                <a:solidFill>
                  <a:srgbClr val="505353"/>
                </a:solidFill>
                <a:latin typeface="맑은 고딕"/>
                <a:ea typeface="맑은 고딕"/>
              </a:rPr>
              <a:t>119신고</a:t>
            </a:r>
          </a:p>
          <a:p>
            <a:pPr algn="l">
              <a:lnSpc>
                <a:spcPct val="116000"/>
              </a:lnSpc>
            </a:pPr>
            <a:r>
              <a:rPr sz="670" b="0">
                <a:solidFill>
                  <a:srgbClr val="505353"/>
                </a:solidFill>
                <a:latin typeface="맑은 고딕"/>
                <a:ea typeface="맑은 고딕"/>
              </a:rPr>
              <a:t>(초기대응)</a:t>
            </a:r>
          </a:p>
        </p:txBody>
      </p:sp>
      <p:sp>
        <p:nvSpPr>
          <p:cNvPr id="53" name="t9"/>
          <p:cNvSpPr txBox="1"/>
          <p:nvPr/>
        </p:nvSpPr>
        <p:spPr>
          <a:xfrm>
            <a:off x="6190393" y="2126734"/>
            <a:ext cx="412610" cy="1128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575B59"/>
                </a:solidFill>
                <a:latin typeface="맑은 고딕"/>
                <a:ea typeface="맑은 고딕"/>
              </a:rPr>
              <a:t>대표이사</a:t>
            </a:r>
          </a:p>
        </p:txBody>
      </p:sp>
      <p:sp>
        <p:nvSpPr>
          <p:cNvPr id="54" name="t10"/>
          <p:cNvSpPr txBox="1"/>
          <p:nvPr/>
        </p:nvSpPr>
        <p:spPr>
          <a:xfrm>
            <a:off x="4626705" y="2295718"/>
            <a:ext cx="417959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4C5050"/>
                </a:solidFill>
                <a:latin typeface="맑은 고딕"/>
                <a:ea typeface="맑은 고딕"/>
              </a:rPr>
              <a:t>단순사고</a:t>
            </a:r>
          </a:p>
        </p:txBody>
      </p:sp>
      <p:sp>
        <p:nvSpPr>
          <p:cNvPr id="55" name="t11"/>
          <p:cNvSpPr txBox="1"/>
          <p:nvPr/>
        </p:nvSpPr>
        <p:spPr>
          <a:xfrm>
            <a:off x="3854324" y="2837383"/>
            <a:ext cx="454383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>
                <a:solidFill>
                  <a:srgbClr val="3F4343"/>
                </a:solidFill>
                <a:latin typeface="맑은 고딕"/>
                <a:ea typeface="맑은 고딕"/>
              </a:rPr>
              <a:t>재발방지</a:t>
            </a:r>
          </a:p>
          <a:p>
            <a:pPr algn="l">
              <a:lnSpc>
                <a:spcPct val="125000"/>
              </a:lnSpc>
            </a:pPr>
            <a:r>
              <a:rPr sz="650" b="0">
                <a:solidFill>
                  <a:srgbClr val="3F4343"/>
                </a:solidFill>
                <a:latin typeface="맑은 고딕"/>
                <a:ea typeface="맑은 고딕"/>
              </a:rPr>
              <a:t>조치시행</a:t>
            </a:r>
          </a:p>
        </p:txBody>
      </p:sp>
      <p:sp>
        <p:nvSpPr>
          <p:cNvPr id="56" name="t12"/>
          <p:cNvSpPr txBox="1"/>
          <p:nvPr/>
        </p:nvSpPr>
        <p:spPr>
          <a:xfrm>
            <a:off x="4622358" y="2842613"/>
            <a:ext cx="460313" cy="255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</a:pPr>
            <a:r>
              <a:rPr sz="660" b="0">
                <a:solidFill>
                  <a:srgbClr val="4F5051"/>
                </a:solidFill>
                <a:latin typeface="맑은 고딕"/>
                <a:ea typeface="맑은 고딕"/>
              </a:rPr>
              <a:t>안전관리</a:t>
            </a:r>
          </a:p>
          <a:p>
            <a:pPr algn="l">
              <a:lnSpc>
                <a:spcPct val="123000"/>
              </a:lnSpc>
            </a:pPr>
            <a:r>
              <a:rPr sz="660" b="0">
                <a:solidFill>
                  <a:srgbClr val="4F5051"/>
                </a:solidFill>
                <a:latin typeface="맑은 고딕"/>
                <a:ea typeface="맑은 고딕"/>
              </a:rPr>
              <a:t>팀장보고</a:t>
            </a:r>
          </a:p>
        </p:txBody>
      </p:sp>
      <p:sp>
        <p:nvSpPr>
          <p:cNvPr id="57" name="t13"/>
          <p:cNvSpPr txBox="1"/>
          <p:nvPr/>
        </p:nvSpPr>
        <p:spPr>
          <a:xfrm>
            <a:off x="5353791" y="2856909"/>
            <a:ext cx="553654" cy="237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70" b="0">
                <a:solidFill>
                  <a:srgbClr val="444748"/>
                </a:solidFill>
                <a:latin typeface="맑은 고딕"/>
                <a:ea typeface="맑은 고딕"/>
              </a:rPr>
              <a:t>도공</a:t>
            </a:r>
          </a:p>
          <a:p>
            <a:pPr algn="ctr">
              <a:lnSpc>
                <a:spcPct val="112000"/>
              </a:lnSpc>
            </a:pPr>
            <a:r>
              <a:rPr sz="670" b="0">
                <a:solidFill>
                  <a:srgbClr val="444748"/>
                </a:solidFill>
                <a:latin typeface="맑은 고딕"/>
                <a:ea typeface="맑은 고딕"/>
              </a:rPr>
              <a:t>사업개발처</a:t>
            </a:r>
          </a:p>
        </p:txBody>
      </p:sp>
      <p:sp>
        <p:nvSpPr>
          <p:cNvPr id="58" name="t14"/>
          <p:cNvSpPr txBox="1"/>
          <p:nvPr/>
        </p:nvSpPr>
        <p:spPr>
          <a:xfrm>
            <a:off x="6181410" y="2853760"/>
            <a:ext cx="460313" cy="2474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660" b="0">
                <a:solidFill>
                  <a:srgbClr val="535655"/>
                </a:solidFill>
                <a:latin typeface="맑은 고딕"/>
                <a:ea typeface="맑은 고딕"/>
              </a:rPr>
              <a:t>도공</a:t>
            </a:r>
          </a:p>
          <a:p>
            <a:pPr algn="ctr">
              <a:lnSpc>
                <a:spcPct val="119000"/>
              </a:lnSpc>
            </a:pPr>
            <a:r>
              <a:rPr sz="660" b="0">
                <a:solidFill>
                  <a:srgbClr val="535655"/>
                </a:solidFill>
                <a:latin typeface="맑은 고딕"/>
                <a:ea typeface="맑은 고딕"/>
              </a:rPr>
              <a:t>관할지사</a:t>
            </a:r>
          </a:p>
        </p:txBody>
      </p:sp>
      <p:sp>
        <p:nvSpPr>
          <p:cNvPr id="59" name="t15"/>
          <p:cNvSpPr txBox="1"/>
          <p:nvPr/>
        </p:nvSpPr>
        <p:spPr>
          <a:xfrm>
            <a:off x="3756877" y="3268976"/>
            <a:ext cx="2630217" cy="522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860" b="0">
                <a:solidFill>
                  <a:srgbClr val="434545"/>
                </a:solidFill>
                <a:latin typeface="맑은 고딕"/>
                <a:ea typeface="맑은 고딕"/>
              </a:rPr>
              <a:t>• 현장책임자 안전교육 01수(전71안전관리법 25조)</a:t>
            </a:r>
          </a:p>
          <a:p>
            <a:pPr algn="l">
              <a:lnSpc>
                <a:spcPct val="131000"/>
              </a:lnSpc>
            </a:pPr>
            <a:r>
              <a:rPr sz="860" b="0">
                <a:solidFill>
                  <a:srgbClr val="434545"/>
                </a:solidFill>
                <a:latin typeface="맑은 고딕"/>
                <a:ea typeface="맑은 고딕"/>
              </a:rPr>
              <a:t>• 직업팀은 도로지단 안전관리계획서를 별도 제출</a:t>
            </a:r>
          </a:p>
          <a:p>
            <a:pPr algn="l">
              <a:lnSpc>
                <a:spcPct val="131000"/>
              </a:lnSpc>
            </a:pPr>
            <a:r>
              <a:rPr sz="860" b="0">
                <a:solidFill>
                  <a:srgbClr val="434545"/>
                </a:solidFill>
                <a:latin typeface="맑은 고딕"/>
                <a:ea typeface="맑은 고딕"/>
              </a:rPr>
              <a:t>• 인명사고 시 119 신고 선조치 후보고</a:t>
            </a:r>
          </a:p>
        </p:txBody>
      </p:sp>
      <p:sp>
        <p:nvSpPr>
          <p:cNvPr id="60" name="t19"/>
          <p:cNvSpPr txBox="1"/>
          <p:nvPr/>
        </p:nvSpPr>
        <p:spPr>
          <a:xfrm>
            <a:off x="3198301" y="4791213"/>
            <a:ext cx="628691" cy="1573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889190"/>
                </a:solidFill>
                <a:latin typeface="맑은 고딕"/>
                <a:ea typeface="맑은 고딕"/>
              </a:rPr>
              <a:t>_작업구역</a:t>
            </a:r>
          </a:p>
        </p:txBody>
      </p:sp>
      <p:sp>
        <p:nvSpPr>
          <p:cNvPr id="61" name="t20"/>
          <p:cNvSpPr txBox="1"/>
          <p:nvPr/>
        </p:nvSpPr>
        <p:spPr>
          <a:xfrm>
            <a:off x="4087419" y="5007498"/>
            <a:ext cx="1905908" cy="1096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>
                <a:solidFill>
                  <a:srgbClr val="7C9EAA"/>
                </a:solidFill>
                <a:latin typeface="맑은 고딕"/>
                <a:ea typeface="맑은 고딕"/>
              </a:rPr>
              <a:t>:닡=국苳;耳 ;二긔 4髥+ _4류&amp;11串 걸-벽 11t肯 그</a:t>
            </a:r>
          </a:p>
        </p:txBody>
      </p:sp>
      <p:sp>
        <p:nvSpPr>
          <p:cNvPr id="62" name="t21"/>
          <p:cNvSpPr txBox="1"/>
          <p:nvPr/>
        </p:nvSpPr>
        <p:spPr>
          <a:xfrm>
            <a:off x="1871298" y="5279840"/>
            <a:ext cx="5291881" cy="8935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0">
                <a:solidFill>
                  <a:srgbClr val="AAAA9A"/>
                </a:solidFill>
                <a:latin typeface="맑은 고딕"/>
                <a:ea typeface="맑은 고딕"/>
              </a:rPr>
              <a:t>[지 들레?百ffi&amp;</a:t>
            </a:r>
          </a:p>
        </p:txBody>
      </p:sp>
      <p:sp>
        <p:nvSpPr>
          <p:cNvPr id="63" name="t22"/>
          <p:cNvSpPr txBox="1"/>
          <p:nvPr/>
        </p:nvSpPr>
        <p:spPr>
          <a:xfrm>
            <a:off x="2955608" y="6440658"/>
            <a:ext cx="1433313" cy="1657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424748"/>
                </a:solidFill>
                <a:latin typeface="맑은 고딕"/>
                <a:ea typeface="맑은 고딕"/>
              </a:rPr>
              <a:t>0 교통안내 표지판 설치</a:t>
            </a:r>
          </a:p>
        </p:txBody>
      </p:sp>
      <p:sp>
        <p:nvSpPr>
          <p:cNvPr id="64" name="t23"/>
          <p:cNvSpPr txBox="1"/>
          <p:nvPr/>
        </p:nvSpPr>
        <p:spPr>
          <a:xfrm>
            <a:off x="2142889" y="6673290"/>
            <a:ext cx="1571096" cy="564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공사구간 전방 설치</a:t>
            </a:r>
          </a:p>
          <a:p>
            <a:pPr algn="l">
              <a:lnSpc>
                <a:spcPct val="140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부체도로 통행자 사전 인지</a:t>
            </a:r>
          </a:p>
          <a:p>
            <a:pPr algn="l">
              <a:lnSpc>
                <a:spcPct val="140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각 필요 위치별로 설치</a:t>
            </a:r>
          </a:p>
        </p:txBody>
      </p:sp>
      <p:sp>
        <p:nvSpPr>
          <p:cNvPr id="65" name="t24"/>
          <p:cNvSpPr txBox="1"/>
          <p:nvPr/>
        </p:nvSpPr>
        <p:spPr>
          <a:xfrm>
            <a:off x="5219903" y="6686768"/>
            <a:ext cx="1556109" cy="56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1000"/>
              </a:lnSpc>
            </a:pPr>
            <a:r>
              <a:rPr sz="860" b="0">
                <a:solidFill>
                  <a:srgbClr val="494C4B"/>
                </a:solidFill>
                <a:latin typeface="맑은 고딕"/>
                <a:ea typeface="맑은 고딕"/>
              </a:rPr>
              <a:t>• 공시구간 전방 설치</a:t>
            </a:r>
          </a:p>
          <a:p>
            <a:pPr algn="l">
              <a:lnSpc>
                <a:spcPct val="141000"/>
              </a:lnSpc>
            </a:pPr>
            <a:r>
              <a:rPr sz="860" b="0">
                <a:solidFill>
                  <a:srgbClr val="494C4B"/>
                </a:solidFill>
                <a:latin typeface="맑은 고딕"/>
                <a:ea typeface="맑은 고딕"/>
              </a:rPr>
              <a:t>• 부처도로 통행자人전 인지</a:t>
            </a:r>
          </a:p>
          <a:p>
            <a:pPr algn="l">
              <a:lnSpc>
                <a:spcPct val="141000"/>
              </a:lnSpc>
            </a:pPr>
            <a:r>
              <a:rPr sz="860" b="0">
                <a:solidFill>
                  <a:srgbClr val="494C4B"/>
                </a:solidFill>
                <a:latin typeface="맑은 고딕"/>
                <a:ea typeface="맑은 고딕"/>
              </a:rPr>
              <a:t>• 직업구역에 따라 수시 이동</a:t>
            </a:r>
          </a:p>
        </p:txBody>
      </p:sp>
      <p:sp>
        <p:nvSpPr>
          <p:cNvPr id="66" name="t36"/>
          <p:cNvSpPr txBox="1"/>
          <p:nvPr/>
        </p:nvSpPr>
        <p:spPr>
          <a:xfrm>
            <a:off x="643287" y="9244882"/>
            <a:ext cx="5708437" cy="523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9" b="0">
                <a:solidFill>
                  <a:srgbClr val="494B4A"/>
                </a:solidFill>
                <a:latin typeface="맑은 고딕"/>
                <a:ea typeface="맑은 고딕"/>
              </a:rPr>
              <a:t>• 괸련표지 설치 후 운전자가 통행방법을 이해하지 못하거나, 안전문제가 발생(예상) 될 경우 즉시 수정 후 자결치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494B4A"/>
                </a:solidFill>
                <a:latin typeface="맑은 고딕"/>
                <a:ea typeface="맑은 고딕"/>
              </a:rPr>
              <a:t>• 기존 표지와 도로 공시구간 주의표지 내용이 디를 경우 기존 표지를 가리거나 임人로 제거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494B4A"/>
                </a:solidFill>
                <a:latin typeface="맑은 고딕"/>
                <a:ea typeface="맑은 고딕"/>
              </a:rPr>
              <a:t>• 가급적 직업보호 자동차를 2대 이상 배치6뼈, 직업 활동-구역과 초소 60m 이상 이격하여 배치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5518404" y="7328916"/>
            <a:ext cx="1380744" cy="14036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AD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777240" y="2976372"/>
            <a:ext cx="2135124" cy="795528"/>
          </a:xfrm>
          <a:prstGeom prst="rect">
            <a:avLst/>
          </a:prstGeom>
          <a:solidFill>
            <a:srgbClr val="8AA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4777740" y="3287268"/>
            <a:ext cx="2139696" cy="452628"/>
          </a:xfrm>
          <a:prstGeom prst="rect">
            <a:avLst/>
          </a:prstGeom>
          <a:solidFill>
            <a:srgbClr val="7A9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777240" y="4169664"/>
            <a:ext cx="3054096" cy="274320"/>
          </a:xfrm>
          <a:prstGeom prst="rect">
            <a:avLst/>
          </a:prstGeom>
          <a:solidFill>
            <a:srgbClr val="D4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795528" y="7068312"/>
            <a:ext cx="3054096" cy="269748"/>
          </a:xfrm>
          <a:prstGeom prst="rect">
            <a:avLst/>
          </a:prstGeom>
          <a:solidFill>
            <a:srgbClr val="D8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3867912" y="4146804"/>
            <a:ext cx="3049524" cy="269748"/>
          </a:xfrm>
          <a:prstGeom prst="rect">
            <a:avLst/>
          </a:prstGeom>
          <a:solidFill>
            <a:srgbClr val="D7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3886200" y="7045452"/>
            <a:ext cx="3049524" cy="265176"/>
          </a:xfrm>
          <a:prstGeom prst="rect">
            <a:avLst/>
          </a:prstGeom>
          <a:solidFill>
            <a:srgbClr val="DD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4055364" y="9235440"/>
            <a:ext cx="1220724" cy="580644"/>
          </a:xfrm>
          <a:prstGeom prst="rect">
            <a:avLst/>
          </a:prstGeom>
          <a:solidFill>
            <a:srgbClr val="B6D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763524" y="1961388"/>
            <a:ext cx="2144268" cy="237744"/>
          </a:xfrm>
          <a:prstGeom prst="rect">
            <a:avLst/>
          </a:prstGeom>
          <a:solidFill>
            <a:srgbClr val="879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4768596" y="1929384"/>
            <a:ext cx="2139696" cy="233172"/>
          </a:xfrm>
          <a:prstGeom prst="rect">
            <a:avLst/>
          </a:prstGeom>
          <a:solidFill>
            <a:srgbClr val="899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864108" y="5559552"/>
            <a:ext cx="1339596" cy="228600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2446020" y="5545836"/>
            <a:ext cx="1335024" cy="224028"/>
          </a:xfrm>
          <a:prstGeom prst="rect">
            <a:avLst/>
          </a:prstGeom>
          <a:solidFill>
            <a:srgbClr val="E2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2"/>
          <p:cNvSpPr/>
          <p:nvPr/>
        </p:nvSpPr>
        <p:spPr>
          <a:xfrm>
            <a:off x="2446020" y="5861304"/>
            <a:ext cx="1339596" cy="20574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13"/>
          <p:cNvSpPr/>
          <p:nvPr/>
        </p:nvSpPr>
        <p:spPr>
          <a:xfrm>
            <a:off x="3991356" y="8293608"/>
            <a:ext cx="1257300" cy="192024"/>
          </a:xfrm>
          <a:prstGeom prst="rect">
            <a:avLst/>
          </a:prstGeom>
          <a:solidFill>
            <a:srgbClr val="169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0" descr="p6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12" y="7452360"/>
            <a:ext cx="1261872" cy="429768"/>
          </a:xfrm>
          <a:prstGeom prst="rect">
            <a:avLst/>
          </a:prstGeom>
        </p:spPr>
      </p:pic>
      <p:pic>
        <p:nvPicPr>
          <p:cNvPr id="17" name="i1" descr="p6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1732"/>
            <a:ext cx="557784" cy="461772"/>
          </a:xfrm>
          <a:prstGeom prst="rect">
            <a:avLst/>
          </a:prstGeom>
        </p:spPr>
      </p:pic>
      <p:pic>
        <p:nvPicPr>
          <p:cNvPr id="18" name="i2" descr="p6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120140"/>
            <a:ext cx="6135624" cy="772668"/>
          </a:xfrm>
          <a:prstGeom prst="rect">
            <a:avLst/>
          </a:prstGeom>
        </p:spPr>
      </p:pic>
      <p:pic>
        <p:nvPicPr>
          <p:cNvPr id="19" name="i3" descr="p6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196" y="2139696"/>
            <a:ext cx="3054096" cy="1403604"/>
          </a:xfrm>
          <a:prstGeom prst="rect">
            <a:avLst/>
          </a:prstGeom>
        </p:spPr>
      </p:pic>
      <p:pic>
        <p:nvPicPr>
          <p:cNvPr id="20" name="i4" descr="p6_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62556"/>
            <a:ext cx="3054096" cy="1394460"/>
          </a:xfrm>
          <a:prstGeom prst="rect">
            <a:avLst/>
          </a:prstGeom>
        </p:spPr>
      </p:pic>
      <p:pic>
        <p:nvPicPr>
          <p:cNvPr id="21" name="i5" descr="p6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764" y="4430268"/>
            <a:ext cx="54864" cy="132588"/>
          </a:xfrm>
          <a:prstGeom prst="rect">
            <a:avLst/>
          </a:prstGeom>
        </p:spPr>
      </p:pic>
      <p:pic>
        <p:nvPicPr>
          <p:cNvPr id="22" name="i6" descr="p6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016" y="4475988"/>
            <a:ext cx="754380" cy="480060"/>
          </a:xfrm>
          <a:prstGeom prst="rect">
            <a:avLst/>
          </a:prstGeom>
        </p:spPr>
      </p:pic>
      <p:pic>
        <p:nvPicPr>
          <p:cNvPr id="23" name="i7" descr="p6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6876" y="4498848"/>
            <a:ext cx="1344168" cy="699516"/>
          </a:xfrm>
          <a:prstGeom prst="rect">
            <a:avLst/>
          </a:prstGeom>
        </p:spPr>
      </p:pic>
      <p:pic>
        <p:nvPicPr>
          <p:cNvPr id="24" name="i8" descr="p6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1528" y="5445252"/>
            <a:ext cx="73152" cy="100584"/>
          </a:xfrm>
          <a:prstGeom prst="rect">
            <a:avLst/>
          </a:prstGeom>
        </p:spPr>
      </p:pic>
      <p:pic>
        <p:nvPicPr>
          <p:cNvPr id="25" name="i9" descr="p6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964" y="4517136"/>
            <a:ext cx="1348740" cy="690372"/>
          </a:xfrm>
          <a:prstGeom prst="rect">
            <a:avLst/>
          </a:prstGeom>
        </p:spPr>
      </p:pic>
      <p:pic>
        <p:nvPicPr>
          <p:cNvPr id="26" name="i10" descr="p6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1016" y="5458968"/>
            <a:ext cx="621792" cy="100584"/>
          </a:xfrm>
          <a:prstGeom prst="rect">
            <a:avLst/>
          </a:prstGeom>
        </p:spPr>
      </p:pic>
      <p:pic>
        <p:nvPicPr>
          <p:cNvPr id="27" name="i11" descr="p6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06240" y="5061204"/>
            <a:ext cx="470916" cy="320040"/>
          </a:xfrm>
          <a:prstGeom prst="rect">
            <a:avLst/>
          </a:prstGeom>
        </p:spPr>
      </p:pic>
      <p:pic>
        <p:nvPicPr>
          <p:cNvPr id="28" name="i12" descr="p6_i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8304" y="5070348"/>
            <a:ext cx="736092" cy="260604"/>
          </a:xfrm>
          <a:prstGeom prst="rect">
            <a:avLst/>
          </a:prstGeom>
        </p:spPr>
      </p:pic>
      <p:pic>
        <p:nvPicPr>
          <p:cNvPr id="29" name="i13" descr="p6_i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3732" y="5431536"/>
            <a:ext cx="859536" cy="292608"/>
          </a:xfrm>
          <a:prstGeom prst="rect">
            <a:avLst/>
          </a:prstGeom>
        </p:spPr>
      </p:pic>
      <p:pic>
        <p:nvPicPr>
          <p:cNvPr id="30" name="i14" descr="p6_i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6384" y="5783580"/>
            <a:ext cx="1417320" cy="411480"/>
          </a:xfrm>
          <a:prstGeom prst="rect">
            <a:avLst/>
          </a:prstGeom>
        </p:spPr>
      </p:pic>
      <p:pic>
        <p:nvPicPr>
          <p:cNvPr id="31" name="i15" descr="p6_i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06340" y="5861304"/>
            <a:ext cx="443484" cy="169164"/>
          </a:xfrm>
          <a:prstGeom prst="rect">
            <a:avLst/>
          </a:prstGeom>
        </p:spPr>
      </p:pic>
      <p:pic>
        <p:nvPicPr>
          <p:cNvPr id="32" name="i16" descr="p6_i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81628" y="5934456"/>
            <a:ext cx="333756" cy="256032"/>
          </a:xfrm>
          <a:prstGeom prst="rect">
            <a:avLst/>
          </a:prstGeom>
        </p:spPr>
      </p:pic>
      <p:pic>
        <p:nvPicPr>
          <p:cNvPr id="33" name="i17" descr="p6_i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5528" y="6304788"/>
            <a:ext cx="2994660" cy="694944"/>
          </a:xfrm>
          <a:prstGeom prst="rect">
            <a:avLst/>
          </a:prstGeom>
        </p:spPr>
      </p:pic>
      <p:pic>
        <p:nvPicPr>
          <p:cNvPr id="34" name="i18" descr="p6_i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6152" y="7479792"/>
            <a:ext cx="566928" cy="105156"/>
          </a:xfrm>
          <a:prstGeom prst="rect">
            <a:avLst/>
          </a:prstGeom>
        </p:spPr>
      </p:pic>
      <p:pic>
        <p:nvPicPr>
          <p:cNvPr id="35" name="i19" descr="p6_i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55748" y="7566660"/>
            <a:ext cx="914400" cy="827532"/>
          </a:xfrm>
          <a:prstGeom prst="rect">
            <a:avLst/>
          </a:prstGeom>
        </p:spPr>
      </p:pic>
      <p:pic>
        <p:nvPicPr>
          <p:cNvPr id="36" name="i20" descr="p6_i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2144" y="7804404"/>
            <a:ext cx="909828" cy="448056"/>
          </a:xfrm>
          <a:prstGeom prst="rect">
            <a:avLst/>
          </a:prstGeom>
        </p:spPr>
      </p:pic>
      <p:pic>
        <p:nvPicPr>
          <p:cNvPr id="37" name="i21" descr="p6_i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7886700"/>
            <a:ext cx="1266444" cy="329184"/>
          </a:xfrm>
          <a:prstGeom prst="rect">
            <a:avLst/>
          </a:prstGeom>
        </p:spPr>
      </p:pic>
      <p:pic>
        <p:nvPicPr>
          <p:cNvPr id="38" name="i22" descr="p6_i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67528" y="7991856"/>
            <a:ext cx="91440" cy="164592"/>
          </a:xfrm>
          <a:prstGeom prst="rect">
            <a:avLst/>
          </a:prstGeom>
        </p:spPr>
      </p:pic>
      <p:pic>
        <p:nvPicPr>
          <p:cNvPr id="39" name="i23" descr="p6_i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40380" y="8481060"/>
            <a:ext cx="228600" cy="59436"/>
          </a:xfrm>
          <a:prstGeom prst="rect">
            <a:avLst/>
          </a:prstGeom>
        </p:spPr>
      </p:pic>
      <p:pic>
        <p:nvPicPr>
          <p:cNvPr id="40" name="i24" descr="p6_i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77340" y="8490204"/>
            <a:ext cx="233172" cy="64008"/>
          </a:xfrm>
          <a:prstGeom prst="rect">
            <a:avLst/>
          </a:prstGeom>
        </p:spPr>
      </p:pic>
      <p:pic>
        <p:nvPicPr>
          <p:cNvPr id="41" name="i25" descr="p6_i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86784" y="8490204"/>
            <a:ext cx="1266444" cy="237744"/>
          </a:xfrm>
          <a:prstGeom prst="rect">
            <a:avLst/>
          </a:prstGeom>
        </p:spPr>
      </p:pic>
      <p:pic>
        <p:nvPicPr>
          <p:cNvPr id="42" name="i26" descr="p6_i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31052" y="8778240"/>
            <a:ext cx="169164" cy="91440"/>
          </a:xfrm>
          <a:prstGeom prst="rect">
            <a:avLst/>
          </a:prstGeom>
        </p:spPr>
      </p:pic>
      <p:pic>
        <p:nvPicPr>
          <p:cNvPr id="43" name="i27" descr="p6_i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4672" y="8791956"/>
            <a:ext cx="2990088" cy="1101852"/>
          </a:xfrm>
          <a:prstGeom prst="rect">
            <a:avLst/>
          </a:prstGeom>
        </p:spPr>
      </p:pic>
      <p:pic>
        <p:nvPicPr>
          <p:cNvPr id="44" name="i28" descr="p6_i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76672" y="9281160"/>
            <a:ext cx="96012" cy="169164"/>
          </a:xfrm>
          <a:prstGeom prst="rect">
            <a:avLst/>
          </a:prstGeom>
        </p:spPr>
      </p:pic>
      <p:pic>
        <p:nvPicPr>
          <p:cNvPr id="45" name="i29" descr="p6_i2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58768" y="9395460"/>
            <a:ext cx="54864" cy="283464"/>
          </a:xfrm>
          <a:prstGeom prst="rect">
            <a:avLst/>
          </a:prstGeom>
        </p:spPr>
      </p:pic>
      <p:pic>
        <p:nvPicPr>
          <p:cNvPr id="46" name="i30" descr="p6_i3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54980" y="9788652"/>
            <a:ext cx="1330452" cy="64008"/>
          </a:xfrm>
          <a:prstGeom prst="rect">
            <a:avLst/>
          </a:prstGeom>
        </p:spPr>
      </p:pic>
      <p:pic>
        <p:nvPicPr>
          <p:cNvPr id="47" name="i31" descr="p6_i3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950208" y="9811512"/>
            <a:ext cx="196596" cy="54864"/>
          </a:xfrm>
          <a:prstGeom prst="rect">
            <a:avLst/>
          </a:prstGeom>
        </p:spPr>
      </p:pic>
      <p:cxnSp>
        <p:nvCxnSpPr>
          <p:cNvPr id="48" name="l0"/>
          <p:cNvCxnSpPr/>
          <p:nvPr/>
        </p:nvCxnSpPr>
        <p:spPr>
          <a:xfrm>
            <a:off x="6469380" y="6014466"/>
            <a:ext cx="429768" cy="0"/>
          </a:xfrm>
          <a:prstGeom prst="line">
            <a:avLst/>
          </a:prstGeom>
          <a:ln w="6350">
            <a:solidFill>
              <a:srgbClr val="C3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1"/>
          <p:cNvCxnSpPr/>
          <p:nvPr/>
        </p:nvCxnSpPr>
        <p:spPr>
          <a:xfrm>
            <a:off x="5266944" y="6023610"/>
            <a:ext cx="598932" cy="0"/>
          </a:xfrm>
          <a:prstGeom prst="line">
            <a:avLst/>
          </a:prstGeom>
          <a:ln w="6350">
            <a:solidFill>
              <a:srgbClr val="C1C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2"/>
          <p:cNvCxnSpPr/>
          <p:nvPr/>
        </p:nvCxnSpPr>
        <p:spPr>
          <a:xfrm>
            <a:off x="5897880" y="6019038"/>
            <a:ext cx="429768" cy="0"/>
          </a:xfrm>
          <a:prstGeom prst="line">
            <a:avLst/>
          </a:prstGeom>
          <a:ln w="635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3"/>
          <p:cNvCxnSpPr/>
          <p:nvPr/>
        </p:nvCxnSpPr>
        <p:spPr>
          <a:xfrm>
            <a:off x="4229100" y="6030468"/>
            <a:ext cx="763524" cy="0"/>
          </a:xfrm>
          <a:prstGeom prst="line">
            <a:avLst/>
          </a:prstGeom>
          <a:ln w="9144">
            <a:solidFill>
              <a:srgbClr val="C2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4"/>
          <p:cNvCxnSpPr/>
          <p:nvPr/>
        </p:nvCxnSpPr>
        <p:spPr>
          <a:xfrm>
            <a:off x="1504188" y="6988302"/>
            <a:ext cx="347472" cy="0"/>
          </a:xfrm>
          <a:prstGeom prst="line">
            <a:avLst/>
          </a:prstGeom>
          <a:ln w="635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5"/>
          <p:cNvCxnSpPr/>
          <p:nvPr/>
        </p:nvCxnSpPr>
        <p:spPr>
          <a:xfrm>
            <a:off x="4027932" y="8218170"/>
            <a:ext cx="1188720" cy="0"/>
          </a:xfrm>
          <a:prstGeom prst="line">
            <a:avLst/>
          </a:prstGeom>
          <a:ln w="22860">
            <a:solidFill>
              <a:srgbClr val="55B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6"/>
          <p:cNvCxnSpPr/>
          <p:nvPr/>
        </p:nvCxnSpPr>
        <p:spPr>
          <a:xfrm>
            <a:off x="4027932" y="8737092"/>
            <a:ext cx="1193292" cy="0"/>
          </a:xfrm>
          <a:prstGeom prst="line">
            <a:avLst/>
          </a:prstGeom>
          <a:ln w="18288">
            <a:solidFill>
              <a:srgbClr val="52B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l7"/>
          <p:cNvCxnSpPr/>
          <p:nvPr/>
        </p:nvCxnSpPr>
        <p:spPr>
          <a:xfrm>
            <a:off x="5577840" y="8926830"/>
            <a:ext cx="1284732" cy="0"/>
          </a:xfrm>
          <a:prstGeom prst="line">
            <a:avLst/>
          </a:prstGeom>
          <a:ln w="13716">
            <a:solidFill>
              <a:srgbClr val="AD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8"/>
          <p:cNvCxnSpPr/>
          <p:nvPr/>
        </p:nvCxnSpPr>
        <p:spPr>
          <a:xfrm>
            <a:off x="4005072" y="8938260"/>
            <a:ext cx="1275588" cy="0"/>
          </a:xfrm>
          <a:prstGeom prst="line">
            <a:avLst/>
          </a:prstGeom>
          <a:ln w="18288">
            <a:solidFill>
              <a:srgbClr val="ACC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9"/>
          <p:cNvCxnSpPr/>
          <p:nvPr/>
        </p:nvCxnSpPr>
        <p:spPr>
          <a:xfrm>
            <a:off x="1650492" y="9825228"/>
            <a:ext cx="644652" cy="0"/>
          </a:xfrm>
          <a:prstGeom prst="line">
            <a:avLst/>
          </a:prstGeom>
          <a:ln w="9144">
            <a:solidFill>
              <a:srgbClr val="A4A7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l10"/>
          <p:cNvCxnSpPr/>
          <p:nvPr/>
        </p:nvCxnSpPr>
        <p:spPr>
          <a:xfrm>
            <a:off x="987552" y="9882378"/>
            <a:ext cx="580644" cy="0"/>
          </a:xfrm>
          <a:prstGeom prst="line">
            <a:avLst/>
          </a:prstGeom>
          <a:ln w="6350">
            <a:solidFill>
              <a:srgbClr val="DA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l11"/>
          <p:cNvCxnSpPr/>
          <p:nvPr/>
        </p:nvCxnSpPr>
        <p:spPr>
          <a:xfrm>
            <a:off x="1847088" y="9877806"/>
            <a:ext cx="406908" cy="0"/>
          </a:xfrm>
          <a:prstGeom prst="line">
            <a:avLst/>
          </a:prstGeom>
          <a:ln w="6350">
            <a:solidFill>
              <a:srgbClr val="D9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l12"/>
          <p:cNvCxnSpPr/>
          <p:nvPr/>
        </p:nvCxnSpPr>
        <p:spPr>
          <a:xfrm>
            <a:off x="6901434" y="1124712"/>
            <a:ext cx="0" cy="722376"/>
          </a:xfrm>
          <a:prstGeom prst="line">
            <a:avLst/>
          </a:prstGeom>
          <a:ln w="13716">
            <a:solidFill>
              <a:srgbClr val="2E9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l13"/>
          <p:cNvCxnSpPr/>
          <p:nvPr/>
        </p:nvCxnSpPr>
        <p:spPr>
          <a:xfrm>
            <a:off x="784098" y="4210812"/>
            <a:ext cx="0" cy="297180"/>
          </a:xfrm>
          <a:prstGeom prst="line">
            <a:avLst/>
          </a:prstGeom>
          <a:ln w="6350">
            <a:solidFill>
              <a:srgbClr val="D6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14"/>
          <p:cNvCxnSpPr/>
          <p:nvPr/>
        </p:nvCxnSpPr>
        <p:spPr>
          <a:xfrm>
            <a:off x="802386" y="7109460"/>
            <a:ext cx="0" cy="292608"/>
          </a:xfrm>
          <a:prstGeom prst="line">
            <a:avLst/>
          </a:prstGeom>
          <a:ln w="6350">
            <a:solidFill>
              <a:srgbClr val="D8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l15"/>
          <p:cNvCxnSpPr/>
          <p:nvPr/>
        </p:nvCxnSpPr>
        <p:spPr>
          <a:xfrm>
            <a:off x="5534406" y="8974836"/>
            <a:ext cx="0" cy="841248"/>
          </a:xfrm>
          <a:prstGeom prst="line">
            <a:avLst/>
          </a:prstGeom>
          <a:ln w="13716">
            <a:solidFill>
              <a:srgbClr val="B6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16"/>
          <p:cNvCxnSpPr/>
          <p:nvPr/>
        </p:nvCxnSpPr>
        <p:spPr>
          <a:xfrm>
            <a:off x="6901434" y="8970264"/>
            <a:ext cx="0" cy="836676"/>
          </a:xfrm>
          <a:prstGeom prst="line">
            <a:avLst/>
          </a:prstGeom>
          <a:ln w="13716">
            <a:solidFill>
              <a:srgbClr val="B6D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17"/>
          <p:cNvCxnSpPr/>
          <p:nvPr/>
        </p:nvCxnSpPr>
        <p:spPr>
          <a:xfrm>
            <a:off x="5319522" y="8983980"/>
            <a:ext cx="0" cy="836676"/>
          </a:xfrm>
          <a:prstGeom prst="line">
            <a:avLst/>
          </a:prstGeom>
          <a:ln w="13716">
            <a:solidFill>
              <a:srgbClr val="B5D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18"/>
          <p:cNvCxnSpPr/>
          <p:nvPr/>
        </p:nvCxnSpPr>
        <p:spPr>
          <a:xfrm>
            <a:off x="3961638" y="8988552"/>
            <a:ext cx="0" cy="841248"/>
          </a:xfrm>
          <a:prstGeom prst="line">
            <a:avLst/>
          </a:prstGeom>
          <a:ln w="13716">
            <a:solidFill>
              <a:srgbClr val="B1D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0"/>
          <p:cNvSpPr txBox="1"/>
          <p:nvPr/>
        </p:nvSpPr>
        <p:spPr>
          <a:xfrm>
            <a:off x="1386718" y="272119"/>
            <a:ext cx="1043874" cy="2827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E3C44"/>
                </a:solidFill>
                <a:latin typeface="맑은 고딕"/>
                <a:ea typeface="맑은 고딕"/>
              </a:rPr>
              <a:t>건설계획</a:t>
            </a:r>
          </a:p>
        </p:txBody>
      </p:sp>
      <p:sp>
        <p:nvSpPr>
          <p:cNvPr id="68" name="t1"/>
          <p:cNvSpPr txBox="1"/>
          <p:nvPr/>
        </p:nvSpPr>
        <p:spPr>
          <a:xfrm>
            <a:off x="750567" y="378030"/>
            <a:ext cx="324638" cy="93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>
                <a:solidFill>
                  <a:srgbClr val="8DB4D2"/>
                </a:solidFill>
                <a:latin typeface="맑은 고딕"/>
                <a:ea typeface="맑은 고딕"/>
              </a:rPr>
              <a:t>Chapter</a:t>
            </a:r>
          </a:p>
        </p:txBody>
      </p:sp>
      <p:sp>
        <p:nvSpPr>
          <p:cNvPr id="69" name="t2"/>
          <p:cNvSpPr txBox="1"/>
          <p:nvPr/>
        </p:nvSpPr>
        <p:spPr>
          <a:xfrm>
            <a:off x="751303" y="902297"/>
            <a:ext cx="2903566" cy="1791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A2B2B"/>
                </a:solidFill>
                <a:latin typeface="맑은 고딕"/>
                <a:ea typeface="맑은 고딕"/>
              </a:rPr>
              <a:t>1.3 각종 재난, 사고예방을 위한 안전관리 방안</a:t>
            </a:r>
          </a:p>
        </p:txBody>
      </p:sp>
      <p:sp>
        <p:nvSpPr>
          <p:cNvPr id="70" name="t3"/>
          <p:cNvSpPr txBox="1"/>
          <p:nvPr/>
        </p:nvSpPr>
        <p:spPr>
          <a:xfrm>
            <a:off x="1291944" y="1211801"/>
            <a:ext cx="5596449" cy="1536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4040"/>
                </a:solidFill>
                <a:latin typeface="맑은 고딕"/>
                <a:ea typeface="맑은 고딕"/>
              </a:rPr>
              <a:t>244 • 사업시행자는 본 사업이 안진하게 건설될 수 있도록 안전관리조직을 구성하며 전직원에게 R&amp;R 부여</a:t>
            </a:r>
          </a:p>
        </p:txBody>
      </p:sp>
      <p:sp>
        <p:nvSpPr>
          <p:cNvPr id="71" name="t4"/>
          <p:cNvSpPr txBox="1"/>
          <p:nvPr/>
        </p:nvSpPr>
        <p:spPr>
          <a:xfrm>
            <a:off x="1593928" y="1387136"/>
            <a:ext cx="5295187" cy="393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10" b="0">
                <a:solidFill>
                  <a:srgbClr val="2E302F"/>
                </a:solidFill>
                <a:latin typeface="맑은 고딕"/>
                <a:ea typeface="맑은 고딕"/>
              </a:rPr>
              <a:t>• 정기적, 일상적인 안전고육 및 안전점검을 실시하여 안전사고예방에 선제저°翠 대처</a:t>
            </a:r>
          </a:p>
          <a:p>
            <a:pPr algn="l">
              <a:lnSpc>
                <a:spcPct val="138000"/>
              </a:lnSpc>
            </a:pPr>
            <a:r>
              <a:rPr sz="910" b="0">
                <a:solidFill>
                  <a:srgbClr val="2E302F"/>
                </a:solidFill>
                <a:latin typeface="맑은 고딕"/>
                <a:ea typeface="맑은 고딕"/>
              </a:rPr>
              <a:t>• 사과 재난 기싱℃l변에 즉각적인 대처를 위하여 비상 시 긴급조차를 수립하고 수시 점검훈련 실시</a:t>
            </a:r>
          </a:p>
        </p:txBody>
      </p:sp>
      <p:sp>
        <p:nvSpPr>
          <p:cNvPr id="72" name="t5"/>
          <p:cNvSpPr txBox="1"/>
          <p:nvPr/>
        </p:nvSpPr>
        <p:spPr>
          <a:xfrm>
            <a:off x="893684" y="1448169"/>
            <a:ext cx="605199" cy="1646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2B93C9"/>
                </a:solidFill>
                <a:latin typeface="맑은 고딕"/>
                <a:ea typeface="맑은 고딕"/>
              </a:rPr>
              <a:t>중점사항</a:t>
            </a:r>
          </a:p>
        </p:txBody>
      </p:sp>
      <p:sp>
        <p:nvSpPr>
          <p:cNvPr id="73" name="t6"/>
          <p:cNvSpPr txBox="1"/>
          <p:nvPr/>
        </p:nvSpPr>
        <p:spPr>
          <a:xfrm>
            <a:off x="6271069" y="1953069"/>
            <a:ext cx="546352" cy="1488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E6F0F5"/>
                </a:solidFill>
                <a:latin typeface="맑은 고딕"/>
                <a:ea typeface="맑은 고딕"/>
              </a:rPr>
              <a:t>안전교육</a:t>
            </a:r>
          </a:p>
        </p:txBody>
      </p:sp>
      <p:sp>
        <p:nvSpPr>
          <p:cNvPr id="74" name="t7"/>
          <p:cNvSpPr txBox="1"/>
          <p:nvPr/>
        </p:nvSpPr>
        <p:spPr>
          <a:xfrm>
            <a:off x="871537" y="1994216"/>
            <a:ext cx="806962" cy="1488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E5EFF4"/>
                </a:solidFill>
                <a:latin typeface="맑은 고딕"/>
                <a:ea typeface="맑은 고딕"/>
              </a:rPr>
              <a:t>안전관리 조직</a:t>
            </a:r>
          </a:p>
        </p:txBody>
      </p:sp>
      <p:sp>
        <p:nvSpPr>
          <p:cNvPr id="75" name="t8"/>
          <p:cNvSpPr txBox="1"/>
          <p:nvPr/>
        </p:nvSpPr>
        <p:spPr>
          <a:xfrm>
            <a:off x="4434156" y="2190156"/>
            <a:ext cx="2378770" cy="5452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770" b="0">
                <a:solidFill>
                  <a:srgbClr val="4D4F50"/>
                </a:solidFill>
                <a:latin typeface="맑은 고딕"/>
                <a:ea typeface="맑은 고딕"/>
              </a:rPr>
              <a:t>정기, 일상 및 특별교육으로 안전의 일상화</a:t>
            </a:r>
          </a:p>
          <a:p>
            <a:pPr algn="l">
              <a:lnSpc>
                <a:spcPct val="153000"/>
              </a:lnSpc>
            </a:pPr>
            <a:r>
              <a:rPr sz="770" b="0">
                <a:solidFill>
                  <a:srgbClr val="4D4F50"/>
                </a:solidFill>
                <a:latin typeface="맑은 고딕"/>
                <a:ea typeface="맑은 고딕"/>
              </a:rPr>
              <a:t>안전지침,환경관리 사고사례 등을 분석 및 사례고찰</a:t>
            </a:r>
          </a:p>
          <a:p>
            <a:pPr algn="l">
              <a:lnSpc>
                <a:spcPct val="153000"/>
              </a:lnSpc>
            </a:pPr>
            <a:r>
              <a:rPr sz="770" b="0">
                <a:solidFill>
                  <a:srgbClr val="4D4F50"/>
                </a:solidFill>
                <a:latin typeface="맑은 고딕"/>
                <a:ea typeface="맑은 고딕"/>
              </a:rPr>
              <a:t>안전관리계획 이행보고 계획 수립</a:t>
            </a:r>
          </a:p>
        </p:txBody>
      </p:sp>
      <p:sp>
        <p:nvSpPr>
          <p:cNvPr id="76" name="t9"/>
          <p:cNvSpPr txBox="1"/>
          <p:nvPr/>
        </p:nvSpPr>
        <p:spPr>
          <a:xfrm>
            <a:off x="982322" y="2223553"/>
            <a:ext cx="2291315" cy="53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1000"/>
              </a:lnSpc>
            </a:pPr>
            <a:r>
              <a:rPr sz="760" b="0">
                <a:solidFill>
                  <a:srgbClr val="4D4E4F"/>
                </a:solidFill>
                <a:latin typeface="맑은 고딕"/>
                <a:ea typeface="맑은 고딕"/>
              </a:rPr>
              <a:t>공사조직원에 안전에 관한 R&amp;R 부여</a:t>
            </a:r>
          </a:p>
          <a:p>
            <a:pPr algn="l">
              <a:lnSpc>
                <a:spcPct val="151000"/>
              </a:lnSpc>
            </a:pPr>
            <a:r>
              <a:rPr sz="760" b="0">
                <a:solidFill>
                  <a:srgbClr val="4D4E4F"/>
                </a:solidFill>
                <a:latin typeface="맑은 고딕"/>
                <a:ea typeface="맑은 고딕"/>
              </a:rPr>
              <a:t>안전관리, 재해, 공사장 주변안전 등 안전제일주의</a:t>
            </a:r>
          </a:p>
          <a:p>
            <a:pPr algn="l">
              <a:lnSpc>
                <a:spcPct val="151000"/>
              </a:lnSpc>
            </a:pPr>
            <a:r>
              <a:rPr sz="760" b="0">
                <a:solidFill>
                  <a:srgbClr val="4D4E4F"/>
                </a:solidFill>
                <a:latin typeface="맑은 고딕"/>
                <a:ea typeface="맑은 고딕"/>
              </a:rPr>
              <a:t>사업시행자 및 협력업체를 포함한 전임직원 대상</a:t>
            </a:r>
          </a:p>
        </p:txBody>
      </p:sp>
      <p:sp>
        <p:nvSpPr>
          <p:cNvPr id="77" name="t10"/>
          <p:cNvSpPr txBox="1"/>
          <p:nvPr/>
        </p:nvSpPr>
        <p:spPr>
          <a:xfrm>
            <a:off x="3382639" y="2643733"/>
            <a:ext cx="1125081" cy="4222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30" b="0">
                <a:solidFill>
                  <a:srgbClr val="272B2F"/>
                </a:solidFill>
                <a:latin typeface="맑은 고딕"/>
                <a:ea typeface="맑은 고딕"/>
              </a:rPr>
              <a:t>"No Safety</a:t>
            </a:r>
          </a:p>
          <a:p>
            <a:pPr algn="l">
              <a:lnSpc>
                <a:spcPct val="95000"/>
              </a:lnSpc>
            </a:pPr>
            <a:r>
              <a:rPr sz="1430" b="0">
                <a:solidFill>
                  <a:srgbClr val="272B2F"/>
                </a:solidFill>
                <a:latin typeface="맑은 고딕"/>
                <a:ea typeface="맑은 고딕"/>
              </a:rPr>
              <a:t>No Work„</a:t>
            </a:r>
          </a:p>
        </p:txBody>
      </p:sp>
      <p:sp>
        <p:nvSpPr>
          <p:cNvPr id="78" name="t11"/>
          <p:cNvSpPr txBox="1"/>
          <p:nvPr/>
        </p:nvSpPr>
        <p:spPr>
          <a:xfrm>
            <a:off x="4415661" y="2916808"/>
            <a:ext cx="2392468" cy="3563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3000"/>
              </a:lnSpc>
            </a:pPr>
            <a:r>
              <a:rPr sz="800" b="0">
                <a:solidFill>
                  <a:srgbClr val="4F5152"/>
                </a:solidFill>
                <a:latin typeface="맑은 고딕"/>
                <a:ea typeface="맑은 고딕"/>
              </a:rPr>
              <a:t>사고,재난,기상이변에 대한 즉각적인 대처</a:t>
            </a:r>
          </a:p>
          <a:p>
            <a:pPr algn="l">
              <a:lnSpc>
                <a:spcPct val="143000"/>
              </a:lnSpc>
            </a:pPr>
            <a:r>
              <a:rPr sz="800" b="0">
                <a:solidFill>
                  <a:srgbClr val="4F5152"/>
                </a:solidFill>
                <a:latin typeface="맑은 고딕"/>
                <a:ea typeface="맑은 고딕"/>
              </a:rPr>
              <a:t>비성뻔락망, 비상동원, 경擘계 구축 수시 점검훈련</a:t>
            </a:r>
          </a:p>
        </p:txBody>
      </p:sp>
      <p:sp>
        <p:nvSpPr>
          <p:cNvPr id="79" name="t12"/>
          <p:cNvSpPr txBox="1"/>
          <p:nvPr/>
        </p:nvSpPr>
        <p:spPr>
          <a:xfrm>
            <a:off x="849051" y="2945444"/>
            <a:ext cx="2132603" cy="545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6000"/>
              </a:lnSpc>
            </a:pPr>
            <a:r>
              <a:rPr sz="860" b="0">
                <a:solidFill>
                  <a:srgbClr val="4D4E4E"/>
                </a:solidFill>
                <a:latin typeface="맑은 고딕"/>
                <a:ea typeface="맑은 고딕"/>
              </a:rPr>
              <a:t>정기점검, 일상점검 및 총괄점검 수행</a:t>
            </a:r>
          </a:p>
          <a:p>
            <a:pPr algn="ctr">
              <a:lnSpc>
                <a:spcPct val="136000"/>
              </a:lnSpc>
            </a:pPr>
            <a:r>
              <a:rPr sz="860" b="0">
                <a:solidFill>
                  <a:srgbClr val="4D4E4E"/>
                </a:solidFill>
                <a:latin typeface="맑은 고딕"/>
                <a:ea typeface="맑은 고딕"/>
              </a:rPr>
              <a:t>• 개인자체점검, 합동점검 전임직원 대상</a:t>
            </a:r>
          </a:p>
          <a:p>
            <a:pPr algn="ctr">
              <a:lnSpc>
                <a:spcPct val="136000"/>
              </a:lnSpc>
            </a:pPr>
            <a:r>
              <a:rPr sz="860" b="0">
                <a:solidFill>
                  <a:srgbClr val="4D4E4E"/>
                </a:solidFill>
                <a:latin typeface="맑은 고딕"/>
                <a:ea typeface="맑은 고딕"/>
              </a:rPr>
              <a:t>선제적 점검으로 안전사고 사전예방</a:t>
            </a:r>
          </a:p>
        </p:txBody>
      </p:sp>
      <p:sp>
        <p:nvSpPr>
          <p:cNvPr id="80" name="t13"/>
          <p:cNvSpPr txBox="1"/>
          <p:nvPr/>
        </p:nvSpPr>
        <p:spPr>
          <a:xfrm>
            <a:off x="4959402" y="3219224"/>
            <a:ext cx="2020168" cy="5108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840" b="1">
                <a:solidFill>
                  <a:srgbClr val="8EA4B8"/>
                </a:solidFill>
                <a:latin typeface="맑은 고딕"/>
                <a:ea typeface="맑은 고딕"/>
              </a:rPr>
              <a:t>자발적인 참여유도로 안전자립 구축 부</a:t>
            </a:r>
          </a:p>
          <a:p>
            <a:pPr algn="l">
              <a:lnSpc>
                <a:spcPct val="195000"/>
              </a:lnSpc>
            </a:pPr>
            <a:r>
              <a:rPr sz="840" b="1">
                <a:solidFill>
                  <a:srgbClr val="8EA4B8"/>
                </a:solidFill>
                <a:latin typeface="맑은 고딕"/>
                <a:ea typeface="맑은 고딕"/>
              </a:rPr>
              <a:t>비상 시 긴급조치 계획</a:t>
            </a:r>
          </a:p>
        </p:txBody>
      </p:sp>
      <p:sp>
        <p:nvSpPr>
          <p:cNvPr id="81" name="t14"/>
          <p:cNvSpPr txBox="1"/>
          <p:nvPr/>
        </p:nvSpPr>
        <p:spPr>
          <a:xfrm>
            <a:off x="824605" y="3299460"/>
            <a:ext cx="240852" cy="277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0">
                <a:solidFill>
                  <a:srgbClr val="A1A1A3"/>
                </a:solidFill>
                <a:latin typeface="맑은 고딕"/>
                <a:ea typeface="맑은 고딕"/>
              </a:rPr>
              <a:t>수</a:t>
            </a:r>
          </a:p>
        </p:txBody>
      </p:sp>
      <p:sp>
        <p:nvSpPr>
          <p:cNvPr id="82" name="t15"/>
          <p:cNvSpPr txBox="1"/>
          <p:nvPr/>
        </p:nvSpPr>
        <p:spPr>
          <a:xfrm>
            <a:off x="885383" y="3576489"/>
            <a:ext cx="535653" cy="1459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6A9BD"/>
                </a:solidFill>
                <a:latin typeface="맑은 고딕"/>
                <a:ea typeface="맑은 고딕"/>
              </a:rPr>
              <a:t>안전점검</a:t>
            </a:r>
          </a:p>
        </p:txBody>
      </p:sp>
      <p:sp>
        <p:nvSpPr>
          <p:cNvPr id="83" name="t16"/>
          <p:cNvSpPr txBox="1"/>
          <p:nvPr/>
        </p:nvSpPr>
        <p:spPr>
          <a:xfrm>
            <a:off x="760622" y="3924874"/>
            <a:ext cx="2654579" cy="175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2F3030"/>
                </a:solidFill>
                <a:latin typeface="맑은 고딕"/>
                <a:ea typeface="맑은 고딕"/>
              </a:rPr>
              <a:t>(1) 안전관리 조직 및 항목별 안전관리 방안</a:t>
            </a:r>
          </a:p>
        </p:txBody>
      </p:sp>
      <p:sp>
        <p:nvSpPr>
          <p:cNvPr id="84" name="t17"/>
          <p:cNvSpPr txBox="1"/>
          <p:nvPr/>
        </p:nvSpPr>
        <p:spPr>
          <a:xfrm>
            <a:off x="4990419" y="4201131"/>
            <a:ext cx="867705" cy="1597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>
                <a:solidFill>
                  <a:srgbClr val="212123"/>
                </a:solidFill>
                <a:latin typeface="맑은 고딕"/>
                <a:ea typeface="맑은 고딕"/>
              </a:rPr>
              <a:t>안전교육 계획</a:t>
            </a:r>
          </a:p>
        </p:txBody>
      </p:sp>
      <p:sp>
        <p:nvSpPr>
          <p:cNvPr id="85" name="t18"/>
          <p:cNvSpPr txBox="1"/>
          <p:nvPr/>
        </p:nvSpPr>
        <p:spPr>
          <a:xfrm>
            <a:off x="1913585" y="4228903"/>
            <a:ext cx="852519" cy="1570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212326"/>
                </a:solidFill>
                <a:latin typeface="맑은 고딕"/>
                <a:ea typeface="맑은 고딕"/>
              </a:rPr>
              <a:t>안전관리 조직</a:t>
            </a:r>
          </a:p>
        </p:txBody>
      </p:sp>
      <p:sp>
        <p:nvSpPr>
          <p:cNvPr id="86" name="t19"/>
          <p:cNvSpPr txBox="1"/>
          <p:nvPr/>
        </p:nvSpPr>
        <p:spPr>
          <a:xfrm>
            <a:off x="5170368" y="4438895"/>
            <a:ext cx="1041105" cy="328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535757"/>
                </a:solidFill>
                <a:latin typeface="맑은 고딕"/>
                <a:ea typeface="맑은 고딕"/>
              </a:rPr>
              <a:t>• 동료작업자와 팀웍</a:t>
            </a:r>
          </a:p>
          <a:p>
            <a:pPr algn="l">
              <a:lnSpc>
                <a:spcPct val="140000"/>
              </a:lnSpc>
            </a:pPr>
            <a:r>
              <a:rPr sz="750" b="0">
                <a:solidFill>
                  <a:srgbClr val="535757"/>
                </a:solidFill>
                <a:latin typeface="맑은 고딕"/>
                <a:ea typeface="맑은 고딕"/>
              </a:rPr>
              <a:t>• 불안전한 자세 동작</a:t>
            </a:r>
          </a:p>
        </p:txBody>
      </p:sp>
      <p:sp>
        <p:nvSpPr>
          <p:cNvPr id="87" name="t20"/>
          <p:cNvSpPr txBox="1"/>
          <p:nvPr/>
        </p:nvSpPr>
        <p:spPr>
          <a:xfrm>
            <a:off x="4767955" y="4603242"/>
            <a:ext cx="295716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3B8EC1"/>
                </a:solidFill>
                <a:latin typeface="맑은 고딕"/>
                <a:ea typeface="맑은 고딕"/>
              </a:rPr>
              <a:t>Man</a:t>
            </a:r>
          </a:p>
        </p:txBody>
      </p:sp>
      <p:sp>
        <p:nvSpPr>
          <p:cNvPr id="88" name="t21"/>
          <p:cNvSpPr txBox="1"/>
          <p:nvPr/>
        </p:nvSpPr>
        <p:spPr>
          <a:xfrm>
            <a:off x="2910282" y="4727253"/>
            <a:ext cx="459319" cy="1570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D2122"/>
                </a:solidFill>
                <a:latin typeface="맑은 고딕"/>
                <a:ea typeface="맑은 고딕"/>
              </a:rPr>
              <a:t>시공사</a:t>
            </a:r>
          </a:p>
        </p:txBody>
      </p:sp>
      <p:sp>
        <p:nvSpPr>
          <p:cNvPr id="89" name="t22"/>
          <p:cNvSpPr txBox="1"/>
          <p:nvPr/>
        </p:nvSpPr>
        <p:spPr>
          <a:xfrm>
            <a:off x="1214035" y="4740873"/>
            <a:ext cx="697478" cy="157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21282C"/>
                </a:solidFill>
                <a:latin typeface="맑은 고딕"/>
                <a:ea typeface="맑은 고딕"/>
              </a:rPr>
              <a:t>사업시행자</a:t>
            </a:r>
          </a:p>
        </p:txBody>
      </p:sp>
      <p:sp>
        <p:nvSpPr>
          <p:cNvPr id="90" name="t23"/>
          <p:cNvSpPr txBox="1"/>
          <p:nvPr/>
        </p:nvSpPr>
        <p:spPr>
          <a:xfrm>
            <a:off x="5545318" y="4833602"/>
            <a:ext cx="998933" cy="339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740" b="0">
                <a:solidFill>
                  <a:srgbClr val="4A5053"/>
                </a:solidFill>
                <a:latin typeface="맑은 고딕"/>
                <a:ea typeface="맑은 고딕"/>
              </a:rPr>
              <a:t>• 유해위험기계 기구</a:t>
            </a:r>
          </a:p>
          <a:p>
            <a:pPr algn="l">
              <a:lnSpc>
                <a:spcPct val="146000"/>
              </a:lnSpc>
            </a:pPr>
            <a:r>
              <a:rPr sz="740" b="0">
                <a:solidFill>
                  <a:srgbClr val="4A5053"/>
                </a:solidFill>
                <a:latin typeface="맑은 고딕"/>
                <a:ea typeface="맑은 고딕"/>
              </a:rPr>
              <a:t>• 불안전 시설물</a:t>
            </a:r>
          </a:p>
        </p:txBody>
      </p:sp>
      <p:sp>
        <p:nvSpPr>
          <p:cNvPr id="91" name="t24"/>
          <p:cNvSpPr txBox="1"/>
          <p:nvPr/>
        </p:nvSpPr>
        <p:spPr>
          <a:xfrm>
            <a:off x="5009997" y="4949952"/>
            <a:ext cx="523036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448DBF"/>
                </a:solidFill>
                <a:latin typeface="맑은 고딕"/>
                <a:ea typeface="맑은 고딕"/>
              </a:rPr>
              <a:t>Machine</a:t>
            </a:r>
          </a:p>
        </p:txBody>
      </p:sp>
      <p:sp>
        <p:nvSpPr>
          <p:cNvPr id="92" name="t25"/>
          <p:cNvSpPr txBox="1"/>
          <p:nvPr/>
        </p:nvSpPr>
        <p:spPr>
          <a:xfrm>
            <a:off x="2682657" y="5001265"/>
            <a:ext cx="993605" cy="43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830" b="0">
                <a:solidFill>
                  <a:srgbClr val="393B3B"/>
                </a:solidFill>
                <a:latin typeface="맑은 고딕"/>
                <a:ea typeface="맑은 고딕"/>
              </a:rPr>
              <a:t>현장대리인</a:t>
            </a:r>
          </a:p>
          <a:p>
            <a:pPr algn="ctr">
              <a:lnSpc>
                <a:spcPct val="170000"/>
              </a:lnSpc>
            </a:pPr>
            <a:r>
              <a:rPr sz="830" b="0">
                <a:solidFill>
                  <a:srgbClr val="393B3B"/>
                </a:solidFill>
                <a:latin typeface="맑은 고딕"/>
                <a:ea typeface="맑은 고딕"/>
              </a:rPr>
              <a:t>안전관리총책임자</a:t>
            </a:r>
          </a:p>
        </p:txBody>
      </p:sp>
      <p:sp>
        <p:nvSpPr>
          <p:cNvPr id="93" name="t26"/>
          <p:cNvSpPr txBox="1"/>
          <p:nvPr/>
        </p:nvSpPr>
        <p:spPr>
          <a:xfrm>
            <a:off x="1064106" y="5001342"/>
            <a:ext cx="1068146" cy="45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6000"/>
              </a:lnSpc>
            </a:pPr>
            <a:r>
              <a:rPr sz="840" b="0">
                <a:solidFill>
                  <a:srgbClr val="3A3B3C"/>
                </a:solidFill>
                <a:latin typeface="맑은 고딕"/>
                <a:ea typeface="맑은 고딕"/>
              </a:rPr>
              <a:t>안전관리팀장(법인)</a:t>
            </a:r>
          </a:p>
          <a:p>
            <a:pPr algn="ctr">
              <a:lnSpc>
                <a:spcPct val="176000"/>
              </a:lnSpc>
            </a:pPr>
            <a:r>
              <a:rPr sz="840" b="0">
                <a:solidFill>
                  <a:srgbClr val="3A3B3C"/>
                </a:solidFill>
                <a:latin typeface="맑은 고딕"/>
                <a:ea typeface="맑은 고딕"/>
              </a:rPr>
              <a:t>안전관리총괄</a:t>
            </a:r>
          </a:p>
        </p:txBody>
      </p:sp>
      <p:sp>
        <p:nvSpPr>
          <p:cNvPr id="94" name="t27"/>
          <p:cNvSpPr txBox="1"/>
          <p:nvPr/>
        </p:nvSpPr>
        <p:spPr>
          <a:xfrm>
            <a:off x="6207472" y="5242785"/>
            <a:ext cx="700770" cy="283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434647"/>
                </a:solidFill>
                <a:latin typeface="맑은 고딕"/>
                <a:ea typeface="맑은 고딕"/>
              </a:rPr>
              <a:t>• 작업환경.</a:t>
            </a:r>
          </a:p>
          <a:p>
            <a:pPr algn="l">
              <a:lnSpc>
                <a:spcPct val="105000"/>
              </a:lnSpc>
            </a:pPr>
            <a:r>
              <a:rPr sz="860" b="0">
                <a:solidFill>
                  <a:srgbClr val="434647"/>
                </a:solidFill>
                <a:latin typeface="맑은 고딕"/>
                <a:ea typeface="맑은 고딕"/>
              </a:rPr>
              <a:t>직무숙지도</a:t>
            </a:r>
          </a:p>
        </p:txBody>
      </p:sp>
      <p:sp>
        <p:nvSpPr>
          <p:cNvPr id="95" name="t28"/>
          <p:cNvSpPr txBox="1"/>
          <p:nvPr/>
        </p:nvSpPr>
        <p:spPr>
          <a:xfrm>
            <a:off x="5302874" y="5257023"/>
            <a:ext cx="528951" cy="1250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404142"/>
                </a:solidFill>
                <a:latin typeface="맑은 고딕"/>
                <a:ea typeface="맑은 고딕"/>
              </a:rPr>
              <a:t>• 작업방법</a:t>
            </a:r>
          </a:p>
        </p:txBody>
      </p:sp>
      <p:sp>
        <p:nvSpPr>
          <p:cNvPr id="96" name="t29"/>
          <p:cNvSpPr txBox="1"/>
          <p:nvPr/>
        </p:nvSpPr>
        <p:spPr>
          <a:xfrm>
            <a:off x="4680539" y="5324094"/>
            <a:ext cx="4851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78ABD1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97" name="t30"/>
          <p:cNvSpPr txBox="1"/>
          <p:nvPr/>
        </p:nvSpPr>
        <p:spPr>
          <a:xfrm>
            <a:off x="2837769" y="5579421"/>
            <a:ext cx="629954" cy="142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2A2D2D"/>
                </a:solidFill>
                <a:latin typeface="맑은 고딕"/>
                <a:ea typeface="맑은 고딕"/>
              </a:rPr>
              <a:t>안전관리자</a:t>
            </a:r>
          </a:p>
        </p:txBody>
      </p:sp>
      <p:sp>
        <p:nvSpPr>
          <p:cNvPr id="98" name="t31"/>
          <p:cNvSpPr txBox="1"/>
          <p:nvPr/>
        </p:nvSpPr>
        <p:spPr>
          <a:xfrm>
            <a:off x="1118768" y="5584190"/>
            <a:ext cx="907998" cy="1412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>
                <a:solidFill>
                  <a:srgbClr val="303234"/>
                </a:solidFill>
                <a:latin typeface="맑은 고딕"/>
                <a:ea typeface="맑은 고딕"/>
              </a:rPr>
              <a:t>안전관리자(법인)</a:t>
            </a:r>
          </a:p>
        </p:txBody>
      </p:sp>
      <p:sp>
        <p:nvSpPr>
          <p:cNvPr id="99" name="t32"/>
          <p:cNvSpPr txBox="1"/>
          <p:nvPr/>
        </p:nvSpPr>
        <p:spPr>
          <a:xfrm>
            <a:off x="5609314" y="5611312"/>
            <a:ext cx="1022064" cy="337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740" b="0">
                <a:solidFill>
                  <a:srgbClr val="464C4E"/>
                </a:solidFill>
                <a:latin typeface="맑은 고딕"/>
                <a:ea typeface="맑은 고딕"/>
              </a:rPr>
              <a:t>• 관리감독, 교육훈련</a:t>
            </a:r>
          </a:p>
          <a:p>
            <a:pPr algn="l">
              <a:lnSpc>
                <a:spcPct val="145000"/>
              </a:lnSpc>
            </a:pPr>
            <a:r>
              <a:rPr sz="740" b="0">
                <a:solidFill>
                  <a:srgbClr val="464C4E"/>
                </a:solidFill>
                <a:latin typeface="맑은 고딕"/>
                <a:ea typeface="맑은 고딕"/>
              </a:rPr>
              <a:t>• 법규숙지 및 준수</a:t>
            </a:r>
          </a:p>
        </p:txBody>
      </p:sp>
      <p:sp>
        <p:nvSpPr>
          <p:cNvPr id="100" name="t33"/>
          <p:cNvSpPr txBox="1"/>
          <p:nvPr/>
        </p:nvSpPr>
        <p:spPr>
          <a:xfrm>
            <a:off x="4941392" y="5717977"/>
            <a:ext cx="678791" cy="1316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493C5"/>
                </a:solidFill>
                <a:latin typeface="맑은 고딕"/>
                <a:ea typeface="맑은 고딕"/>
              </a:rPr>
              <a:t>Management</a:t>
            </a:r>
          </a:p>
        </p:txBody>
      </p:sp>
      <p:sp>
        <p:nvSpPr>
          <p:cNvPr id="101" name="t34"/>
          <p:cNvSpPr txBox="1"/>
          <p:nvPr/>
        </p:nvSpPr>
        <p:spPr>
          <a:xfrm>
            <a:off x="2819439" y="5894771"/>
            <a:ext cx="671613" cy="143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2D2E2E"/>
                </a:solidFill>
                <a:latin typeface="맑은 고딕"/>
                <a:ea typeface="맑은 고딕"/>
              </a:rPr>
              <a:t>각파트 팀장</a:t>
            </a:r>
          </a:p>
        </p:txBody>
      </p:sp>
      <p:sp>
        <p:nvSpPr>
          <p:cNvPr id="102" name="t35"/>
          <p:cNvSpPr txBox="1"/>
          <p:nvPr/>
        </p:nvSpPr>
        <p:spPr>
          <a:xfrm>
            <a:off x="1091503" y="5851987"/>
            <a:ext cx="1004901" cy="458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5000"/>
              </a:lnSpc>
            </a:pPr>
            <a:r>
              <a:rPr sz="840" b="0">
                <a:solidFill>
                  <a:srgbClr val="3F4142"/>
                </a:solidFill>
                <a:latin typeface="맑은 고딕"/>
                <a:ea typeface="맑은 고딕"/>
              </a:rPr>
              <a:t>각파트 팀장(법인)</a:t>
            </a:r>
          </a:p>
          <a:p>
            <a:pPr algn="ctr">
              <a:lnSpc>
                <a:spcPct val="175000"/>
              </a:lnSpc>
            </a:pPr>
            <a:r>
              <a:rPr sz="840" b="0">
                <a:solidFill>
                  <a:srgbClr val="3F4142"/>
                </a:solidFill>
                <a:latin typeface="맑은 고딕"/>
                <a:ea typeface="맑은 고딕"/>
              </a:rPr>
              <a:t>안전담당자</a:t>
            </a:r>
          </a:p>
        </p:txBody>
      </p:sp>
      <p:sp>
        <p:nvSpPr>
          <p:cNvPr id="103" name="t36"/>
          <p:cNvSpPr txBox="1"/>
          <p:nvPr/>
        </p:nvSpPr>
        <p:spPr>
          <a:xfrm>
            <a:off x="3947250" y="6065522"/>
            <a:ext cx="2538526" cy="85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3B3B"/>
                </a:solidFill>
                <a:latin typeface="맑은 고딕"/>
                <a:ea typeface="맑은 고딕"/>
              </a:rPr>
              <a:t>기 교 육 • 안전직업빙법 지도요령</a:t>
            </a:r>
          </a:p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3B3B"/>
                </a:solidFill>
                <a:latin typeface="맑은 고딕"/>
                <a:ea typeface="맑은 고딕"/>
              </a:rPr>
              <a:t>상 교 육 • 대표요령 및 위험요소</a:t>
            </a:r>
          </a:p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3B3B"/>
                </a:solidFill>
                <a:latin typeface="맑은 고딕"/>
                <a:ea typeface="맑은 고딕"/>
              </a:rPr>
              <a:t>특 별 취약시기 • 계절별특성안전시항</a:t>
            </a:r>
          </a:p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3B3B"/>
                </a:solidFill>
                <a:latin typeface="맑은 고딕"/>
                <a:ea typeface="맑은 고딕"/>
              </a:rPr>
              <a:t>교 육 위험 예지 • 딩일직업 위험시항</a:t>
            </a:r>
          </a:p>
        </p:txBody>
      </p:sp>
      <p:sp>
        <p:nvSpPr>
          <p:cNvPr id="104" name="t37"/>
          <p:cNvSpPr txBox="1"/>
          <p:nvPr/>
        </p:nvSpPr>
        <p:spPr>
          <a:xfrm>
            <a:off x="3951945" y="6078291"/>
            <a:ext cx="300106" cy="43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272A29"/>
                </a:solidFill>
                <a:latin typeface="맑은 고딕"/>
                <a:ea typeface="맑은 고딕"/>
              </a:rPr>
              <a:t>정</a:t>
            </a:r>
          </a:p>
          <a:p>
            <a:pPr algn="l">
              <a:lnSpc>
                <a:spcPct val="128000"/>
              </a:lnSpc>
            </a:pPr>
            <a:r>
              <a:rPr sz="1080" b="0">
                <a:solidFill>
                  <a:srgbClr val="272A29"/>
                </a:solidFill>
                <a:latin typeface="맑은 고딕"/>
                <a:ea typeface="맑은 고딕"/>
              </a:rPr>
              <a:t>일</a:t>
            </a:r>
          </a:p>
        </p:txBody>
      </p:sp>
      <p:sp>
        <p:nvSpPr>
          <p:cNvPr id="105" name="t38"/>
          <p:cNvSpPr txBox="1"/>
          <p:nvPr/>
        </p:nvSpPr>
        <p:spPr>
          <a:xfrm>
            <a:off x="2842341" y="6114345"/>
            <a:ext cx="629954" cy="142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393C3B"/>
                </a:solidFill>
                <a:latin typeface="맑은 고딕"/>
                <a:ea typeface="맑은 고딕"/>
              </a:rPr>
              <a:t>안전담당자</a:t>
            </a:r>
          </a:p>
        </p:txBody>
      </p:sp>
      <p:sp>
        <p:nvSpPr>
          <p:cNvPr id="106" name="t39"/>
          <p:cNvSpPr txBox="1"/>
          <p:nvPr/>
        </p:nvSpPr>
        <p:spPr>
          <a:xfrm>
            <a:off x="1379311" y="6448127"/>
            <a:ext cx="1960295" cy="1425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D8E6EF"/>
                </a:solidFill>
                <a:latin typeface="맑은 고딕"/>
                <a:ea typeface="맑은 고딕"/>
              </a:rPr>
              <a:t>상호협력, 유기적, 상호보완적 공조체계</a:t>
            </a:r>
          </a:p>
        </p:txBody>
      </p:sp>
      <p:sp>
        <p:nvSpPr>
          <p:cNvPr id="107" name="t40"/>
          <p:cNvSpPr txBox="1"/>
          <p:nvPr/>
        </p:nvSpPr>
        <p:spPr>
          <a:xfrm>
            <a:off x="1726896" y="6699901"/>
            <a:ext cx="1263994" cy="1400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383A3B"/>
                </a:solidFill>
                <a:latin typeface="맑은 고딕"/>
                <a:ea typeface="맑은 고딕"/>
              </a:rPr>
              <a:t>“ No Safety NO Work ”</a:t>
            </a:r>
          </a:p>
        </p:txBody>
      </p:sp>
      <p:sp>
        <p:nvSpPr>
          <p:cNvPr id="108" name="t41"/>
          <p:cNvSpPr txBox="1"/>
          <p:nvPr/>
        </p:nvSpPr>
        <p:spPr>
          <a:xfrm>
            <a:off x="4789269" y="7095259"/>
            <a:ext cx="1306393" cy="159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>
                <a:solidFill>
                  <a:srgbClr val="282A2C"/>
                </a:solidFill>
                <a:latin typeface="맑은 고딕"/>
                <a:ea typeface="맑은 고딕"/>
              </a:rPr>
              <a:t>비상 시 긴급조치 계획</a:t>
            </a:r>
          </a:p>
        </p:txBody>
      </p:sp>
      <p:sp>
        <p:nvSpPr>
          <p:cNvPr id="109" name="t42"/>
          <p:cNvSpPr txBox="1"/>
          <p:nvPr/>
        </p:nvSpPr>
        <p:spPr>
          <a:xfrm>
            <a:off x="1927260" y="7122866"/>
            <a:ext cx="857581" cy="157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25262A"/>
                </a:solidFill>
                <a:latin typeface="맑은 고딕"/>
                <a:ea typeface="맑은 고딕"/>
              </a:rPr>
              <a:t>안전점검 계획</a:t>
            </a:r>
          </a:p>
        </p:txBody>
      </p:sp>
      <p:sp>
        <p:nvSpPr>
          <p:cNvPr id="110" name="t43"/>
          <p:cNvSpPr txBox="1"/>
          <p:nvPr/>
        </p:nvSpPr>
        <p:spPr>
          <a:xfrm>
            <a:off x="5818155" y="7356378"/>
            <a:ext cx="842395" cy="1552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53636"/>
                </a:solidFill>
                <a:latin typeface="맑은 고딕"/>
                <a:ea typeface="맑은 고딕"/>
              </a:rPr>
              <a:t>응급조치 사항</a:t>
            </a:r>
          </a:p>
        </p:txBody>
      </p:sp>
      <p:sp>
        <p:nvSpPr>
          <p:cNvPr id="111" name="t44"/>
          <p:cNvSpPr txBox="1"/>
          <p:nvPr/>
        </p:nvSpPr>
        <p:spPr>
          <a:xfrm>
            <a:off x="1472795" y="7386494"/>
            <a:ext cx="225833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525351"/>
                </a:solidFill>
                <a:latin typeface="맑은 고딕"/>
                <a:ea typeface="맑은 고딕"/>
              </a:rPr>
              <a:t>24시</a:t>
            </a:r>
          </a:p>
        </p:txBody>
      </p:sp>
      <p:sp>
        <p:nvSpPr>
          <p:cNvPr id="112" name="t45"/>
          <p:cNvSpPr txBox="1"/>
          <p:nvPr/>
        </p:nvSpPr>
        <p:spPr>
          <a:xfrm>
            <a:off x="2715127" y="7443033"/>
            <a:ext cx="777605" cy="238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9000"/>
              </a:lnSpc>
            </a:pPr>
            <a:r>
              <a:rPr sz="760" b="1">
                <a:solidFill>
                  <a:srgbClr val="64B5AB"/>
                </a:solidFill>
                <a:latin typeface="맑은 고딕"/>
                <a:ea typeface="맑은 고딕"/>
              </a:rPr>
              <a:t>월</a:t>
            </a:r>
          </a:p>
          <a:p>
            <a:pPr algn="l">
              <a:lnSpc>
                <a:spcPct val="99000"/>
              </a:lnSpc>
            </a:pPr>
            <a:r>
              <a:rPr sz="760" b="1">
                <a:solidFill>
                  <a:srgbClr val="64B5AB"/>
                </a:solidFill>
                <a:latin typeface="맑은 고딕"/>
                <a:ea typeface="맑은 고딕"/>
              </a:rPr>
              <a:t>추간 전체모임</a:t>
            </a:r>
          </a:p>
        </p:txBody>
      </p:sp>
      <p:sp>
        <p:nvSpPr>
          <p:cNvPr id="113" name="t46"/>
          <p:cNvSpPr txBox="1"/>
          <p:nvPr/>
        </p:nvSpPr>
        <p:spPr>
          <a:xfrm>
            <a:off x="2648193" y="7460742"/>
            <a:ext cx="138805" cy="883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>
                <a:solidFill>
                  <a:srgbClr val="535555"/>
                </a:solidFill>
                <a:latin typeface="맑은 고딕"/>
                <a:ea typeface="맑은 고딕"/>
              </a:rPr>
              <a:t>토</a:t>
            </a:r>
          </a:p>
        </p:txBody>
      </p:sp>
      <p:sp>
        <p:nvSpPr>
          <p:cNvPr id="114" name="t47"/>
          <p:cNvSpPr txBox="1"/>
          <p:nvPr/>
        </p:nvSpPr>
        <p:spPr>
          <a:xfrm>
            <a:off x="963640" y="7592842"/>
            <a:ext cx="1303294" cy="201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77000"/>
              </a:lnSpc>
            </a:pPr>
            <a:r>
              <a:rPr sz="819" b="0">
                <a:solidFill>
                  <a:srgbClr val="5BAFC5"/>
                </a:solidFill>
                <a:latin typeface="맑은 고딕"/>
                <a:ea typeface="맑은 고딕"/>
              </a:rPr>
              <a:t>종료전 안전</a:t>
            </a:r>
          </a:p>
          <a:p>
            <a:pPr algn="ctr">
              <a:lnSpc>
                <a:spcPct val="77000"/>
              </a:lnSpc>
            </a:pPr>
            <a:r>
              <a:rPr sz="819" b="0">
                <a:solidFill>
                  <a:srgbClr val="5BAFC5"/>
                </a:solidFill>
                <a:latin typeface="맑은 고딕"/>
                <a:ea typeface="맑은 고딕"/>
              </a:rPr>
              <a:t>18시 정리정돈| 조회 7시</a:t>
            </a:r>
          </a:p>
        </p:txBody>
      </p:sp>
      <p:sp>
        <p:nvSpPr>
          <p:cNvPr id="115" name="t48"/>
          <p:cNvSpPr txBox="1"/>
          <p:nvPr/>
        </p:nvSpPr>
        <p:spPr>
          <a:xfrm>
            <a:off x="2636818" y="7614565"/>
            <a:ext cx="746220" cy="1379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89D95"/>
                </a:solidFill>
                <a:latin typeface="맑은 고딕"/>
                <a:ea typeface="맑은 고딕"/>
              </a:rPr>
              <a:t>딥리정돈 주간</a:t>
            </a:r>
          </a:p>
        </p:txBody>
      </p:sp>
      <p:sp>
        <p:nvSpPr>
          <p:cNvPr id="116" name="t49"/>
          <p:cNvSpPr txBox="1"/>
          <p:nvPr/>
        </p:nvSpPr>
        <p:spPr>
          <a:xfrm>
            <a:off x="5609039" y="7602981"/>
            <a:ext cx="1188127" cy="108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780" b="0">
                <a:solidFill>
                  <a:srgbClr val="4D5051"/>
                </a:solidFill>
                <a:latin typeface="맑은 고딕"/>
                <a:ea typeface="맑은 고딕"/>
              </a:rPr>
              <a:t>• 사고발생 후 확산방지</a:t>
            </a:r>
          </a:p>
          <a:p>
            <a:pPr algn="l">
              <a:lnSpc>
                <a:spcPct val="129000"/>
              </a:lnSpc>
            </a:pPr>
            <a:r>
              <a:rPr sz="780" b="0">
                <a:solidFill>
                  <a:srgbClr val="4D5051"/>
                </a:solidFill>
                <a:latin typeface="맑은 고딕"/>
                <a:ea typeface="맑은 고딕"/>
              </a:rPr>
              <a:t>응급조치</a:t>
            </a:r>
          </a:p>
          <a:p>
            <a:pPr algn="l">
              <a:lnSpc>
                <a:spcPct val="129000"/>
              </a:lnSpc>
            </a:pPr>
            <a:r>
              <a:rPr sz="780" b="0">
                <a:solidFill>
                  <a:srgbClr val="4D5051"/>
                </a:solidFill>
                <a:latin typeface="맑은 고딕"/>
                <a:ea typeface="맑은 고딕"/>
              </a:rPr>
              <a:t>• 유관부서 협조요청</a:t>
            </a:r>
          </a:p>
          <a:p>
            <a:pPr algn="l">
              <a:lnSpc>
                <a:spcPct val="129000"/>
              </a:lnSpc>
            </a:pPr>
            <a:r>
              <a:rPr sz="780" b="0">
                <a:solidFill>
                  <a:srgbClr val="4D5051"/>
                </a:solidFill>
                <a:latin typeface="맑은 고딕"/>
                <a:ea typeface="맑은 고딕"/>
              </a:rPr>
              <a:t>• 단전,단수 등에 따른</a:t>
            </a:r>
          </a:p>
          <a:p>
            <a:pPr algn="l">
              <a:lnSpc>
                <a:spcPct val="129000"/>
              </a:lnSpc>
            </a:pPr>
            <a:r>
              <a:rPr sz="780" b="0">
                <a:solidFill>
                  <a:srgbClr val="4D5051"/>
                </a:solidFill>
                <a:latin typeface="맑은 고딕"/>
                <a:ea typeface="맑은 고딕"/>
              </a:rPr>
              <a:t>응급조치 실시</a:t>
            </a:r>
          </a:p>
          <a:p>
            <a:pPr algn="l">
              <a:lnSpc>
                <a:spcPct val="129000"/>
              </a:lnSpc>
            </a:pPr>
            <a:r>
              <a:rPr sz="780" b="0">
                <a:solidFill>
                  <a:srgbClr val="4D5051"/>
                </a:solidFill>
                <a:latin typeface="맑은 고딕"/>
                <a:ea typeface="맑은 고딕"/>
              </a:rPr>
              <a:t>• 필요시 차량통제 및</a:t>
            </a:r>
          </a:p>
          <a:p>
            <a:pPr algn="l">
              <a:lnSpc>
                <a:spcPct val="129000"/>
              </a:lnSpc>
            </a:pPr>
            <a:r>
              <a:rPr sz="780" b="0">
                <a:solidFill>
                  <a:srgbClr val="4D5051"/>
                </a:solidFill>
                <a:latin typeface="맑은 고딕"/>
                <a:ea typeface="맑은 고딕"/>
              </a:rPr>
              <a:t>우회조치</a:t>
            </a:r>
          </a:p>
        </p:txBody>
      </p:sp>
      <p:sp>
        <p:nvSpPr>
          <p:cNvPr id="117" name="t50"/>
          <p:cNvSpPr txBox="1"/>
          <p:nvPr/>
        </p:nvSpPr>
        <p:spPr>
          <a:xfrm>
            <a:off x="2851537" y="7874642"/>
            <a:ext cx="419221" cy="292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7000"/>
              </a:lnSpc>
            </a:pPr>
            <a:r>
              <a:rPr sz="869" b="1">
                <a:solidFill>
                  <a:srgbClr val="4EA6A4"/>
                </a:solidFill>
                <a:latin typeface="맑은 고딕"/>
                <a:ea typeface="맑은 고딕"/>
              </a:rPr>
              <a:t>주간</a:t>
            </a:r>
          </a:p>
          <a:p>
            <a:pPr algn="ctr">
              <a:lnSpc>
                <a:spcPct val="107000"/>
              </a:lnSpc>
            </a:pPr>
            <a:r>
              <a:rPr sz="869" b="1">
                <a:solidFill>
                  <a:srgbClr val="4EA6A4"/>
                </a:solidFill>
                <a:latin typeface="맑은 고딕"/>
                <a:ea typeface="맑은 고딕"/>
              </a:rPr>
              <a:t>)점검</a:t>
            </a:r>
          </a:p>
        </p:txBody>
      </p:sp>
      <p:sp>
        <p:nvSpPr>
          <p:cNvPr id="118" name="t51"/>
          <p:cNvSpPr txBox="1"/>
          <p:nvPr/>
        </p:nvSpPr>
        <p:spPr>
          <a:xfrm>
            <a:off x="3145170" y="7904988"/>
            <a:ext cx="429585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849896"/>
                </a:solidFill>
                <a:latin typeface="맑은 고딕"/>
                <a:ea typeface="맑은 고딕"/>
              </a:rPr>
              <a:t>,S 자재</a:t>
            </a:r>
          </a:p>
        </p:txBody>
      </p:sp>
      <p:sp>
        <p:nvSpPr>
          <p:cNvPr id="119" name="t52"/>
          <p:cNvSpPr txBox="1"/>
          <p:nvPr/>
        </p:nvSpPr>
        <p:spPr>
          <a:xfrm>
            <a:off x="2460419" y="7907541"/>
            <a:ext cx="401014" cy="219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570" b="0">
                <a:solidFill>
                  <a:srgbClr val="4D4F4F"/>
                </a:solidFill>
                <a:latin typeface="맑은 고딕"/>
                <a:ea typeface="맑은 고딕"/>
              </a:rPr>
              <a:t>안전공정</a:t>
            </a:r>
          </a:p>
          <a:p>
            <a:pPr algn="ctr">
              <a:lnSpc>
                <a:spcPct val="122000"/>
              </a:lnSpc>
            </a:pPr>
            <a:r>
              <a:rPr sz="570" b="0">
                <a:solidFill>
                  <a:srgbClr val="4D4F4F"/>
                </a:solidFill>
                <a:latin typeface="맑은 고딕"/>
                <a:ea typeface="맑은 고딕"/>
              </a:rPr>
              <a:t>협의</a:t>
            </a:r>
          </a:p>
        </p:txBody>
      </p:sp>
      <p:sp>
        <p:nvSpPr>
          <p:cNvPr id="120" name="t53"/>
          <p:cNvSpPr txBox="1"/>
          <p:nvPr/>
        </p:nvSpPr>
        <p:spPr>
          <a:xfrm>
            <a:off x="1883298" y="7920898"/>
            <a:ext cx="282366" cy="21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720" b="0">
                <a:solidFill>
                  <a:srgbClr val="3A3B3C"/>
                </a:solidFill>
                <a:latin typeface="맑은 고딕"/>
                <a:ea typeface="맑은 고딕"/>
              </a:rPr>
              <a:t>안전</a:t>
            </a:r>
          </a:p>
          <a:p>
            <a:pPr algn="l">
              <a:lnSpc>
                <a:spcPct val="96000"/>
              </a:lnSpc>
            </a:pPr>
            <a:r>
              <a:rPr sz="720" b="0">
                <a:solidFill>
                  <a:srgbClr val="3A3B3C"/>
                </a:solidFill>
                <a:latin typeface="맑은 고딕"/>
                <a:ea typeface="맑은 고딕"/>
              </a:rPr>
              <a:t>모임</a:t>
            </a:r>
          </a:p>
        </p:txBody>
      </p:sp>
      <p:sp>
        <p:nvSpPr>
          <p:cNvPr id="121" name="t54"/>
          <p:cNvSpPr txBox="1"/>
          <p:nvPr/>
        </p:nvSpPr>
        <p:spPr>
          <a:xfrm>
            <a:off x="1033893" y="7921812"/>
            <a:ext cx="333792" cy="21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80" b="0">
                <a:solidFill>
                  <a:srgbClr val="434544"/>
                </a:solidFill>
                <a:latin typeface="맑은 고딕"/>
                <a:ea typeface="맑은 고딕"/>
              </a:rPr>
              <a:t>사용시</a:t>
            </a:r>
          </a:p>
          <a:p>
            <a:pPr algn="l">
              <a:lnSpc>
                <a:spcPct val="120000"/>
              </a:lnSpc>
            </a:pPr>
            <a:r>
              <a:rPr sz="580" b="0">
                <a:solidFill>
                  <a:srgbClr val="434544"/>
                </a:solidFill>
                <a:latin typeface="맑은 고딕"/>
                <a:ea typeface="맑은 고딕"/>
              </a:rPr>
              <a:t>점검</a:t>
            </a:r>
          </a:p>
        </p:txBody>
      </p:sp>
      <p:sp>
        <p:nvSpPr>
          <p:cNvPr id="122" name="t55"/>
          <p:cNvSpPr txBox="1"/>
          <p:nvPr/>
        </p:nvSpPr>
        <p:spPr>
          <a:xfrm>
            <a:off x="3273811" y="8016452"/>
            <a:ext cx="486089" cy="104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4A4A4C"/>
                </a:solidFill>
                <a:latin typeface="맑은 고딕"/>
                <a:ea typeface="맑은 고딕"/>
              </a:rPr>
              <a:t>반입검사 화</a:t>
            </a:r>
          </a:p>
        </p:txBody>
      </p:sp>
      <p:sp>
        <p:nvSpPr>
          <p:cNvPr id="123" name="t56"/>
          <p:cNvSpPr txBox="1"/>
          <p:nvPr/>
        </p:nvSpPr>
        <p:spPr>
          <a:xfrm>
            <a:off x="4314531" y="8048318"/>
            <a:ext cx="666460" cy="1426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393A3A"/>
                </a:solidFill>
                <a:latin typeface="맑은 고딕"/>
                <a:ea typeface="맑은 고딕"/>
              </a:rPr>
              <a:t>부상자 후송</a:t>
            </a:r>
          </a:p>
        </p:txBody>
      </p:sp>
      <p:sp>
        <p:nvSpPr>
          <p:cNvPr id="124" name="t57"/>
          <p:cNvSpPr txBox="1"/>
          <p:nvPr/>
        </p:nvSpPr>
        <p:spPr>
          <a:xfrm>
            <a:off x="968075" y="8243041"/>
            <a:ext cx="1324599" cy="275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840" b="0">
                <a:solidFill>
                  <a:srgbClr val="A2AAAF"/>
                </a:solidFill>
                <a:latin typeface="맑은 고딕"/>
                <a:ea typeface="맑은 고딕"/>
              </a:rPr>
              <a:t>15시 작업 안전 깄10시</a:t>
            </a:r>
          </a:p>
          <a:p>
            <a:pPr algn="ctr">
              <a:lnSpc>
                <a:spcPct val="104000"/>
              </a:lnSpc>
            </a:pPr>
            <a:r>
              <a:rPr sz="840" b="0">
                <a:solidFill>
                  <a:srgbClr val="A2AAAF"/>
                </a:solidFill>
                <a:latin typeface="맑은 고딕"/>
                <a:ea typeface="맑은 고딕"/>
              </a:rPr>
              <a:t>지도감독 순참</a:t>
            </a:r>
          </a:p>
        </p:txBody>
      </p:sp>
      <p:sp>
        <p:nvSpPr>
          <p:cNvPr id="125" name="t58"/>
          <p:cNvSpPr txBox="1"/>
          <p:nvPr/>
        </p:nvSpPr>
        <p:spPr>
          <a:xfrm>
            <a:off x="2670155" y="8252889"/>
            <a:ext cx="816026" cy="229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1000"/>
              </a:lnSpc>
            </a:pPr>
            <a:r>
              <a:rPr sz="650" b="0">
                <a:solidFill>
                  <a:srgbClr val="DBF4F4"/>
                </a:solidFill>
                <a:latin typeface="맑은 고딕"/>
                <a:ea typeface="맑은 고딕"/>
              </a:rPr>
              <a:t>주간</a:t>
            </a:r>
          </a:p>
          <a:p>
            <a:pPr algn="l">
              <a:lnSpc>
                <a:spcPct val="111000"/>
              </a:lnSpc>
            </a:pPr>
            <a:r>
              <a:rPr sz="650" b="0">
                <a:solidFill>
                  <a:srgbClr val="DBF4F4"/>
                </a:solidFill>
                <a:latin typeface="맑은 고딕"/>
                <a:ea typeface="맑은 고딕"/>
              </a:rPr>
              <a:t>결과보고 안전점검</a:t>
            </a:r>
          </a:p>
        </p:txBody>
      </p:sp>
      <p:sp>
        <p:nvSpPr>
          <p:cNvPr id="126" name="t59"/>
          <p:cNvSpPr txBox="1"/>
          <p:nvPr/>
        </p:nvSpPr>
        <p:spPr>
          <a:xfrm>
            <a:off x="2738262" y="8261604"/>
            <a:ext cx="228417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404647"/>
                </a:solidFill>
                <a:latin typeface="맑은 고딕"/>
                <a:ea typeface="맑은 고딕"/>
              </a:rPr>
              <a:t>점검</a:t>
            </a:r>
          </a:p>
        </p:txBody>
      </p:sp>
      <p:sp>
        <p:nvSpPr>
          <p:cNvPr id="127" name="t60"/>
          <p:cNvSpPr txBox="1"/>
          <p:nvPr/>
        </p:nvSpPr>
        <p:spPr>
          <a:xfrm>
            <a:off x="3264316" y="8536686"/>
            <a:ext cx="151973" cy="11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464648"/>
                </a:solidFill>
                <a:latin typeface="맑은 고딕"/>
                <a:ea typeface="맑은 고딕"/>
              </a:rPr>
              <a:t>수</a:t>
            </a:r>
          </a:p>
        </p:txBody>
      </p:sp>
      <p:sp>
        <p:nvSpPr>
          <p:cNvPr id="128" name="t61"/>
          <p:cNvSpPr txBox="1"/>
          <p:nvPr/>
        </p:nvSpPr>
        <p:spPr>
          <a:xfrm>
            <a:off x="4163765" y="8569830"/>
            <a:ext cx="966896" cy="1402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313433"/>
                </a:solidFill>
                <a:latin typeface="맑은 고딕"/>
                <a:ea typeface="맑은 고딕"/>
              </a:rPr>
              <a:t>유관부서 협조요청</a:t>
            </a:r>
          </a:p>
        </p:txBody>
      </p:sp>
      <p:sp>
        <p:nvSpPr>
          <p:cNvPr id="129" name="t62"/>
          <p:cNvSpPr txBox="1"/>
          <p:nvPr/>
        </p:nvSpPr>
        <p:spPr>
          <a:xfrm>
            <a:off x="1486751" y="8598741"/>
            <a:ext cx="213809" cy="91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1">
                <a:solidFill>
                  <a:srgbClr val="4D4F4E"/>
                </a:solidFill>
                <a:latin typeface="맑은 고딕"/>
                <a:ea typeface="맑은 고딕"/>
              </a:rPr>
              <a:t>12시</a:t>
            </a:r>
          </a:p>
        </p:txBody>
      </p:sp>
      <p:sp>
        <p:nvSpPr>
          <p:cNvPr id="130" name="t63"/>
          <p:cNvSpPr txBox="1"/>
          <p:nvPr/>
        </p:nvSpPr>
        <p:spPr>
          <a:xfrm>
            <a:off x="2743811" y="8808386"/>
            <a:ext cx="225833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A7D0E6"/>
                </a:solidFill>
                <a:latin typeface="맑은 고딕"/>
                <a:ea typeface="맑은 고딕"/>
              </a:rPr>
              <a:t>20일</a:t>
            </a:r>
          </a:p>
        </p:txBody>
      </p:sp>
      <p:sp>
        <p:nvSpPr>
          <p:cNvPr id="131" name="t64"/>
          <p:cNvSpPr txBox="1"/>
          <p:nvPr/>
        </p:nvSpPr>
        <p:spPr>
          <a:xfrm>
            <a:off x="1797527" y="8813292"/>
            <a:ext cx="219821" cy="94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>
                <a:solidFill>
                  <a:srgbClr val="A2CFE1"/>
                </a:solidFill>
                <a:latin typeface="맑은 고딕"/>
                <a:ea typeface="맑은 고딕"/>
              </a:rPr>
              <a:t>10일</a:t>
            </a:r>
          </a:p>
        </p:txBody>
      </p:sp>
      <p:sp>
        <p:nvSpPr>
          <p:cNvPr id="132" name="t65"/>
          <p:cNvSpPr txBox="1"/>
          <p:nvPr/>
        </p:nvSpPr>
        <p:spPr>
          <a:xfrm>
            <a:off x="1234348" y="8815578"/>
            <a:ext cx="193121" cy="11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9FC9DF"/>
                </a:solidFill>
                <a:latin typeface="맑은 고딕"/>
                <a:ea typeface="맑은 고딕"/>
              </a:rPr>
              <a:t>4일</a:t>
            </a:r>
          </a:p>
        </p:txBody>
      </p:sp>
      <p:sp>
        <p:nvSpPr>
          <p:cNvPr id="133" name="t66"/>
          <p:cNvSpPr txBox="1"/>
          <p:nvPr/>
        </p:nvSpPr>
        <p:spPr>
          <a:xfrm>
            <a:off x="5831993" y="8947774"/>
            <a:ext cx="827210" cy="1524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303233"/>
                </a:solidFill>
                <a:latin typeface="맑은 고딕"/>
                <a:ea typeface="맑은 고딕"/>
              </a:rPr>
              <a:t>현장 안전조치</a:t>
            </a:r>
          </a:p>
        </p:txBody>
      </p:sp>
      <p:sp>
        <p:nvSpPr>
          <p:cNvPr id="134" name="t67"/>
          <p:cNvSpPr txBox="1"/>
          <p:nvPr/>
        </p:nvSpPr>
        <p:spPr>
          <a:xfrm>
            <a:off x="4249959" y="8961150"/>
            <a:ext cx="842395" cy="1552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2D2E2F"/>
                </a:solidFill>
                <a:latin typeface="맑은 고딕"/>
                <a:ea typeface="맑은 고딕"/>
              </a:rPr>
              <a:t>사후 처리사항</a:t>
            </a:r>
          </a:p>
        </p:txBody>
      </p:sp>
      <p:sp>
        <p:nvSpPr>
          <p:cNvPr id="135" name="t68"/>
          <p:cNvSpPr txBox="1"/>
          <p:nvPr/>
        </p:nvSpPr>
        <p:spPr>
          <a:xfrm>
            <a:off x="3205343" y="9036319"/>
            <a:ext cx="237858" cy="1024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0" b="1">
                <a:solidFill>
                  <a:srgbClr val="4B5152"/>
                </a:solidFill>
                <a:latin typeface="맑은 고딕"/>
                <a:ea typeface="맑은 고딕"/>
              </a:rPr>
              <a:t>25일</a:t>
            </a:r>
          </a:p>
        </p:txBody>
      </p:sp>
      <p:sp>
        <p:nvSpPr>
          <p:cNvPr id="136" name="t69"/>
          <p:cNvSpPr txBox="1"/>
          <p:nvPr/>
        </p:nvSpPr>
        <p:spPr>
          <a:xfrm>
            <a:off x="2249915" y="9041225"/>
            <a:ext cx="231846" cy="998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404344"/>
                </a:solidFill>
                <a:latin typeface="맑은 고딕"/>
                <a:ea typeface="맑은 고딕"/>
              </a:rPr>
              <a:t>15일</a:t>
            </a:r>
          </a:p>
        </p:txBody>
      </p:sp>
      <p:sp>
        <p:nvSpPr>
          <p:cNvPr id="137" name="t70"/>
          <p:cNvSpPr txBox="1"/>
          <p:nvPr/>
        </p:nvSpPr>
        <p:spPr>
          <a:xfrm>
            <a:off x="2725403" y="9041225"/>
            <a:ext cx="231846" cy="998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>
                <a:solidFill>
                  <a:srgbClr val="464A4A"/>
                </a:solidFill>
                <a:latin typeface="맑은 고딕"/>
                <a:ea typeface="맑은 고딕"/>
              </a:rPr>
              <a:t>20일</a:t>
            </a:r>
          </a:p>
        </p:txBody>
      </p:sp>
      <p:sp>
        <p:nvSpPr>
          <p:cNvPr id="138" name="t71"/>
          <p:cNvSpPr txBox="1"/>
          <p:nvPr/>
        </p:nvSpPr>
        <p:spPr>
          <a:xfrm>
            <a:off x="1774547" y="9046130"/>
            <a:ext cx="225833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46494B"/>
                </a:solidFill>
                <a:latin typeface="맑은 고딕"/>
                <a:ea typeface="맑은 고딕"/>
              </a:rPr>
              <a:t>10일</a:t>
            </a:r>
          </a:p>
        </p:txBody>
      </p:sp>
      <p:sp>
        <p:nvSpPr>
          <p:cNvPr id="139" name="t72"/>
          <p:cNvSpPr txBox="1"/>
          <p:nvPr/>
        </p:nvSpPr>
        <p:spPr>
          <a:xfrm>
            <a:off x="1307226" y="9047988"/>
            <a:ext cx="200985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3B3E3F"/>
                </a:solidFill>
                <a:latin typeface="맑은 고딕"/>
                <a:ea typeface="맑은 고딕"/>
              </a:rPr>
              <a:t>5일</a:t>
            </a:r>
          </a:p>
        </p:txBody>
      </p:sp>
      <p:sp>
        <p:nvSpPr>
          <p:cNvPr id="140" name="t73"/>
          <p:cNvSpPr txBox="1"/>
          <p:nvPr/>
        </p:nvSpPr>
        <p:spPr>
          <a:xfrm>
            <a:off x="3168172" y="9171826"/>
            <a:ext cx="592473" cy="1157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D1DFE8"/>
                </a:solidFill>
                <a:latin typeface="맑은 고딕"/>
                <a:ea typeface="맑은 고딕"/>
              </a:rPr>
              <a:t>총괄안전점검</a:t>
            </a:r>
          </a:p>
        </p:txBody>
      </p:sp>
      <p:sp>
        <p:nvSpPr>
          <p:cNvPr id="141" name="t74"/>
          <p:cNvSpPr txBox="1"/>
          <p:nvPr/>
        </p:nvSpPr>
        <p:spPr>
          <a:xfrm>
            <a:off x="936414" y="9149988"/>
            <a:ext cx="2158307" cy="348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1000"/>
              </a:lnSpc>
            </a:pPr>
            <a:r>
              <a:rPr sz="790" b="1">
                <a:solidFill>
                  <a:srgbClr val="6683A0"/>
                </a:solidFill>
                <a:latin typeface="맑은 고딕"/>
                <a:ea typeface="맑은 고딕"/>
              </a:rPr>
              <a:t>안전의날 행사 안전보건협의회 정기안전점검</a:t>
            </a:r>
          </a:p>
          <a:p>
            <a:pPr algn="l">
              <a:lnSpc>
                <a:spcPct val="141000"/>
              </a:lnSpc>
            </a:pPr>
            <a:r>
              <a:rPr sz="790" b="1">
                <a:solidFill>
                  <a:srgbClr val="6683A0"/>
                </a:solidFill>
                <a:latin typeface="맑은 고딕"/>
                <a:ea typeface="맑은 고딕"/>
              </a:rPr>
              <a:t>시설물 점검 및</a:t>
            </a:r>
          </a:p>
        </p:txBody>
      </p:sp>
      <p:sp>
        <p:nvSpPr>
          <p:cNvPr id="142" name="t75"/>
          <p:cNvSpPr txBox="1"/>
          <p:nvPr/>
        </p:nvSpPr>
        <p:spPr>
          <a:xfrm>
            <a:off x="5622924" y="9196789"/>
            <a:ext cx="1344422" cy="592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60" b="0">
                <a:solidFill>
                  <a:srgbClr val="444748"/>
                </a:solidFill>
                <a:latin typeface="맑은 고딕"/>
                <a:ea typeface="맑은 고딕"/>
              </a:rPr>
              <a:t>• 현장 비상관리 조직 가동</a:t>
            </a:r>
          </a:p>
          <a:p>
            <a:pPr algn="l">
              <a:lnSpc>
                <a:spcPct val="126000"/>
              </a:lnSpc>
            </a:pPr>
            <a:r>
              <a:rPr sz="760" b="0">
                <a:solidFill>
                  <a:srgbClr val="444748"/>
                </a:solidFill>
                <a:latin typeface="맑은 고딕"/>
                <a:ea typeface="맑은 고딕"/>
              </a:rPr>
              <a:t>• 담당조직별 구난활동 실시</a:t>
            </a:r>
          </a:p>
          <a:p>
            <a:pPr algn="l">
              <a:lnSpc>
                <a:spcPct val="126000"/>
              </a:lnSpc>
            </a:pPr>
            <a:r>
              <a:rPr sz="760" b="0">
                <a:solidFill>
                  <a:srgbClr val="444748"/>
                </a:solidFill>
                <a:latin typeface="맑은 고딕"/>
                <a:ea typeface="맑은 고딕"/>
              </a:rPr>
              <a:t>• 원상복구 및 사고현장</a:t>
            </a:r>
          </a:p>
          <a:p>
            <a:pPr algn="l">
              <a:lnSpc>
                <a:spcPct val="126000"/>
              </a:lnSpc>
            </a:pPr>
            <a:r>
              <a:rPr sz="760" b="0">
                <a:solidFill>
                  <a:srgbClr val="444748"/>
                </a:solidFill>
                <a:latin typeface="맑은 고딕"/>
                <a:ea typeface="맑은 고딕"/>
              </a:rPr>
              <a:t>주변정리</a:t>
            </a:r>
          </a:p>
        </p:txBody>
      </p:sp>
      <p:sp>
        <p:nvSpPr>
          <p:cNvPr id="143" name="t76"/>
          <p:cNvSpPr txBox="1"/>
          <p:nvPr/>
        </p:nvSpPr>
        <p:spPr>
          <a:xfrm>
            <a:off x="4045604" y="9216918"/>
            <a:ext cx="1339414" cy="57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</a:pPr>
            <a:r>
              <a:rPr sz="760" b="0">
                <a:solidFill>
                  <a:srgbClr val="464949"/>
                </a:solidFill>
                <a:latin typeface="맑은 고딕"/>
                <a:ea typeface="맑은 고딕"/>
              </a:rPr>
              <a:t>• 사고원인 분석 및</a:t>
            </a:r>
          </a:p>
          <a:p>
            <a:pPr algn="l">
              <a:lnSpc>
                <a:spcPct val="123000"/>
              </a:lnSpc>
            </a:pPr>
            <a:r>
              <a:rPr sz="760" b="0">
                <a:solidFill>
                  <a:srgbClr val="464949"/>
                </a:solidFill>
                <a:latin typeface="맑은 고딕"/>
                <a:ea typeface="맑은 고딕"/>
              </a:rPr>
              <a:t>재발방지대책 수립</a:t>
            </a:r>
          </a:p>
          <a:p>
            <a:pPr algn="l">
              <a:lnSpc>
                <a:spcPct val="123000"/>
              </a:lnSpc>
            </a:pPr>
            <a:r>
              <a:rPr sz="760" b="0">
                <a:solidFill>
                  <a:srgbClr val="464949"/>
                </a:solidFill>
                <a:latin typeface="맑은 고딕"/>
                <a:ea typeface="맑은 고딕"/>
              </a:rPr>
              <a:t>• 재발방지를 위한 필요조치</a:t>
            </a:r>
          </a:p>
          <a:p>
            <a:pPr algn="l">
              <a:lnSpc>
                <a:spcPct val="123000"/>
              </a:lnSpc>
            </a:pPr>
            <a:r>
              <a:rPr sz="760" b="0">
                <a:solidFill>
                  <a:srgbClr val="464949"/>
                </a:solidFill>
                <a:latin typeface="맑은 고딕"/>
                <a:ea typeface="맑은 고딕"/>
              </a:rPr>
              <a:t>(특별안전교육 실시)</a:t>
            </a:r>
          </a:p>
        </p:txBody>
      </p:sp>
      <p:sp>
        <p:nvSpPr>
          <p:cNvPr id="144" name="t77"/>
          <p:cNvSpPr txBox="1"/>
          <p:nvPr/>
        </p:nvSpPr>
        <p:spPr>
          <a:xfrm>
            <a:off x="3186935" y="9333669"/>
            <a:ext cx="602543" cy="46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30" b="0">
                <a:solidFill>
                  <a:srgbClr val="474948"/>
                </a:solidFill>
                <a:latin typeface="맑은 고딕"/>
                <a:ea typeface="맑은 고딕"/>
              </a:rPr>
              <a:t>공사장 주변</a:t>
            </a:r>
          </a:p>
          <a:p>
            <a:pPr algn="ctr">
              <a:lnSpc>
                <a:spcPct val="118000"/>
              </a:lnSpc>
            </a:pPr>
            <a:r>
              <a:rPr sz="630" b="0">
                <a:solidFill>
                  <a:srgbClr val="474948"/>
                </a:solidFill>
                <a:latin typeface="맑은 고딕"/>
                <a:ea typeface="맑은 고딕"/>
              </a:rPr>
              <a:t>안전점검 및</a:t>
            </a:r>
          </a:p>
          <a:p>
            <a:pPr algn="ctr">
              <a:lnSpc>
                <a:spcPct val="118000"/>
              </a:lnSpc>
            </a:pPr>
            <a:r>
              <a:rPr sz="630" b="0">
                <a:solidFill>
                  <a:srgbClr val="474948"/>
                </a:solidFill>
                <a:latin typeface="맑은 고딕"/>
                <a:ea typeface="맑은 고딕"/>
              </a:rPr>
              <a:t>통행안전시설</a:t>
            </a:r>
          </a:p>
          <a:p>
            <a:pPr algn="ctr">
              <a:lnSpc>
                <a:spcPct val="118000"/>
              </a:lnSpc>
            </a:pPr>
            <a:r>
              <a:rPr sz="630" b="0">
                <a:solidFill>
                  <a:srgbClr val="474948"/>
                </a:solidFill>
                <a:latin typeface="맑은 고딕"/>
                <a:ea typeface="맑은 고딕"/>
              </a:rPr>
              <a:t>점검</a:t>
            </a:r>
          </a:p>
        </p:txBody>
      </p:sp>
      <p:sp>
        <p:nvSpPr>
          <p:cNvPr id="145" name="t78"/>
          <p:cNvSpPr txBox="1"/>
          <p:nvPr/>
        </p:nvSpPr>
        <p:spPr>
          <a:xfrm>
            <a:off x="942092" y="9352001"/>
            <a:ext cx="657205" cy="461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30" b="0">
                <a:solidFill>
                  <a:srgbClr val="535454"/>
                </a:solidFill>
                <a:latin typeface="맑은 고딕"/>
                <a:ea typeface="맑은 고딕"/>
              </a:rPr>
              <a:t>우수근로자.</a:t>
            </a:r>
          </a:p>
          <a:p>
            <a:pPr algn="ctr">
              <a:lnSpc>
                <a:spcPct val="118000"/>
              </a:lnSpc>
            </a:pPr>
            <a:r>
              <a:rPr sz="630" b="0">
                <a:solidFill>
                  <a:srgbClr val="535454"/>
                </a:solidFill>
                <a:latin typeface="맑은 고딕"/>
                <a:ea typeface="맑은 고딕"/>
              </a:rPr>
              <a:t>협력사 시상 및</a:t>
            </a:r>
          </a:p>
          <a:p>
            <a:pPr algn="ctr">
              <a:lnSpc>
                <a:spcPct val="118000"/>
              </a:lnSpc>
            </a:pPr>
            <a:r>
              <a:rPr sz="630" b="0">
                <a:solidFill>
                  <a:srgbClr val="535454"/>
                </a:solidFill>
                <a:latin typeface="맑은 고딕"/>
                <a:ea typeface="맑은 고딕"/>
              </a:rPr>
              <a:t>안전교육 및</a:t>
            </a:r>
          </a:p>
          <a:p>
            <a:pPr algn="ctr">
              <a:lnSpc>
                <a:spcPct val="118000"/>
              </a:lnSpc>
            </a:pPr>
            <a:r>
              <a:rPr sz="630" b="0">
                <a:solidFill>
                  <a:srgbClr val="535454"/>
                </a:solidFill>
                <a:latin typeface="맑은 고딕"/>
                <a:ea typeface="맑은 고딕"/>
              </a:rPr>
              <a:t>공지사항</a:t>
            </a:r>
          </a:p>
        </p:txBody>
      </p:sp>
      <p:sp>
        <p:nvSpPr>
          <p:cNvPr id="146" name="t79"/>
          <p:cNvSpPr txBox="1"/>
          <p:nvPr/>
        </p:nvSpPr>
        <p:spPr>
          <a:xfrm>
            <a:off x="1539849" y="9412528"/>
            <a:ext cx="966520" cy="345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>
                <a:solidFill>
                  <a:srgbClr val="727373"/>
                </a:solidFill>
                <a:latin typeface="맑은 고딕"/>
                <a:ea typeface="맑은 고딕"/>
              </a:rPr>
              <a:t>안전점검에 따른</a:t>
            </a:r>
          </a:p>
          <a:p>
            <a:pPr algn="ctr">
              <a:lnSpc>
                <a:spcPct val="92000"/>
              </a:lnSpc>
            </a:pPr>
            <a:r>
              <a:rPr sz="800" b="0">
                <a:solidFill>
                  <a:srgbClr val="727373"/>
                </a:solidFill>
                <a:latin typeface="맑은 고딕"/>
                <a:ea typeface="맑은 고딕"/>
              </a:rPr>
              <a:t>0 문제점들의 0</a:t>
            </a:r>
          </a:p>
          <a:p>
            <a:pPr algn="ctr">
              <a:lnSpc>
                <a:spcPct val="92000"/>
              </a:lnSpc>
            </a:pPr>
            <a:r>
              <a:rPr sz="800" b="0">
                <a:solidFill>
                  <a:srgbClr val="727373"/>
                </a:solidFill>
                <a:latin typeface="맑은 고딕"/>
                <a:ea typeface="맑은 고딕"/>
              </a:rPr>
              <a:t>토의 및 검토</a:t>
            </a:r>
          </a:p>
        </p:txBody>
      </p:sp>
      <p:sp>
        <p:nvSpPr>
          <p:cNvPr id="147" name="t80"/>
          <p:cNvSpPr txBox="1"/>
          <p:nvPr/>
        </p:nvSpPr>
        <p:spPr>
          <a:xfrm>
            <a:off x="2455431" y="9568351"/>
            <a:ext cx="588479" cy="229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30" b="0">
                <a:solidFill>
                  <a:srgbClr val="4D4E4E"/>
                </a:solidFill>
                <a:latin typeface="맑은 고딕"/>
                <a:ea typeface="맑은 고딕"/>
              </a:rPr>
              <a:t>점검 실시</a:t>
            </a:r>
          </a:p>
          <a:p>
            <a:pPr algn="ctr">
              <a:lnSpc>
                <a:spcPct val="115000"/>
              </a:lnSpc>
            </a:pPr>
            <a:r>
              <a:rPr sz="630" b="0">
                <a:solidFill>
                  <a:srgbClr val="4D4E4E"/>
                </a:solidFill>
                <a:latin typeface="맑은 고딕"/>
                <a:ea typeface="맑은 고딕"/>
              </a:rPr>
              <a:t>(월 1회 실시)</a:t>
            </a:r>
          </a:p>
        </p:txBody>
      </p:sp>
      <p:sp>
        <p:nvSpPr>
          <p:cNvPr id="148" name="t81"/>
          <p:cNvSpPr txBox="1"/>
          <p:nvPr/>
        </p:nvSpPr>
        <p:spPr>
          <a:xfrm>
            <a:off x="796179" y="10039382"/>
            <a:ext cx="389941" cy="197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494A49"/>
                </a:solidFill>
                <a:latin typeface="맑은 고딕"/>
                <a:ea typeface="맑은 고딕"/>
              </a:rPr>
              <a:t>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